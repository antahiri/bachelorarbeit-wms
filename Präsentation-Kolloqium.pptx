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9" r:id="rId2"/>
    <p:sldId id="263" r:id="rId3"/>
    <p:sldId id="267" r:id="rId4"/>
    <p:sldId id="291" r:id="rId5"/>
    <p:sldId id="274" r:id="rId6"/>
    <p:sldId id="276" r:id="rId7"/>
    <p:sldId id="280" r:id="rId8"/>
    <p:sldId id="285" r:id="rId9"/>
    <p:sldId id="296" r:id="rId10"/>
    <p:sldId id="300" r:id="rId11"/>
    <p:sldId id="303" r:id="rId12"/>
    <p:sldId id="306" r:id="rId13"/>
    <p:sldId id="308" r:id="rId14"/>
    <p:sldId id="321" r:id="rId15"/>
    <p:sldId id="322" r:id="rId16"/>
    <p:sldId id="313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99"/>
    <p:restoredTop sz="94315"/>
  </p:normalViewPr>
  <p:slideViewPr>
    <p:cSldViewPr snapToGrid="0">
      <p:cViewPr>
        <p:scale>
          <a:sx n="70" d="100"/>
          <a:sy n="70" d="100"/>
        </p:scale>
        <p:origin x="152" y="1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992D6B-DA9F-DA49-93CB-1A27F22C3466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4616F-5B70-3840-955D-6DB355250D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5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12180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941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</a:t>
            </a:r>
            <a:r>
              <a:rPr lang="de-DE" sz="1500" dirty="0" err="1">
                <a:solidFill>
                  <a:srgbClr val="595959"/>
                </a:solidFill>
              </a:rPr>
              <a:t>Bartelheimer</a:t>
            </a:r>
            <a:r>
              <a:rPr lang="de-DE" sz="1500" dirty="0">
                <a:solidFill>
                  <a:srgbClr val="595959"/>
                </a:solidFill>
              </a:rPr>
              <a:t> und </a:t>
            </a:r>
            <a:r>
              <a:rPr lang="de-DE" sz="1500" dirty="0" err="1">
                <a:solidFill>
                  <a:srgbClr val="595959"/>
                </a:solidFill>
              </a:rPr>
              <a:t>Zhaobin</a:t>
            </a:r>
            <a:r>
              <a:rPr lang="de-DE" sz="1500" dirty="0">
                <a:solidFill>
                  <a:srgbClr val="595959"/>
                </a:solidFill>
              </a:rPr>
              <a:t>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4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040461-A3F5-6DBD-101D-778F129C5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Überblick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F2FD3-36AE-D29F-70A5-FC217FC82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159000"/>
            <a:ext cx="8890000" cy="3683000"/>
          </a:xfrm>
        </p:spPr>
        <p:txBody>
          <a:bodyPr wrap="square" lIns="0" tIns="0" rIns="0" bIns="0" anchor="t">
            <a:normAutofit/>
          </a:bodyPr>
          <a:lstStyle/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01</a:t>
            </a:r>
            <a:r>
              <a:rPr lang="de-DE" sz="2000" dirty="0">
                <a:solidFill>
                  <a:srgbClr val="262626"/>
                </a:solidFill>
              </a:rPr>
              <a:t>	Motivation und Fragestellung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02</a:t>
            </a:r>
            <a:r>
              <a:rPr lang="de-DE" sz="2000" dirty="0">
                <a:solidFill>
                  <a:srgbClr val="262626"/>
                </a:solidFill>
              </a:rPr>
              <a:t>	Methodik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03</a:t>
            </a:r>
            <a:r>
              <a:rPr lang="de-DE" sz="2000" dirty="0">
                <a:solidFill>
                  <a:srgbClr val="262626"/>
                </a:solidFill>
              </a:rPr>
              <a:t>	Modellierung und Ausführung der WMS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04</a:t>
            </a:r>
            <a:r>
              <a:rPr lang="de-DE" sz="2000" dirty="0">
                <a:solidFill>
                  <a:srgbClr val="262626"/>
                </a:solidFill>
              </a:rPr>
              <a:t>	Praktische Untersuchung und Ergebnisse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05</a:t>
            </a:r>
            <a:r>
              <a:rPr lang="de-DE" sz="2000" dirty="0">
                <a:solidFill>
                  <a:srgbClr val="262626"/>
                </a:solidFill>
              </a:rPr>
              <a:t>	Forschungsfragen und Fazit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399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1016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2600" b="1" dirty="0">
                <a:solidFill>
                  <a:srgbClr val="262626"/>
                </a:solidFill>
              </a:rPr>
              <a:t>Ein wissenschaftlicher Workflow verbindet mehrere Rechenschritte zu einem gemeinsamen Ablauf.</a:t>
            </a:r>
          </a:p>
        </p:txBody>
      </p:sp>
      <p:sp>
        <p:nvSpPr>
          <p:cNvPr id="20" name="Shape 20"/>
          <p:cNvSpPr/>
          <p:nvPr/>
        </p:nvSpPr>
        <p:spPr>
          <a:xfrm>
            <a:off x="914400" y="812800"/>
            <a:ext cx="50800" cy="787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cxnSp>
        <p:nvCxnSpPr>
          <p:cNvPr id="21" name="Arrow 21"/>
          <p:cNvCxnSpPr/>
          <p:nvPr/>
        </p:nvCxnSpPr>
        <p:spPr>
          <a:xfrm>
            <a:off x="12192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2" name="Label 22"/>
          <p:cNvSpPr txBox="1"/>
          <p:nvPr/>
        </p:nvSpPr>
        <p:spPr>
          <a:xfrm>
            <a:off x="11430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Eingabe</a:t>
            </a:r>
          </a:p>
        </p:txBody>
      </p:sp>
      <p:sp>
        <p:nvSpPr>
          <p:cNvPr id="23" name="Shape 23"/>
          <p:cNvSpPr/>
          <p:nvPr/>
        </p:nvSpPr>
        <p:spPr>
          <a:xfrm>
            <a:off x="2032000" y="3302000"/>
            <a:ext cx="1524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262626"/>
                </a:solidFill>
              </a:rPr>
              <a:t>Rechenschritt</a:t>
            </a:r>
          </a:p>
        </p:txBody>
      </p:sp>
      <p:cxnSp>
        <p:nvCxnSpPr>
          <p:cNvPr id="24" name="Arrow 24"/>
          <p:cNvCxnSpPr/>
          <p:nvPr/>
        </p:nvCxnSpPr>
        <p:spPr>
          <a:xfrm>
            <a:off x="35560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5" name="Label 25"/>
          <p:cNvSpPr txBox="1"/>
          <p:nvPr/>
        </p:nvSpPr>
        <p:spPr>
          <a:xfrm>
            <a:off x="34798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Ausgabe</a:t>
            </a:r>
          </a:p>
        </p:txBody>
      </p:sp>
      <p:sp>
        <p:nvSpPr>
          <p:cNvPr id="26" name="Label 26"/>
          <p:cNvSpPr txBox="1"/>
          <p:nvPr/>
        </p:nvSpPr>
        <p:spPr>
          <a:xfrm>
            <a:off x="1219200" y="4318000"/>
            <a:ext cx="3302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de-DE" sz="1400" dirty="0">
                <a:solidFill>
                  <a:srgbClr val="595959"/>
                </a:solidFill>
              </a:rPr>
              <a:t>Baustein: ein einzelner Rechenschritt</a:t>
            </a:r>
          </a:p>
        </p:txBody>
      </p:sp>
      <p:sp>
        <p:nvSpPr>
          <p:cNvPr id="27" name="Shape 27"/>
          <p:cNvSpPr/>
          <p:nvPr/>
        </p:nvSpPr>
        <p:spPr>
          <a:xfrm>
            <a:off x="5943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A</a:t>
            </a:r>
          </a:p>
        </p:txBody>
      </p:sp>
      <p:sp>
        <p:nvSpPr>
          <p:cNvPr id="28" name="Shape 28"/>
          <p:cNvSpPr/>
          <p:nvPr/>
        </p:nvSpPr>
        <p:spPr>
          <a:xfrm>
            <a:off x="7467600" y="23114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B</a:t>
            </a:r>
          </a:p>
        </p:txBody>
      </p:sp>
      <p:sp>
        <p:nvSpPr>
          <p:cNvPr id="29" name="Shape 29"/>
          <p:cNvSpPr/>
          <p:nvPr/>
        </p:nvSpPr>
        <p:spPr>
          <a:xfrm>
            <a:off x="8991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C</a:t>
            </a:r>
          </a:p>
        </p:txBody>
      </p:sp>
      <p:sp>
        <p:nvSpPr>
          <p:cNvPr id="30" name="Shape 30"/>
          <p:cNvSpPr/>
          <p:nvPr/>
        </p:nvSpPr>
        <p:spPr>
          <a:xfrm>
            <a:off x="10515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D</a:t>
            </a:r>
          </a:p>
        </p:txBody>
      </p:sp>
      <p:cxnSp>
        <p:nvCxnSpPr>
          <p:cNvPr id="31" name="Arrow 31"/>
          <p:cNvCxnSpPr/>
          <p:nvPr/>
        </p:nvCxnSpPr>
        <p:spPr>
          <a:xfrm flipV="1">
            <a:off x="6705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2" name="Arrow 32"/>
          <p:cNvCxnSpPr/>
          <p:nvPr/>
        </p:nvCxnSpPr>
        <p:spPr>
          <a:xfrm>
            <a:off x="8229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3" name="Arrow 33"/>
          <p:cNvCxnSpPr/>
          <p:nvPr/>
        </p:nvCxnSpPr>
        <p:spPr>
          <a:xfrm>
            <a:off x="6705600" y="3581400"/>
            <a:ext cx="2286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4" name="Arrow 34"/>
          <p:cNvCxnSpPr/>
          <p:nvPr/>
        </p:nvCxnSpPr>
        <p:spPr>
          <a:xfrm>
            <a:off x="9753600" y="3581400"/>
            <a:ext cx="762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6985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6" name="Shape 36"/>
          <p:cNvSpPr/>
          <p:nvPr/>
        </p:nvSpPr>
        <p:spPr>
          <a:xfrm>
            <a:off x="8509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7" name="Shape 37"/>
          <p:cNvSpPr/>
          <p:nvPr/>
        </p:nvSpPr>
        <p:spPr>
          <a:xfrm>
            <a:off x="7747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8" name="Shape 38"/>
          <p:cNvSpPr/>
          <p:nvPr/>
        </p:nvSpPr>
        <p:spPr>
          <a:xfrm>
            <a:off x="10033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9" name="Label 39"/>
          <p:cNvSpPr txBox="1"/>
          <p:nvPr/>
        </p:nvSpPr>
        <p:spPr>
          <a:xfrm>
            <a:off x="5943600" y="43180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400" dirty="0">
                <a:solidFill>
                  <a:srgbClr val="595959"/>
                </a:solidFill>
              </a:rPr>
              <a:t>Mehrere verbundene Rechenschritte bilden einen Workflow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3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Stichpunkte"/>
          <p:cNvSpPr txBox="1"/>
          <p:nvPr/>
        </p:nvSpPr>
        <p:spPr>
          <a:xfrm>
            <a:off x="1219200" y="4927600"/>
            <a:ext cx="985469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Wissenschaftlicher Workflow: verbindet Rechenschritte mit gemeinsamem Forschungsziel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Mehr Schritte und Abhängigkeiten → höherer Koordinationsaufwand → Workflow-Management-Systeme</a:t>
            </a:r>
          </a:p>
        </p:txBody>
      </p:sp>
    </p:spTree>
    <p:extLst>
      <p:ext uri="{BB962C8B-B14F-4D97-AF65-F5344CB8AC3E}">
        <p14:creationId xmlns:p14="http://schemas.microsoft.com/office/powerpoint/2010/main" val="2996142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F9664-B06B-1E69-0E37-E3D6CFDB7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Warum Workflow-Management-Systeme im HPC?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55994-4CBC-162B-520F-83B3A198D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4318000" cy="2794000"/>
          </a:xfrm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Workflow-Management-System</a:t>
            </a:r>
          </a:p>
          <a:p>
            <a:pPr marL="0" indent="0" algn="l">
              <a:spcAft>
                <a:spcPts val="1800"/>
              </a:spcAft>
              <a:buNone/>
            </a:pPr>
            <a:r>
              <a:rPr lang="de-DE" sz="1600" dirty="0">
                <a:solidFill>
                  <a:srgbClr val="595959"/>
                </a:solidFill>
              </a:rPr>
              <a:t>Orchestriert die Ausführung des Workflows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Planung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Koordination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Datenübertragung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Überwachung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1905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lang="de-DE" sz="2000" b="1" dirty="0">
                <a:solidFill>
                  <a:srgbClr val="262626"/>
                </a:solidFill>
              </a:rPr>
              <a:t>HPC-Umgebung</a:t>
            </a:r>
          </a:p>
          <a:p>
            <a:pPr algn="l">
              <a:spcAft>
                <a:spcPts val="800"/>
              </a:spcAft>
            </a:pPr>
            <a:r>
              <a:rPr lang="de-DE" sz="1600" dirty="0">
                <a:solidFill>
                  <a:srgbClr val="595959"/>
                </a:solidFill>
              </a:rPr>
              <a:t>Rechen- und datenintensive wissenschaftliche Workflows können von HPC-Ressourcen profitieren.</a:t>
            </a:r>
          </a:p>
          <a:p>
            <a:pPr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Beispiele: </a:t>
            </a:r>
            <a:r>
              <a:rPr lang="de-DE" sz="1400" dirty="0">
                <a:solidFill>
                  <a:srgbClr val="262626"/>
                </a:solidFill>
              </a:rPr>
              <a:t>Simulationen · </a:t>
            </a:r>
            <a:r>
              <a:rPr lang="de-DE" sz="1400" dirty="0" err="1">
                <a:solidFill>
                  <a:srgbClr val="262626"/>
                </a:solidFill>
              </a:rPr>
              <a:t>Machine</a:t>
            </a:r>
            <a:r>
              <a:rPr lang="de-DE" sz="1400" dirty="0">
                <a:solidFill>
                  <a:srgbClr val="262626"/>
                </a:solidFill>
              </a:rPr>
              <a:t> Learning · Bioinformatik</a:t>
            </a:r>
          </a:p>
          <a:p>
            <a:pPr marL="203200" indent="-2032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Ressourcenverwaltung</a:t>
            </a:r>
          </a:p>
          <a:p>
            <a:pPr marL="203200"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z. B. durch Slurm</a:t>
            </a:r>
          </a:p>
          <a:p>
            <a:pPr algn="l"/>
            <a:r>
              <a:rPr lang="de-DE" sz="1600" b="1" dirty="0">
                <a:solidFill>
                  <a:srgbClr val="262626"/>
                </a:solidFill>
              </a:rPr>
              <a:t>WMS müssen in diese Ausführungsumgebung integriert werden.</a:t>
            </a:r>
          </a:p>
        </p:txBody>
      </p:sp>
      <p:cxnSp>
        <p:nvCxnSpPr>
          <p:cNvPr id="22" name="Verbindung"/>
          <p:cNvCxnSpPr/>
          <p:nvPr/>
        </p:nvCxnSpPr>
        <p:spPr>
          <a:xfrm>
            <a:off x="5867400" y="3073400"/>
            <a:ext cx="762000" cy="0"/>
          </a:xfrm>
          <a:prstGeom prst="straightConnector1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4" name="Motivation"/>
          <p:cNvSpPr txBox="1"/>
          <p:nvPr/>
        </p:nvSpPr>
        <p:spPr>
          <a:xfrm>
            <a:off x="1219200" y="520700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Kein einzelnes WMS eignet sich gleichermaßen für alle Workflows und Ausführungsumgebungen.</a:t>
            </a:r>
          </a:p>
        </p:txBody>
      </p:sp>
      <p:sp>
        <p:nvSpPr>
          <p:cNvPr id="23" name="Überleitung"/>
          <p:cNvSpPr txBox="1"/>
          <p:nvPr/>
        </p:nvSpPr>
        <p:spPr>
          <a:xfrm>
            <a:off x="1219200" y="5562600"/>
            <a:ext cx="100584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C1002A"/>
                </a:solidFill>
              </a:rPr>
              <a:t>Wie unterscheiden sich WMS in Modellierung, Laufzeitverhalten und HPC-Einsatz?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4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806169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EFA8F-6F04-1A12-DE30-7DEE733FC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Ziel und Forschungsfragen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6CCFD-4293-3292-23B9-7587705DF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78000"/>
            <a:ext cx="10058400" cy="762000"/>
          </a:xfrm>
        </p:spPr>
        <p:txBody>
          <a:bodyPr wrap="square" lIns="0" tIns="0" rIns="0" bIns="0" anchor="t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de-DE" sz="1200" b="1" spc="150" dirty="0">
                <a:solidFill>
                  <a:srgbClr val="C1002A"/>
                </a:solidFill>
              </a:rPr>
              <a:t>ZIEL DER ARBEIT</a:t>
            </a:r>
          </a:p>
          <a:p>
            <a:pPr marL="0" indent="0" algn="l">
              <a:buNone/>
            </a:pPr>
            <a:r>
              <a:rPr lang="de-DE" sz="1600" dirty="0">
                <a:solidFill>
                  <a:srgbClr val="262626"/>
                </a:solidFill>
              </a:rPr>
              <a:t>Systematischer Vergleich ausgewählter Workflow-Management-Systeme hinsichtlich Modellierung, Laufzeitverhalten und Einsatz in einer HPC-Umgebung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4" name="Trenner"/>
          <p:cNvCxnSpPr/>
          <p:nvPr/>
        </p:nvCxnSpPr>
        <p:spPr>
          <a:xfrm>
            <a:off x="1219200" y="2717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Frage F1"/>
          <p:cNvSpPr txBox="1"/>
          <p:nvPr/>
        </p:nvSpPr>
        <p:spPr>
          <a:xfrm>
            <a:off x="12192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F1 · MODELLIERUNG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unterscheiden sich die Systeme bei der Umsetzung eines Pipeline und </a:t>
            </a:r>
            <a:r>
              <a:rPr lang="de-DE" sz="1400" dirty="0" err="1">
                <a:solidFill>
                  <a:srgbClr val="262626"/>
                </a:solidFill>
              </a:rPr>
              <a:t>Scatter</a:t>
            </a:r>
            <a:r>
              <a:rPr lang="de-DE" sz="1400" dirty="0">
                <a:solidFill>
                  <a:srgbClr val="262626"/>
                </a:solidFill>
              </a:rPr>
              <a:t>-Gather Musters?</a:t>
            </a:r>
          </a:p>
        </p:txBody>
      </p:sp>
      <p:sp>
        <p:nvSpPr>
          <p:cNvPr id="31" name="Frage F2"/>
          <p:cNvSpPr txBox="1"/>
          <p:nvPr/>
        </p:nvSpPr>
        <p:spPr>
          <a:xfrm>
            <a:off x="64516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F2 · LAUFZEITVERHALTEN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Welches Laufzeitverhalten zeigen die Systeme bei der Ausführung dieser Workflows?</a:t>
            </a:r>
          </a:p>
          <a:p>
            <a:pPr algn="l"/>
            <a:r>
              <a:rPr lang="de-DE" sz="1200" dirty="0">
                <a:solidFill>
                  <a:srgbClr val="595959"/>
                </a:solidFill>
              </a:rPr>
              <a:t>Makespan · Overhead · Übergangslatenz · Startspreizung</a:t>
            </a:r>
          </a:p>
        </p:txBody>
      </p:sp>
      <p:sp>
        <p:nvSpPr>
          <p:cNvPr id="32" name="Frage F3"/>
          <p:cNvSpPr txBox="1"/>
          <p:nvPr/>
        </p:nvSpPr>
        <p:spPr>
          <a:xfrm>
            <a:off x="12192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F3 · HPC-EINSATZ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lassen sich die Systeme auf einem Slurm-basierten HPC-System betreiben und wie setzen sich dort die Laufzeiten zusammen?</a:t>
            </a:r>
          </a:p>
        </p:txBody>
      </p:sp>
      <p:sp>
        <p:nvSpPr>
          <p:cNvPr id="33" name="Frage F4"/>
          <p:cNvSpPr txBox="1"/>
          <p:nvPr/>
        </p:nvSpPr>
        <p:spPr>
          <a:xfrm>
            <a:off x="64516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F4 · EINORDNUNG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Für welche Arten von Workflows und Anwendungsfällen erscheinen die einzelnen Systeme besonders geeignet?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5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496952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E26FD6-D96A-4610-4054-2346AC3DA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Betrachtete Workflow-Management-Systeme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186123-53BF-979A-60CA-7202DD242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4648200"/>
            <a:ext cx="10058400" cy="381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de-DE" sz="1600" dirty="0">
                <a:solidFill>
                  <a:srgbClr val="595959"/>
                </a:solidFill>
              </a:rPr>
              <a:t>Unterschiedliche Ansätze in Anwendungskontext, Workflow-Beschreibung und Systemarchitektur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Marke Nextflow"/>
          <p:cNvSpPr/>
          <p:nvPr/>
        </p:nvSpPr>
        <p:spPr>
          <a:xfrm>
            <a:off x="2047239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System Nextflow"/>
          <p:cNvSpPr txBox="1"/>
          <p:nvPr/>
        </p:nvSpPr>
        <p:spPr>
          <a:xfrm>
            <a:off x="121920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Marke StreamFlow"/>
          <p:cNvSpPr/>
          <p:nvPr/>
        </p:nvSpPr>
        <p:spPr>
          <a:xfrm>
            <a:off x="405892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" name="System StreamFlow"/>
          <p:cNvSpPr txBox="1"/>
          <p:nvPr/>
        </p:nvSpPr>
        <p:spPr>
          <a:xfrm>
            <a:off x="323088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23" name="Marke Pegasus"/>
          <p:cNvSpPr/>
          <p:nvPr/>
        </p:nvSpPr>
        <p:spPr>
          <a:xfrm>
            <a:off x="808228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2" name="System Pegasus"/>
          <p:cNvSpPr txBox="1"/>
          <p:nvPr/>
        </p:nvSpPr>
        <p:spPr>
          <a:xfrm>
            <a:off x="725424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24" name="Marke Merlin"/>
          <p:cNvSpPr/>
          <p:nvPr/>
        </p:nvSpPr>
        <p:spPr>
          <a:xfrm>
            <a:off x="607060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System Merlin"/>
          <p:cNvSpPr txBox="1"/>
          <p:nvPr/>
        </p:nvSpPr>
        <p:spPr>
          <a:xfrm>
            <a:off x="524256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25" name="Marke AiiDA"/>
          <p:cNvSpPr/>
          <p:nvPr/>
        </p:nvSpPr>
        <p:spPr>
          <a:xfrm>
            <a:off x="1009396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4" name="System AiiDA"/>
          <p:cNvSpPr txBox="1"/>
          <p:nvPr/>
        </p:nvSpPr>
        <p:spPr>
          <a:xfrm>
            <a:off x="926592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AiiDA</a:t>
            </a:r>
          </a:p>
        </p:txBody>
      </p:sp>
      <p:cxnSp>
        <p:nvCxnSpPr>
          <p:cNvPr id="36" name="Trenner"/>
          <p:cNvCxnSpPr/>
          <p:nvPr/>
        </p:nvCxnSpPr>
        <p:spPr>
          <a:xfrm>
            <a:off x="1219200" y="4241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6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3E33774-80CE-598E-9215-58D1F38F7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039" y="1803400"/>
            <a:ext cx="1016000" cy="1016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AE676D52-19CF-8D62-9EE2-58154F08E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720" y="1803400"/>
            <a:ext cx="1016000" cy="10160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DAE37E44-F187-07E0-8E86-D34141458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2080" y="1803400"/>
            <a:ext cx="1016000" cy="1016000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BB86D7B3-0AAD-B032-FEDE-AB51B4F394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565" y="1803400"/>
            <a:ext cx="847668" cy="10160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EE2CFA3-5394-B97C-1E6A-B856243077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3760" y="1803400"/>
            <a:ext cx="1016000" cy="1016000"/>
          </a:xfrm>
          <a:prstGeom prst="rect">
            <a:avLst/>
          </a:prstGeom>
        </p:spPr>
      </p:pic>
      <p:sp>
        <p:nvSpPr>
          <p:cNvPr id="35" name="Hinweis Logoquellen">
            <a:extLst>
              <a:ext uri="{FF2B5EF4-FFF2-40B4-BE49-F238E27FC236}">
                <a16:creationId xmlns:a16="http://schemas.microsoft.com/office/drawing/2014/main" id="{0F13586A-123C-614B-94EE-A2E96AA06623}"/>
              </a:ext>
            </a:extLst>
          </p:cNvPr>
          <p:cNvSpPr txBox="1"/>
          <p:nvPr/>
        </p:nvSpPr>
        <p:spPr>
          <a:xfrm>
            <a:off x="1219200" y="5588000"/>
            <a:ext cx="38100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de-DE" sz="900">
                <a:solidFill>
                  <a:srgbClr val="8C8C8C"/>
                </a:solidFill>
              </a:rPr>
              <a:t>Logoquellen: siehe Quellenverzeichnis</a:t>
            </a:r>
          </a:p>
        </p:txBody>
      </p:sp>
    </p:spTree>
    <p:extLst>
      <p:ext uri="{BB962C8B-B14F-4D97-AF65-F5344CB8AC3E}">
        <p14:creationId xmlns:p14="http://schemas.microsoft.com/office/powerpoint/2010/main" val="88114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B421FD-2FF5-4BBE-DCB7-95513645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Zweistufiges Untersuchungsdesign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1E8772-EFF4-5F07-0094-2D6A9C28B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032000"/>
            <a:ext cx="4318000" cy="3175000"/>
          </a:xfrm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LOKALE UNTERSUCHUNG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Alle fünf Systeme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Qualitativer Vergleich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2032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MOGON / HPC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Vier Systeme</a:t>
            </a:r>
          </a:p>
          <a:p>
            <a:pPr marL="0" indent="0" algn="l">
              <a:spcAft>
                <a:spcPts val="1600"/>
              </a:spcAft>
              <a:buNone/>
            </a:pPr>
            <a:r>
              <a:rPr lang="de-DE" sz="1400" dirty="0">
                <a:solidFill>
                  <a:srgbClr val="595959"/>
                </a:solidFill>
              </a:rPr>
              <a:t>Nextflow · StreamFlow · Merlin · AiiDA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Bereitstellung und Betrieb unter Slurm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Untersuchung des regulären Slurm-Betriebs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 auf dedizierter Ressource</a:t>
            </a:r>
          </a:p>
        </p:txBody>
      </p:sp>
      <p:cxnSp>
        <p:nvCxnSpPr>
          <p:cNvPr id="22" name="Trenner"/>
          <p:cNvCxnSpPr/>
          <p:nvPr/>
        </p:nvCxnSpPr>
        <p:spPr>
          <a:xfrm>
            <a:off x="6248400" y="2032000"/>
            <a:ext cx="0" cy="31750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7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085791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76724-1455-81ED-7162-313B1F722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Gemeinsame Benchmark-Workflows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064824-A3CB-89A9-5D41-A13FD12F8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01800"/>
            <a:ext cx="4318000" cy="228600"/>
          </a:xfrm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PIPELINE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rechts"/>
          <p:cNvSpPr txBox="1"/>
          <p:nvPr/>
        </p:nvSpPr>
        <p:spPr>
          <a:xfrm>
            <a:off x="6959600" y="17018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spc="150" dirty="0">
                <a:solidFill>
                  <a:srgbClr val="C1002A"/>
                </a:solidFill>
              </a:rPr>
              <a:t>SCATTER-GATHER</a:t>
            </a:r>
          </a:p>
        </p:txBody>
      </p:sp>
      <p:sp>
        <p:nvSpPr>
          <p:cNvPr id="22" name="Node generate_input"/>
          <p:cNvSpPr/>
          <p:nvPr/>
        </p:nvSpPr>
        <p:spPr>
          <a:xfrm>
            <a:off x="26162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sp>
        <p:nvSpPr>
          <p:cNvPr id="23" name="Node preprocess"/>
          <p:cNvSpPr/>
          <p:nvPr/>
        </p:nvSpPr>
        <p:spPr>
          <a:xfrm>
            <a:off x="26162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24" name="Pfeil"/>
          <p:cNvCxnSpPr/>
          <p:nvPr/>
        </p:nvCxnSpPr>
        <p:spPr>
          <a:xfrm>
            <a:off x="33782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5" name="Node compute"/>
          <p:cNvSpPr/>
          <p:nvPr/>
        </p:nvSpPr>
        <p:spPr>
          <a:xfrm>
            <a:off x="26162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</a:p>
        </p:txBody>
      </p:sp>
      <p:cxnSp>
        <p:nvCxnSpPr>
          <p:cNvPr id="26" name="Pfeil"/>
          <p:cNvCxnSpPr/>
          <p:nvPr/>
        </p:nvCxnSpPr>
        <p:spPr>
          <a:xfrm>
            <a:off x="33782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7" name="Node postprocess"/>
          <p:cNvSpPr/>
          <p:nvPr/>
        </p:nvSpPr>
        <p:spPr>
          <a:xfrm>
            <a:off x="2616200" y="33782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cxnSp>
        <p:nvCxnSpPr>
          <p:cNvPr id="28" name="Pfeil"/>
          <p:cNvCxnSpPr/>
          <p:nvPr/>
        </p:nvCxnSpPr>
        <p:spPr>
          <a:xfrm>
            <a:off x="33782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9" name="Node generate_input"/>
          <p:cNvSpPr/>
          <p:nvPr/>
        </p:nvSpPr>
        <p:spPr>
          <a:xfrm>
            <a:off x="83566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cxnSp>
        <p:nvCxnSpPr>
          <p:cNvPr id="30" name="Pfeil"/>
          <p:cNvCxnSpPr/>
          <p:nvPr/>
        </p:nvCxnSpPr>
        <p:spPr>
          <a:xfrm>
            <a:off x="91186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1" name="Node preprocess"/>
          <p:cNvSpPr/>
          <p:nvPr/>
        </p:nvSpPr>
        <p:spPr>
          <a:xfrm>
            <a:off x="83566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32" name="Pfeil"/>
          <p:cNvCxnSpPr/>
          <p:nvPr/>
        </p:nvCxnSpPr>
        <p:spPr>
          <a:xfrm>
            <a:off x="91186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3" name="Node split"/>
          <p:cNvSpPr/>
          <p:nvPr/>
        </p:nvSpPr>
        <p:spPr>
          <a:xfrm>
            <a:off x="83566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34" name="Node compute"/>
          <p:cNvSpPr/>
          <p:nvPr/>
        </p:nvSpPr>
        <p:spPr>
          <a:xfrm>
            <a:off x="70866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1</a:t>
            </a:r>
          </a:p>
        </p:txBody>
      </p:sp>
      <p:cxnSp>
        <p:nvCxnSpPr>
          <p:cNvPr id="35" name="Pfeil"/>
          <p:cNvCxnSpPr/>
          <p:nvPr/>
        </p:nvCxnSpPr>
        <p:spPr>
          <a:xfrm flipH="1">
            <a:off x="76200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6" name="Pfeil"/>
          <p:cNvCxnSpPr/>
          <p:nvPr/>
        </p:nvCxnSpPr>
        <p:spPr>
          <a:xfrm>
            <a:off x="76200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7" name="Node compute"/>
          <p:cNvSpPr/>
          <p:nvPr/>
        </p:nvSpPr>
        <p:spPr>
          <a:xfrm>
            <a:off x="85852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2</a:t>
            </a:r>
          </a:p>
        </p:txBody>
      </p:sp>
      <p:cxnSp>
        <p:nvCxnSpPr>
          <p:cNvPr id="38" name="Pfeil"/>
          <p:cNvCxnSpPr/>
          <p:nvPr/>
        </p:nvCxnSpPr>
        <p:spPr>
          <a:xfrm>
            <a:off x="91186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9" name="Pfeil"/>
          <p:cNvCxnSpPr/>
          <p:nvPr/>
        </p:nvCxnSpPr>
        <p:spPr>
          <a:xfrm>
            <a:off x="9118600" y="36576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Node compute"/>
          <p:cNvSpPr/>
          <p:nvPr/>
        </p:nvSpPr>
        <p:spPr>
          <a:xfrm>
            <a:off x="100838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n</a:t>
            </a:r>
          </a:p>
        </p:txBody>
      </p:sp>
      <p:cxnSp>
        <p:nvCxnSpPr>
          <p:cNvPr id="41" name="Pfeil"/>
          <p:cNvCxnSpPr/>
          <p:nvPr/>
        </p:nvCxnSpPr>
        <p:spPr>
          <a:xfrm>
            <a:off x="91186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42" name="Pfeil"/>
          <p:cNvCxnSpPr/>
          <p:nvPr/>
        </p:nvCxnSpPr>
        <p:spPr>
          <a:xfrm flipH="1">
            <a:off x="91186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3" name="Ellipsis"/>
          <p:cNvSpPr txBox="1"/>
          <p:nvPr/>
        </p:nvSpPr>
        <p:spPr>
          <a:xfrm>
            <a:off x="9867900" y="3378200"/>
            <a:ext cx="2159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de-DE" sz="1300" dirty="0">
                <a:solidFill>
                  <a:srgbClr val="A6A6A6"/>
                </a:solidFill>
              </a:rPr>
              <a:t>···</a:t>
            </a:r>
          </a:p>
        </p:txBody>
      </p:sp>
      <p:sp>
        <p:nvSpPr>
          <p:cNvPr id="44" name="Node aggregate"/>
          <p:cNvSpPr/>
          <p:nvPr/>
        </p:nvSpPr>
        <p:spPr>
          <a:xfrm>
            <a:off x="8356600" y="38100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aggregate</a:t>
            </a:r>
          </a:p>
        </p:txBody>
      </p:sp>
      <p:cxnSp>
        <p:nvCxnSpPr>
          <p:cNvPr id="45" name="Pfeil"/>
          <p:cNvCxnSpPr/>
          <p:nvPr/>
        </p:nvCxnSpPr>
        <p:spPr>
          <a:xfrm>
            <a:off x="9118600" y="40894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6" name="Node postprocess"/>
          <p:cNvSpPr/>
          <p:nvPr/>
        </p:nvSpPr>
        <p:spPr>
          <a:xfrm>
            <a:off x="8356600" y="4241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sp>
        <p:nvSpPr>
          <p:cNvPr id="47" name="Caption links"/>
          <p:cNvSpPr txBox="1"/>
          <p:nvPr/>
        </p:nvSpPr>
        <p:spPr>
          <a:xfrm>
            <a:off x="12192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Sequenzielle Verarbeitung</a:t>
            </a:r>
          </a:p>
        </p:txBody>
      </p:sp>
      <p:sp>
        <p:nvSpPr>
          <p:cNvPr id="48" name="Caption rechts"/>
          <p:cNvSpPr txBox="1"/>
          <p:nvPr/>
        </p:nvSpPr>
        <p:spPr>
          <a:xfrm>
            <a:off x="69596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Parallele Verarbeitung mit anschließender Zusammenführung</a:t>
            </a:r>
          </a:p>
        </p:txBody>
      </p:sp>
      <p:sp>
        <p:nvSpPr>
          <p:cNvPr id="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8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Parameter links"/>
          <p:cNvSpPr txBox="1"/>
          <p:nvPr/>
        </p:nvSpPr>
        <p:spPr>
          <a:xfrm>
            <a:off x="1219200" y="48387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 · mittel · lang</a:t>
            </a:r>
          </a:p>
        </p:txBody>
      </p:sp>
      <p:sp>
        <p:nvSpPr>
          <p:cNvPr id="71" name="Parameter rechts"/>
          <p:cNvSpPr txBox="1"/>
          <p:nvPr/>
        </p:nvSpPr>
        <p:spPr>
          <a:xfrm>
            <a:off x="6959600" y="4838700"/>
            <a:ext cx="431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kurz· mittel · lang</a:t>
            </a:r>
          </a:p>
          <a:p>
            <a:pPr algn="ctr"/>
            <a:r>
              <a:rPr lang="de-DE" sz="1200" dirty="0">
                <a:solidFill>
                  <a:srgbClr val="595959"/>
                </a:solidFill>
              </a:rPr>
              <a:t>Teilstücke: </a:t>
            </a:r>
            <a:r>
              <a:rPr lang="de-DE" sz="1200" b="1" dirty="0">
                <a:solidFill>
                  <a:srgbClr val="262626"/>
                </a:solidFill>
              </a:rPr>
              <a:t>1 · 2 · 4</a:t>
            </a:r>
          </a:p>
        </p:txBody>
      </p:sp>
      <p:cxnSp>
        <p:nvCxnSpPr>
          <p:cNvPr id="72" name="Trennlinie"/>
          <p:cNvCxnSpPr/>
          <p:nvPr/>
        </p:nvCxnSpPr>
        <p:spPr>
          <a:xfrm>
            <a:off x="1219200" y="5359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73" name="Kernaussage"/>
          <p:cNvSpPr txBox="1"/>
          <p:nvPr/>
        </p:nvSpPr>
        <p:spPr>
          <a:xfrm>
            <a:off x="1219200" y="55118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 Rechenlogik in allen fünf Systemen</a:t>
            </a:r>
          </a:p>
        </p:txBody>
      </p:sp>
    </p:spTree>
    <p:extLst>
      <p:ext uri="{BB962C8B-B14F-4D97-AF65-F5344CB8AC3E}">
        <p14:creationId xmlns:p14="http://schemas.microsoft.com/office/powerpoint/2010/main" val="2600877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7855EF-998F-9ED7-38F1-4399375D9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Messmethodik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1" name="Trenner vertikal"/>
          <p:cNvCxnSpPr/>
          <p:nvPr/>
        </p:nvCxnSpPr>
        <p:spPr>
          <a:xfrm>
            <a:off x="6248400" y="1524000"/>
            <a:ext cx="0" cy="393700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22" name="Trenner horizontal"/>
          <p:cNvCxnSpPr/>
          <p:nvPr/>
        </p:nvCxnSpPr>
        <p:spPr>
          <a:xfrm>
            <a:off x="1219200" y="3543300"/>
            <a:ext cx="100584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23" name="Überschrift WORKFLOW-MAKESPAN"/>
          <p:cNvSpPr txBox="1"/>
          <p:nvPr/>
        </p:nvSpPr>
        <p:spPr>
          <a:xfrm>
            <a:off x="1219200" y="1498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WORKFLOW-MAKESPAN</a:t>
            </a:r>
          </a:p>
        </p:txBody>
      </p:sp>
      <p:cxnSp>
        <p:nvCxnSpPr>
          <p:cNvPr id="24" name="Zeitachse"/>
          <p:cNvCxnSpPr/>
          <p:nvPr/>
        </p:nvCxnSpPr>
        <p:spPr>
          <a:xfrm>
            <a:off x="1270000" y="2540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25" name="Makespan Balken"/>
          <p:cNvSpPr/>
          <p:nvPr/>
        </p:nvSpPr>
        <p:spPr>
          <a:xfrm>
            <a:off x="1422400" y="2362200"/>
            <a:ext cx="41656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29" name="Tick"/>
          <p:cNvCxnSpPr/>
          <p:nvPr/>
        </p:nvCxnSpPr>
        <p:spPr>
          <a:xfrm>
            <a:off x="1422400" y="2235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0" name="Tick"/>
          <p:cNvCxnSpPr/>
          <p:nvPr/>
        </p:nvCxnSpPr>
        <p:spPr>
          <a:xfrm>
            <a:off x="5588000" y="2235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1" name="Messspanne Makespan"/>
          <p:cNvCxnSpPr/>
          <p:nvPr/>
        </p:nvCxnSpPr>
        <p:spPr>
          <a:xfrm>
            <a:off x="1422400" y="2717800"/>
            <a:ext cx="4165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32" name="Label Makespan"/>
          <p:cNvSpPr txBox="1"/>
          <p:nvPr/>
        </p:nvSpPr>
        <p:spPr>
          <a:xfrm>
            <a:off x="2679700" y="2781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Makespan</a:t>
            </a:r>
          </a:p>
        </p:txBody>
      </p:sp>
      <p:sp>
        <p:nvSpPr>
          <p:cNvPr id="33" name="Stichpunkte"/>
          <p:cNvSpPr txBox="1"/>
          <p:nvPr/>
        </p:nvSpPr>
        <p:spPr>
          <a:xfrm>
            <a:off x="1219200" y="3048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Gesamtlaufzeit des Workflows</a:t>
            </a:r>
          </a:p>
        </p:txBody>
      </p:sp>
      <p:sp>
        <p:nvSpPr>
          <p:cNvPr id="34" name="Überschrift WMS-OVERHEAD"/>
          <p:cNvSpPr txBox="1"/>
          <p:nvPr/>
        </p:nvSpPr>
        <p:spPr>
          <a:xfrm>
            <a:off x="6654800" y="1498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WMS-OVERHEAD</a:t>
            </a:r>
          </a:p>
        </p:txBody>
      </p:sp>
      <p:cxnSp>
        <p:nvCxnSpPr>
          <p:cNvPr id="35" name="Zeitachse"/>
          <p:cNvCxnSpPr/>
          <p:nvPr/>
        </p:nvCxnSpPr>
        <p:spPr>
          <a:xfrm>
            <a:off x="6705600" y="2540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36" name="Zeile Referenz"/>
          <p:cNvSpPr txBox="1"/>
          <p:nvPr/>
        </p:nvSpPr>
        <p:spPr>
          <a:xfrm>
            <a:off x="6654800" y="20320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ohne WMS</a:t>
            </a:r>
          </a:p>
        </p:txBody>
      </p:sp>
      <p:sp>
        <p:nvSpPr>
          <p:cNvPr id="37" name="Zeile WMS"/>
          <p:cNvSpPr txBox="1"/>
          <p:nvPr/>
        </p:nvSpPr>
        <p:spPr>
          <a:xfrm>
            <a:off x="6654800" y="23622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mit WMS</a:t>
            </a:r>
          </a:p>
        </p:txBody>
      </p:sp>
      <p:sp>
        <p:nvSpPr>
          <p:cNvPr id="38" name="Referenz Schritt"/>
          <p:cNvSpPr/>
          <p:nvPr/>
        </p:nvSpPr>
        <p:spPr>
          <a:xfrm>
            <a:off x="7696200" y="2032000"/>
            <a:ext cx="2120900" cy="177800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42" name="WMS Schritt"/>
          <p:cNvSpPr/>
          <p:nvPr/>
        </p:nvSpPr>
        <p:spPr>
          <a:xfrm>
            <a:off x="7696200" y="2362200"/>
            <a:ext cx="26797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46" name="Tick"/>
          <p:cNvCxnSpPr/>
          <p:nvPr/>
        </p:nvCxnSpPr>
        <p:spPr>
          <a:xfrm>
            <a:off x="9817100" y="1955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7" name="Tick"/>
          <p:cNvCxnSpPr/>
          <p:nvPr/>
        </p:nvCxnSpPr>
        <p:spPr>
          <a:xfrm>
            <a:off x="10375900" y="1955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8" name="Messspanne Overhead"/>
          <p:cNvCxnSpPr/>
          <p:nvPr/>
        </p:nvCxnSpPr>
        <p:spPr>
          <a:xfrm>
            <a:off x="9817100" y="2717800"/>
            <a:ext cx="5588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49" name="Label Overhead"/>
          <p:cNvSpPr txBox="1"/>
          <p:nvPr/>
        </p:nvSpPr>
        <p:spPr>
          <a:xfrm>
            <a:off x="9461500" y="2781300"/>
            <a:ext cx="1270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Overhead</a:t>
            </a:r>
          </a:p>
        </p:txBody>
      </p:sp>
      <p:sp>
        <p:nvSpPr>
          <p:cNvPr id="50" name="Stichpunkte"/>
          <p:cNvSpPr txBox="1"/>
          <p:nvPr/>
        </p:nvSpPr>
        <p:spPr>
          <a:xfrm>
            <a:off x="6654800" y="3048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Vergleich mit Referenz ohne WMS</a:t>
            </a:r>
          </a:p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Zusätzliche Laufzeit durch WMS-Ausführung</a:t>
            </a:r>
          </a:p>
        </p:txBody>
      </p:sp>
      <p:sp>
        <p:nvSpPr>
          <p:cNvPr id="51" name="Überschrift ÜBERGANGSLATENZ"/>
          <p:cNvSpPr txBox="1"/>
          <p:nvPr/>
        </p:nvSpPr>
        <p:spPr>
          <a:xfrm>
            <a:off x="1219200" y="3657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ÜBERGANGSLATENZ</a:t>
            </a:r>
          </a:p>
        </p:txBody>
      </p:sp>
      <p:cxnSp>
        <p:nvCxnSpPr>
          <p:cNvPr id="52" name="Zeitachse"/>
          <p:cNvCxnSpPr/>
          <p:nvPr/>
        </p:nvCxnSpPr>
        <p:spPr>
          <a:xfrm>
            <a:off x="1270000" y="4699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53" name="Schritt A"/>
          <p:cNvSpPr/>
          <p:nvPr/>
        </p:nvSpPr>
        <p:spPr>
          <a:xfrm>
            <a:off x="1905000" y="45212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4" name="Schritt B"/>
          <p:cNvSpPr/>
          <p:nvPr/>
        </p:nvSpPr>
        <p:spPr>
          <a:xfrm>
            <a:off x="3835400" y="45212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B</a:t>
            </a:r>
          </a:p>
        </p:txBody>
      </p:sp>
      <p:cxnSp>
        <p:nvCxnSpPr>
          <p:cNvPr id="55" name="Tick"/>
          <p:cNvCxnSpPr/>
          <p:nvPr/>
        </p:nvCxnSpPr>
        <p:spPr>
          <a:xfrm>
            <a:off x="3302000" y="44450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6" name="Tick"/>
          <p:cNvCxnSpPr/>
          <p:nvPr/>
        </p:nvCxnSpPr>
        <p:spPr>
          <a:xfrm>
            <a:off x="3835400" y="44450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7" name="Messspanne Übergangslatenz"/>
          <p:cNvCxnSpPr/>
          <p:nvPr/>
        </p:nvCxnSpPr>
        <p:spPr>
          <a:xfrm>
            <a:off x="3302000" y="4876800"/>
            <a:ext cx="5334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58" name="Label Übergangslatenz"/>
          <p:cNvSpPr txBox="1"/>
          <p:nvPr/>
        </p:nvSpPr>
        <p:spPr>
          <a:xfrm>
            <a:off x="2743200" y="4940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Übergangslatenz</a:t>
            </a:r>
          </a:p>
        </p:txBody>
      </p:sp>
      <p:sp>
        <p:nvSpPr>
          <p:cNvPr id="59" name="Stichpunkte"/>
          <p:cNvSpPr txBox="1"/>
          <p:nvPr/>
        </p:nvSpPr>
        <p:spPr>
          <a:xfrm>
            <a:off x="1219200" y="5207000"/>
            <a:ext cx="46228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Ende eines Schritts → Start des nächsten</a:t>
            </a:r>
          </a:p>
        </p:txBody>
      </p:sp>
      <p:sp>
        <p:nvSpPr>
          <p:cNvPr id="60" name="Überschrift STARTSPREIZUNG"/>
          <p:cNvSpPr txBox="1"/>
          <p:nvPr/>
        </p:nvSpPr>
        <p:spPr>
          <a:xfrm>
            <a:off x="6654800" y="3657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STARTSPREIZUNG</a:t>
            </a:r>
          </a:p>
        </p:txBody>
      </p:sp>
      <p:cxnSp>
        <p:nvCxnSpPr>
          <p:cNvPr id="61" name="Zeitachse"/>
          <p:cNvCxnSpPr/>
          <p:nvPr/>
        </p:nvCxnSpPr>
        <p:spPr>
          <a:xfrm>
            <a:off x="6705600" y="4699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62" name="compute 1"/>
          <p:cNvSpPr/>
          <p:nvPr/>
        </p:nvSpPr>
        <p:spPr>
          <a:xfrm>
            <a:off x="7772400" y="41021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3" name="compute 2"/>
          <p:cNvSpPr/>
          <p:nvPr/>
        </p:nvSpPr>
        <p:spPr>
          <a:xfrm>
            <a:off x="7975600" y="42545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4" name="compute 3"/>
          <p:cNvSpPr/>
          <p:nvPr/>
        </p:nvSpPr>
        <p:spPr>
          <a:xfrm>
            <a:off x="8178800" y="44069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5" name="compute 4"/>
          <p:cNvSpPr/>
          <p:nvPr/>
        </p:nvSpPr>
        <p:spPr>
          <a:xfrm>
            <a:off x="8382000" y="45593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6" name="Instanzen Label"/>
          <p:cNvSpPr txBox="1"/>
          <p:nvPr/>
        </p:nvSpPr>
        <p:spPr>
          <a:xfrm>
            <a:off x="6654800" y="4102100"/>
            <a:ext cx="1016000" cy="571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compute</a:t>
            </a:r>
            <a:r>
              <a:rPr lang="de-DE" sz="1100" baseline="-25000" dirty="0">
                <a:solidFill>
                  <a:srgbClr val="595959"/>
                </a:solidFill>
              </a:rPr>
              <a:t>1–4</a:t>
            </a:r>
          </a:p>
        </p:txBody>
      </p:sp>
      <p:cxnSp>
        <p:nvCxnSpPr>
          <p:cNvPr id="67" name="Tick"/>
          <p:cNvCxnSpPr/>
          <p:nvPr/>
        </p:nvCxnSpPr>
        <p:spPr>
          <a:xfrm>
            <a:off x="7772400" y="40259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8" name="Tick"/>
          <p:cNvCxnSpPr/>
          <p:nvPr/>
        </p:nvCxnSpPr>
        <p:spPr>
          <a:xfrm>
            <a:off x="8382000" y="40259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9" name="Messspanne Startspreizung"/>
          <p:cNvCxnSpPr/>
          <p:nvPr/>
        </p:nvCxnSpPr>
        <p:spPr>
          <a:xfrm>
            <a:off x="7772400" y="4876800"/>
            <a:ext cx="609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70" name="Label Startspreizung"/>
          <p:cNvSpPr txBox="1"/>
          <p:nvPr/>
        </p:nvSpPr>
        <p:spPr>
          <a:xfrm>
            <a:off x="7315200" y="4940300"/>
            <a:ext cx="1524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Startspreizung</a:t>
            </a:r>
          </a:p>
        </p:txBody>
      </p:sp>
      <p:sp>
        <p:nvSpPr>
          <p:cNvPr id="71" name="Stichpunkte"/>
          <p:cNvSpPr txBox="1"/>
          <p:nvPr/>
        </p:nvSpPr>
        <p:spPr>
          <a:xfrm>
            <a:off x="6654800" y="5207000"/>
            <a:ext cx="46228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Erster → letzter Start paralleler Instanzen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9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180" name="Label Workflow-Start"/>
          <p:cNvSpPr txBox="1"/>
          <p:nvPr/>
        </p:nvSpPr>
        <p:spPr>
          <a:xfrm>
            <a:off x="1422400" y="2032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Workflow-Start</a:t>
            </a:r>
          </a:p>
        </p:txBody>
      </p:sp>
      <p:sp>
        <p:nvSpPr>
          <p:cNvPr id="181" name="Label Workflow-Ende"/>
          <p:cNvSpPr txBox="1"/>
          <p:nvPr/>
        </p:nvSpPr>
        <p:spPr>
          <a:xfrm>
            <a:off x="4445000" y="2032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r"/>
            <a:r>
              <a:rPr lang="de-DE" sz="1100" dirty="0">
                <a:solidFill>
                  <a:srgbClr val="595959"/>
                </a:solidFill>
              </a:rPr>
              <a:t>Workflow-Ende</a:t>
            </a:r>
          </a:p>
        </p:txBody>
      </p:sp>
      <p:sp>
        <p:nvSpPr>
          <p:cNvPr id="190" name="Methodische Fußzeile"/>
          <p:cNvSpPr txBox="1"/>
          <p:nvPr/>
        </p:nvSpPr>
        <p:spPr>
          <a:xfrm>
            <a:off x="1219200" y="5524500"/>
            <a:ext cx="10058400" cy="355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de-DE" sz="1000" dirty="0">
                <a:solidFill>
                  <a:srgbClr val="595959"/>
                </a:solidFill>
              </a:rPr>
              <a:t>Instrumentierung: Start-/Endzeitstempel in den Payload-Skripten</a:t>
            </a:r>
          </a:p>
          <a:p>
            <a:pPr algn="l">
              <a:spcAft>
                <a:spcPts val="200"/>
              </a:spcAft>
            </a:pPr>
            <a:r>
              <a:rPr lang="de-DE" sz="1000" dirty="0">
                <a:solidFill>
                  <a:srgbClr val="595959"/>
                </a:solidFill>
              </a:rPr>
              <a:t>Wiederholungen: kurz 5× · mittel 5× · lang 3×</a:t>
            </a:r>
          </a:p>
        </p:txBody>
      </p:sp>
    </p:spTree>
    <p:extLst>
      <p:ext uri="{BB962C8B-B14F-4D97-AF65-F5344CB8AC3E}">
        <p14:creationId xmlns:p14="http://schemas.microsoft.com/office/powerpoint/2010/main" val="436942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93EF6-ED28-1BFF-E834-94265AA79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r>
              <a:rPr lang="de-DE" sz="2600" b="1" dirty="0">
                <a:solidFill>
                  <a:srgbClr val="262626"/>
                </a:solidFill>
              </a:rPr>
              <a:t>Modellierung des </a:t>
            </a:r>
            <a:r>
              <a:rPr lang="de-DE" sz="2600" b="1" dirty="0" err="1">
                <a:solidFill>
                  <a:srgbClr val="262626"/>
                </a:solidFill>
              </a:rPr>
              <a:t>Scatter</a:t>
            </a:r>
            <a:r>
              <a:rPr lang="de-DE" sz="2600" b="1" dirty="0">
                <a:solidFill>
                  <a:srgbClr val="262626"/>
                </a:solidFill>
              </a:rPr>
              <a:t>-Gather-Musters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split"/>
          <p:cNvSpPr/>
          <p:nvPr/>
        </p:nvSpPr>
        <p:spPr>
          <a:xfrm>
            <a:off x="3708400" y="2260600"/>
            <a:ext cx="1143000" cy="2794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21" name="aggregate"/>
          <p:cNvSpPr/>
          <p:nvPr/>
        </p:nvSpPr>
        <p:spPr>
          <a:xfrm>
            <a:off x="7518400" y="2260600"/>
            <a:ext cx="1270000" cy="2794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aggregate</a:t>
            </a:r>
          </a:p>
        </p:txBody>
      </p:sp>
      <p:sp>
        <p:nvSpPr>
          <p:cNvPr id="22" name="compute"/>
          <p:cNvSpPr/>
          <p:nvPr/>
        </p:nvSpPr>
        <p:spPr>
          <a:xfrm>
            <a:off x="5676900" y="18796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1</a:t>
            </a:r>
          </a:p>
        </p:txBody>
      </p:sp>
      <p:sp>
        <p:nvSpPr>
          <p:cNvPr id="23" name="compute"/>
          <p:cNvSpPr/>
          <p:nvPr/>
        </p:nvSpPr>
        <p:spPr>
          <a:xfrm>
            <a:off x="5676900" y="21590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2</a:t>
            </a:r>
          </a:p>
        </p:txBody>
      </p:sp>
      <p:sp>
        <p:nvSpPr>
          <p:cNvPr id="24" name="compute"/>
          <p:cNvSpPr/>
          <p:nvPr/>
        </p:nvSpPr>
        <p:spPr>
          <a:xfrm>
            <a:off x="5676900" y="26924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n</a:t>
            </a:r>
          </a:p>
        </p:txBody>
      </p:sp>
      <p:sp>
        <p:nvSpPr>
          <p:cNvPr id="25" name="Punkte"/>
          <p:cNvSpPr txBox="1"/>
          <p:nvPr/>
        </p:nvSpPr>
        <p:spPr>
          <a:xfrm>
            <a:off x="5676900" y="2413000"/>
            <a:ext cx="127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···</a:t>
            </a:r>
          </a:p>
        </p:txBody>
      </p:sp>
      <p:cxnSp>
        <p:nvCxnSpPr>
          <p:cNvPr id="26" name="Fan-out"/>
          <p:cNvCxnSpPr/>
          <p:nvPr/>
        </p:nvCxnSpPr>
        <p:spPr>
          <a:xfrm flipV="1">
            <a:off x="4851400" y="1993900"/>
            <a:ext cx="825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7" name="Fan-in"/>
          <p:cNvCxnSpPr/>
          <p:nvPr/>
        </p:nvCxnSpPr>
        <p:spPr>
          <a:xfrm>
            <a:off x="6946900" y="1993900"/>
            <a:ext cx="571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8" name="Fan-out"/>
          <p:cNvCxnSpPr/>
          <p:nvPr/>
        </p:nvCxnSpPr>
        <p:spPr>
          <a:xfrm flipV="1">
            <a:off x="4851400" y="2273300"/>
            <a:ext cx="825500" cy="1270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9" name="Fan-in"/>
          <p:cNvCxnSpPr/>
          <p:nvPr/>
        </p:nvCxnSpPr>
        <p:spPr>
          <a:xfrm>
            <a:off x="6946900" y="2273300"/>
            <a:ext cx="571500" cy="1270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0" name="Fan-out"/>
          <p:cNvCxnSpPr/>
          <p:nvPr/>
        </p:nvCxnSpPr>
        <p:spPr>
          <a:xfrm>
            <a:off x="4851400" y="2400300"/>
            <a:ext cx="825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1" name="Fan-in"/>
          <p:cNvCxnSpPr/>
          <p:nvPr/>
        </p:nvCxnSpPr>
        <p:spPr>
          <a:xfrm flipV="1">
            <a:off x="6946900" y="2400300"/>
            <a:ext cx="571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2" name="Diagramm Label"/>
          <p:cNvSpPr txBox="1"/>
          <p:nvPr/>
        </p:nvSpPr>
        <p:spPr>
          <a:xfrm>
            <a:off x="1219200" y="1651000"/>
            <a:ext cx="508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SCATTER-GATHER-AUSSCHNITT</a:t>
            </a:r>
          </a:p>
        </p:txBody>
      </p:sp>
      <p:sp>
        <p:nvSpPr>
          <p:cNvPr id="33" name="Abschnitt"/>
          <p:cNvSpPr txBox="1"/>
          <p:nvPr/>
        </p:nvSpPr>
        <p:spPr>
          <a:xfrm>
            <a:off x="1219200" y="30988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PARALLELISIERUNG UND ZUSAMMENFÜHRUNG JE SYSTEM</a:t>
            </a:r>
          </a:p>
        </p:txBody>
      </p:sp>
      <p:cxnSp>
        <p:nvCxnSpPr>
          <p:cNvPr id="54" name="Trennlinie"/>
          <p:cNvCxnSpPr/>
          <p:nvPr/>
        </p:nvCxnSpPr>
        <p:spPr>
          <a:xfrm>
            <a:off x="1219200" y="52832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5" name="Kernaussage"/>
          <p:cNvSpPr txBox="1"/>
          <p:nvPr/>
        </p:nvSpPr>
        <p:spPr>
          <a:xfrm>
            <a:off x="1219200" y="5461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Gleicher Workflow, unterschiedliche Mechanismen für Parallelisierung und Zusammenführung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10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1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56" name="Marke Nextflow"/>
          <p:cNvSpPr/>
          <p:nvPr/>
        </p:nvSpPr>
        <p:spPr>
          <a:xfrm>
            <a:off x="121920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System Nextflow"/>
          <p:cNvSpPr txBox="1"/>
          <p:nvPr/>
        </p:nvSpPr>
        <p:spPr>
          <a:xfrm>
            <a:off x="121920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58" name="Label Parallelisierung Nextflow"/>
          <p:cNvSpPr txBox="1"/>
          <p:nvPr/>
        </p:nvSpPr>
        <p:spPr>
          <a:xfrm>
            <a:off x="121920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59" name="Parallelisierung Nextflow"/>
          <p:cNvSpPr txBox="1"/>
          <p:nvPr/>
        </p:nvSpPr>
        <p:spPr>
          <a:xfrm>
            <a:off x="121920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Teilstücke über </a:t>
            </a:r>
            <a:r>
              <a:rPr lang="de-DE" sz="1200" b="1" dirty="0">
                <a:solidFill>
                  <a:srgbClr val="262626"/>
                </a:solidFill>
              </a:rPr>
              <a:t>flatten</a:t>
            </a:r>
          </a:p>
        </p:txBody>
      </p:sp>
      <p:sp>
        <p:nvSpPr>
          <p:cNvPr id="60" name="Label Zusammenführung Nextflow"/>
          <p:cNvSpPr txBox="1"/>
          <p:nvPr/>
        </p:nvSpPr>
        <p:spPr>
          <a:xfrm>
            <a:off x="121920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61" name="Zusammenführung Nextflow"/>
          <p:cNvSpPr txBox="1"/>
          <p:nvPr/>
        </p:nvSpPr>
        <p:spPr>
          <a:xfrm>
            <a:off x="121920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Ergebnisse über </a:t>
            </a:r>
            <a:r>
              <a:rPr lang="de-DE" sz="1200" b="1" dirty="0">
                <a:solidFill>
                  <a:srgbClr val="262626"/>
                </a:solidFill>
              </a:rPr>
              <a:t>collect</a:t>
            </a:r>
          </a:p>
        </p:txBody>
      </p:sp>
      <p:sp>
        <p:nvSpPr>
          <p:cNvPr id="62" name="Marke StreamFlow"/>
          <p:cNvSpPr/>
          <p:nvPr/>
        </p:nvSpPr>
        <p:spPr>
          <a:xfrm>
            <a:off x="323088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3" name="System StreamFlow"/>
          <p:cNvSpPr txBox="1"/>
          <p:nvPr/>
        </p:nvSpPr>
        <p:spPr>
          <a:xfrm>
            <a:off x="323088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64" name="Label Parallelisierung StreamFlow"/>
          <p:cNvSpPr txBox="1"/>
          <p:nvPr/>
        </p:nvSpPr>
        <p:spPr>
          <a:xfrm>
            <a:off x="323088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65" name="Parallelisierung StreamFlow"/>
          <p:cNvSpPr txBox="1"/>
          <p:nvPr/>
        </p:nvSpPr>
        <p:spPr>
          <a:xfrm>
            <a:off x="323088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CWL </a:t>
            </a:r>
            <a:r>
              <a:rPr lang="de-DE" sz="1200" b="1" dirty="0">
                <a:solidFill>
                  <a:srgbClr val="262626"/>
                </a:solidFill>
              </a:rPr>
              <a:t>scatter</a:t>
            </a:r>
          </a:p>
        </p:txBody>
      </p:sp>
      <p:sp>
        <p:nvSpPr>
          <p:cNvPr id="66" name="Label Zusammenführung StreamFlow"/>
          <p:cNvSpPr txBox="1"/>
          <p:nvPr/>
        </p:nvSpPr>
        <p:spPr>
          <a:xfrm>
            <a:off x="323088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67" name="Zusammenführung StreamFlow"/>
          <p:cNvSpPr txBox="1"/>
          <p:nvPr/>
        </p:nvSpPr>
        <p:spPr>
          <a:xfrm>
            <a:off x="323088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Aggregate nach allen Ergebnissen</a:t>
            </a:r>
          </a:p>
        </p:txBody>
      </p:sp>
      <p:sp>
        <p:nvSpPr>
          <p:cNvPr id="68" name="Marke Merlin"/>
          <p:cNvSpPr/>
          <p:nvPr/>
        </p:nvSpPr>
        <p:spPr>
          <a:xfrm>
            <a:off x="524256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9" name="System Merlin"/>
          <p:cNvSpPr txBox="1"/>
          <p:nvPr/>
        </p:nvSpPr>
        <p:spPr>
          <a:xfrm>
            <a:off x="524256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70" name="Label Parallelisierung Merlin"/>
          <p:cNvSpPr txBox="1"/>
          <p:nvPr/>
        </p:nvSpPr>
        <p:spPr>
          <a:xfrm>
            <a:off x="524256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71" name="Parallelisierung Merlin"/>
          <p:cNvSpPr txBox="1"/>
          <p:nvPr/>
        </p:nvSpPr>
        <p:spPr>
          <a:xfrm>
            <a:off x="524256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Vervielfachung über </a:t>
            </a:r>
            <a:r>
              <a:rPr lang="de-DE" sz="1200" b="1" dirty="0">
                <a:solidFill>
                  <a:srgbClr val="262626"/>
                </a:solidFill>
              </a:rPr>
              <a:t>CHUNK</a:t>
            </a:r>
          </a:p>
        </p:txBody>
      </p:sp>
      <p:sp>
        <p:nvSpPr>
          <p:cNvPr id="72" name="Label Zusammenführung Merlin"/>
          <p:cNvSpPr txBox="1"/>
          <p:nvPr/>
        </p:nvSpPr>
        <p:spPr>
          <a:xfrm>
            <a:off x="524256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73" name="Zusammenführung Merlin"/>
          <p:cNvSpPr txBox="1"/>
          <p:nvPr/>
        </p:nvSpPr>
        <p:spPr>
          <a:xfrm>
            <a:off x="524256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Abhängigkeit von allen Compute-Instanzen</a:t>
            </a:r>
          </a:p>
        </p:txBody>
      </p:sp>
      <p:sp>
        <p:nvSpPr>
          <p:cNvPr id="74" name="Marke Pegasus"/>
          <p:cNvSpPr/>
          <p:nvPr/>
        </p:nvSpPr>
        <p:spPr>
          <a:xfrm>
            <a:off x="725424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5" name="System Pegasus"/>
          <p:cNvSpPr txBox="1"/>
          <p:nvPr/>
        </p:nvSpPr>
        <p:spPr>
          <a:xfrm>
            <a:off x="725424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76" name="Label Parallelisierung Pegasus"/>
          <p:cNvSpPr txBox="1"/>
          <p:nvPr/>
        </p:nvSpPr>
        <p:spPr>
          <a:xfrm>
            <a:off x="725424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77" name="Parallelisierung Pegasus"/>
          <p:cNvSpPr txBox="1"/>
          <p:nvPr/>
        </p:nvSpPr>
        <p:spPr>
          <a:xfrm>
            <a:off x="725424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Compute-Jobs durch Python-Schleife</a:t>
            </a:r>
          </a:p>
        </p:txBody>
      </p:sp>
      <p:sp>
        <p:nvSpPr>
          <p:cNvPr id="78" name="Label Zusammenführung Pegasus"/>
          <p:cNvSpPr txBox="1"/>
          <p:nvPr/>
        </p:nvSpPr>
        <p:spPr>
          <a:xfrm>
            <a:off x="725424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79" name="Zusammenführung Pegasus"/>
          <p:cNvSpPr txBox="1"/>
          <p:nvPr/>
        </p:nvSpPr>
        <p:spPr>
          <a:xfrm>
            <a:off x="725424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Aggregate benötigt alle Ergebnisdateien</a:t>
            </a:r>
          </a:p>
        </p:txBody>
      </p:sp>
      <p:sp>
        <p:nvSpPr>
          <p:cNvPr id="80" name="Marke AiiDA"/>
          <p:cNvSpPr/>
          <p:nvPr/>
        </p:nvSpPr>
        <p:spPr>
          <a:xfrm>
            <a:off x="926592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1" name="System AiiDA"/>
          <p:cNvSpPr txBox="1"/>
          <p:nvPr/>
        </p:nvSpPr>
        <p:spPr>
          <a:xfrm>
            <a:off x="926592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82" name="Label Parallelisierung AiiDA"/>
          <p:cNvSpPr txBox="1"/>
          <p:nvPr/>
        </p:nvSpPr>
        <p:spPr>
          <a:xfrm>
            <a:off x="926592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83" name="Parallelisierung AiiDA"/>
          <p:cNvSpPr txBox="1"/>
          <p:nvPr/>
        </p:nvSpPr>
        <p:spPr>
          <a:xfrm>
            <a:off x="926592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Einreichung aus Python-Schleife</a:t>
            </a:r>
          </a:p>
        </p:txBody>
      </p:sp>
      <p:sp>
        <p:nvSpPr>
          <p:cNvPr id="84" name="Label Zusammenführung AiiDA"/>
          <p:cNvSpPr txBox="1"/>
          <p:nvPr/>
        </p:nvSpPr>
        <p:spPr>
          <a:xfrm>
            <a:off x="926592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85" name="Zusammenführung AiiDA"/>
          <p:cNvSpPr txBox="1"/>
          <p:nvPr/>
        </p:nvSpPr>
        <p:spPr>
          <a:xfrm>
            <a:off x="926592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Warten auf alle Prozesse mit </a:t>
            </a:r>
            <a:r>
              <a:rPr lang="de-DE" sz="1200" b="1" dirty="0">
                <a:solidFill>
                  <a:srgbClr val="262626"/>
                </a:solidFill>
              </a:rPr>
              <a:t>ToContext</a:t>
            </a:r>
          </a:p>
        </p:txBody>
      </p:sp>
    </p:spTree>
    <p:extLst>
      <p:ext uri="{BB962C8B-B14F-4D97-AF65-F5344CB8AC3E}">
        <p14:creationId xmlns:p14="http://schemas.microsoft.com/office/powerpoint/2010/main" val="3355691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9D2F4F-B195-4B9B-922C-9D19B565B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Unterschiedliche Ausführungsmodelle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Marke Nextflow"/>
          <p:cNvSpPr/>
          <p:nvPr/>
        </p:nvSpPr>
        <p:spPr>
          <a:xfrm>
            <a:off x="121920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System Nextflow"/>
          <p:cNvSpPr txBox="1"/>
          <p:nvPr/>
        </p:nvSpPr>
        <p:spPr>
          <a:xfrm>
            <a:off x="121920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Nextflow Workflow"/>
          <p:cNvSpPr/>
          <p:nvPr/>
        </p:nvSpPr>
        <p:spPr>
          <a:xfrm>
            <a:off x="139954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23" name="Nextflow Pfeil 0"/>
          <p:cNvCxnSpPr/>
          <p:nvPr/>
        </p:nvCxnSpPr>
        <p:spPr>
          <a:xfrm>
            <a:off x="213614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4" name="Nextflow Nextflow-Laufzeit"/>
          <p:cNvSpPr/>
          <p:nvPr/>
        </p:nvSpPr>
        <p:spPr>
          <a:xfrm>
            <a:off x="139954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Nextflow-Laufzeit</a:t>
            </a:r>
          </a:p>
        </p:txBody>
      </p:sp>
      <p:cxnSp>
        <p:nvCxnSpPr>
          <p:cNvPr id="25" name="Nextflow Pfeil 1"/>
          <p:cNvCxnSpPr/>
          <p:nvPr/>
        </p:nvCxnSpPr>
        <p:spPr>
          <a:xfrm>
            <a:off x="213614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6" name="Nextflow Task"/>
          <p:cNvSpPr/>
          <p:nvPr/>
        </p:nvSpPr>
        <p:spPr>
          <a:xfrm>
            <a:off x="139954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27" name="Beschreibung Nextflow"/>
          <p:cNvSpPr txBox="1"/>
          <p:nvPr/>
        </p:nvSpPr>
        <p:spPr>
          <a:xfrm>
            <a:off x="121920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Eigene Laufzeit</a:t>
            </a:r>
          </a:p>
        </p:txBody>
      </p:sp>
      <p:sp>
        <p:nvSpPr>
          <p:cNvPr id="28" name="Marke StreamFlow"/>
          <p:cNvSpPr/>
          <p:nvPr/>
        </p:nvSpPr>
        <p:spPr>
          <a:xfrm>
            <a:off x="323088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9" name="System StreamFlow"/>
          <p:cNvSpPr txBox="1"/>
          <p:nvPr/>
        </p:nvSpPr>
        <p:spPr>
          <a:xfrm>
            <a:off x="323088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30" name="StreamFlow Workflow"/>
          <p:cNvSpPr/>
          <p:nvPr/>
        </p:nvSpPr>
        <p:spPr>
          <a:xfrm>
            <a:off x="341122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31" name="StreamFlow Pfeil 0"/>
          <p:cNvCxnSpPr/>
          <p:nvPr/>
        </p:nvCxnSpPr>
        <p:spPr>
          <a:xfrm>
            <a:off x="414782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2" name="StreamFlow StreamFlow-Laufzeit"/>
          <p:cNvSpPr/>
          <p:nvPr/>
        </p:nvSpPr>
        <p:spPr>
          <a:xfrm>
            <a:off x="341122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StreamFlow-Laufzeit</a:t>
            </a:r>
          </a:p>
        </p:txBody>
      </p:sp>
      <p:cxnSp>
        <p:nvCxnSpPr>
          <p:cNvPr id="33" name="StreamFlow Pfeil 1"/>
          <p:cNvCxnSpPr/>
          <p:nvPr/>
        </p:nvCxnSpPr>
        <p:spPr>
          <a:xfrm>
            <a:off x="414782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4" name="StreamFlow Task"/>
          <p:cNvSpPr/>
          <p:nvPr/>
        </p:nvSpPr>
        <p:spPr>
          <a:xfrm>
            <a:off x="341122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35" name="Beschreibung StreamFlow"/>
          <p:cNvSpPr txBox="1"/>
          <p:nvPr/>
        </p:nvSpPr>
        <p:spPr>
          <a:xfrm>
            <a:off x="323088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Eigene Laufzeit</a:t>
            </a:r>
          </a:p>
        </p:txBody>
      </p:sp>
      <p:sp>
        <p:nvSpPr>
          <p:cNvPr id="36" name="Marke Merlin"/>
          <p:cNvSpPr/>
          <p:nvPr/>
        </p:nvSpPr>
        <p:spPr>
          <a:xfrm>
            <a:off x="524256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System Merlin"/>
          <p:cNvSpPr txBox="1"/>
          <p:nvPr/>
        </p:nvSpPr>
        <p:spPr>
          <a:xfrm>
            <a:off x="524256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38" name="Merlin Workflow"/>
          <p:cNvSpPr/>
          <p:nvPr/>
        </p:nvSpPr>
        <p:spPr>
          <a:xfrm>
            <a:off x="542290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39" name="Merlin Pfeil 0"/>
          <p:cNvCxnSpPr/>
          <p:nvPr/>
        </p:nvCxnSpPr>
        <p:spPr>
          <a:xfrm>
            <a:off x="615950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Merlin Redis"/>
          <p:cNvSpPr/>
          <p:nvPr/>
        </p:nvSpPr>
        <p:spPr>
          <a:xfrm>
            <a:off x="542290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Redis</a:t>
            </a:r>
          </a:p>
        </p:txBody>
      </p:sp>
      <p:cxnSp>
        <p:nvCxnSpPr>
          <p:cNvPr id="41" name="Merlin Pfeil 1"/>
          <p:cNvCxnSpPr/>
          <p:nvPr/>
        </p:nvCxnSpPr>
        <p:spPr>
          <a:xfrm>
            <a:off x="615950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2" name="Merlin Worker"/>
          <p:cNvSpPr/>
          <p:nvPr/>
        </p:nvSpPr>
        <p:spPr>
          <a:xfrm>
            <a:off x="542290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Worker</a:t>
            </a:r>
          </a:p>
        </p:txBody>
      </p:sp>
      <p:cxnSp>
        <p:nvCxnSpPr>
          <p:cNvPr id="43" name="Merlin Pfeil 2"/>
          <p:cNvCxnSpPr/>
          <p:nvPr/>
        </p:nvCxnSpPr>
        <p:spPr>
          <a:xfrm>
            <a:off x="615950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4" name="Merlin Task"/>
          <p:cNvSpPr/>
          <p:nvPr/>
        </p:nvSpPr>
        <p:spPr>
          <a:xfrm>
            <a:off x="5422900" y="41402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45" name="Beschreibung Merlin"/>
          <p:cNvSpPr txBox="1"/>
          <p:nvPr/>
        </p:nvSpPr>
        <p:spPr>
          <a:xfrm>
            <a:off x="524256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Aufgabenwarteschlange + Worker</a:t>
            </a:r>
          </a:p>
        </p:txBody>
      </p:sp>
      <p:sp>
        <p:nvSpPr>
          <p:cNvPr id="46" name="Marke Pegasus"/>
          <p:cNvSpPr/>
          <p:nvPr/>
        </p:nvSpPr>
        <p:spPr>
          <a:xfrm>
            <a:off x="725424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System Pegasus"/>
          <p:cNvSpPr txBox="1"/>
          <p:nvPr/>
        </p:nvSpPr>
        <p:spPr>
          <a:xfrm>
            <a:off x="725424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48" name="Pegasus Workflow"/>
          <p:cNvSpPr/>
          <p:nvPr/>
        </p:nvSpPr>
        <p:spPr>
          <a:xfrm>
            <a:off x="743458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49" name="Pegasus Pfeil 0"/>
          <p:cNvCxnSpPr/>
          <p:nvPr/>
        </p:nvCxnSpPr>
        <p:spPr>
          <a:xfrm>
            <a:off x="817118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0" name="Pegasus Planner"/>
          <p:cNvSpPr/>
          <p:nvPr/>
        </p:nvSpPr>
        <p:spPr>
          <a:xfrm>
            <a:off x="743458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Planner</a:t>
            </a:r>
          </a:p>
        </p:txBody>
      </p:sp>
      <p:cxnSp>
        <p:nvCxnSpPr>
          <p:cNvPr id="51" name="Pegasus Pfeil 1"/>
          <p:cNvCxnSpPr/>
          <p:nvPr/>
        </p:nvCxnSpPr>
        <p:spPr>
          <a:xfrm>
            <a:off x="817118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2" name="Pegasus HTCondor"/>
          <p:cNvSpPr/>
          <p:nvPr/>
        </p:nvSpPr>
        <p:spPr>
          <a:xfrm>
            <a:off x="743458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HTCondor</a:t>
            </a:r>
          </a:p>
        </p:txBody>
      </p:sp>
      <p:cxnSp>
        <p:nvCxnSpPr>
          <p:cNvPr id="53" name="Pegasus Pfeil 2"/>
          <p:cNvCxnSpPr/>
          <p:nvPr/>
        </p:nvCxnSpPr>
        <p:spPr>
          <a:xfrm>
            <a:off x="817118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4" name="Pegasus Jobs"/>
          <p:cNvSpPr/>
          <p:nvPr/>
        </p:nvSpPr>
        <p:spPr>
          <a:xfrm>
            <a:off x="7434580" y="41402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Jobs</a:t>
            </a:r>
          </a:p>
        </p:txBody>
      </p:sp>
      <p:sp>
        <p:nvSpPr>
          <p:cNvPr id="55" name="Beschreibung Pegasus"/>
          <p:cNvSpPr txBox="1"/>
          <p:nvPr/>
        </p:nvSpPr>
        <p:spPr>
          <a:xfrm>
            <a:off x="725424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Planung + Ausführung</a:t>
            </a:r>
          </a:p>
        </p:txBody>
      </p:sp>
      <p:sp>
        <p:nvSpPr>
          <p:cNvPr id="56" name="Marke AiiDA"/>
          <p:cNvSpPr/>
          <p:nvPr/>
        </p:nvSpPr>
        <p:spPr>
          <a:xfrm>
            <a:off x="926592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System AiiDA"/>
          <p:cNvSpPr txBox="1"/>
          <p:nvPr/>
        </p:nvSpPr>
        <p:spPr>
          <a:xfrm>
            <a:off x="926592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58" name="AiiDA WorkChain"/>
          <p:cNvSpPr/>
          <p:nvPr/>
        </p:nvSpPr>
        <p:spPr>
          <a:xfrm>
            <a:off x="9265920" y="25400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WorkChain</a:t>
            </a:r>
          </a:p>
        </p:txBody>
      </p:sp>
      <p:cxnSp>
        <p:nvCxnSpPr>
          <p:cNvPr id="59" name="AiiDA Pfeil 0"/>
          <p:cNvCxnSpPr/>
          <p:nvPr/>
        </p:nvCxnSpPr>
        <p:spPr>
          <a:xfrm>
            <a:off x="978662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0" name="AiiDA RabbitMQ"/>
          <p:cNvSpPr/>
          <p:nvPr/>
        </p:nvSpPr>
        <p:spPr>
          <a:xfrm>
            <a:off x="9265920" y="30734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RabbitMQ</a:t>
            </a:r>
          </a:p>
        </p:txBody>
      </p:sp>
      <p:cxnSp>
        <p:nvCxnSpPr>
          <p:cNvPr id="61" name="AiiDA Pfeil 1"/>
          <p:cNvCxnSpPr/>
          <p:nvPr/>
        </p:nvCxnSpPr>
        <p:spPr>
          <a:xfrm>
            <a:off x="978662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2" name="AiiDA Daemon/Runner"/>
          <p:cNvSpPr/>
          <p:nvPr/>
        </p:nvSpPr>
        <p:spPr>
          <a:xfrm>
            <a:off x="9265920" y="36068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000" dirty="0">
                <a:solidFill>
                  <a:srgbClr val="262626"/>
                </a:solidFill>
              </a:rPr>
              <a:t>Daemon/Runner</a:t>
            </a:r>
          </a:p>
        </p:txBody>
      </p:sp>
      <p:cxnSp>
        <p:nvCxnSpPr>
          <p:cNvPr id="63" name="AiiDA Pfeil 2"/>
          <p:cNvCxnSpPr/>
          <p:nvPr/>
        </p:nvCxnSpPr>
        <p:spPr>
          <a:xfrm>
            <a:off x="978662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4" name="AiiDA CalcJobs"/>
          <p:cNvSpPr/>
          <p:nvPr/>
        </p:nvSpPr>
        <p:spPr>
          <a:xfrm>
            <a:off x="9265920" y="41402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CalcJobs</a:t>
            </a:r>
          </a:p>
        </p:txBody>
      </p:sp>
      <p:sp>
        <p:nvSpPr>
          <p:cNvPr id="65" name="AiiDA Datenbank"/>
          <p:cNvSpPr/>
          <p:nvPr/>
        </p:nvSpPr>
        <p:spPr>
          <a:xfrm>
            <a:off x="10510520" y="3606800"/>
            <a:ext cx="7366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000" dirty="0">
                <a:solidFill>
                  <a:srgbClr val="262626"/>
                </a:solidFill>
              </a:rPr>
              <a:t>Datenbank</a:t>
            </a:r>
          </a:p>
        </p:txBody>
      </p:sp>
      <p:cxnSp>
        <p:nvCxnSpPr>
          <p:cNvPr id="66" name="AiiDA Doppelpfeil"/>
          <p:cNvCxnSpPr/>
          <p:nvPr/>
        </p:nvCxnSpPr>
        <p:spPr>
          <a:xfrm>
            <a:off x="10307320" y="3759200"/>
            <a:ext cx="203200" cy="0"/>
          </a:xfrm>
          <a:prstGeom prst="line">
            <a:avLst/>
          </a:prstGeom>
          <a:ln w="9525">
            <a:solidFill>
              <a:srgbClr val="8C8C8C"/>
            </a:solidFill>
            <a:headEnd type="triangle" w="sm" len="sm"/>
            <a:tailEnd type="triangle" w="sm" len="sm"/>
          </a:ln>
        </p:spPr>
      </p:cxnSp>
      <p:sp>
        <p:nvSpPr>
          <p:cNvPr id="67" name="Beschreibung AiiDA"/>
          <p:cNvSpPr txBox="1"/>
          <p:nvPr/>
        </p:nvSpPr>
        <p:spPr>
          <a:xfrm>
            <a:off x="926592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Nachrichten + Daemon + Datenbank</a:t>
            </a:r>
          </a:p>
        </p:txBody>
      </p:sp>
      <p:cxnSp>
        <p:nvCxnSpPr>
          <p:cNvPr id="68" name="Trennlinie"/>
          <p:cNvCxnSpPr/>
          <p:nvPr/>
        </p:nvCxnSpPr>
        <p:spPr>
          <a:xfrm>
            <a:off x="1219200" y="52832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9" name="Kernaussage"/>
          <p:cNvSpPr txBox="1"/>
          <p:nvPr/>
        </p:nvSpPr>
        <p:spPr>
          <a:xfrm>
            <a:off x="1219200" y="5461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Gleicher Workflow, unterschiedliche Wege zur Ausführung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11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1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936722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035E23-6E52-9AEE-EAD2-3BEB471F3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Lokale Untersuchung: WMS-Overhead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2CD6A111-9076-8E04-3AED-ED16A28E3C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905000"/>
            <a:ext cx="7264400" cy="2978013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OVERHEAD GEGENÜBER REFERENZAUSFÜHRUNG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12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30" name="Zentrale Ergebnisse"/>
          <p:cNvSpPr txBox="1"/>
          <p:nvPr/>
        </p:nvSpPr>
        <p:spPr>
          <a:xfrm>
            <a:off x="8788400" y="2006600"/>
            <a:ext cx="24892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31" name="Ergebnisse"/>
          <p:cNvSpPr txBox="1"/>
          <p:nvPr/>
        </p:nvSpPr>
        <p:spPr>
          <a:xfrm>
            <a:off x="8788400" y="2413000"/>
            <a:ext cx="24892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dirty="0">
                <a:solidFill>
                  <a:srgbClr val="262626"/>
                </a:solidFill>
              </a:rPr>
              <a:t>Drei </a:t>
            </a:r>
            <a:r>
              <a:rPr lang="de-DE" sz="1200" b="1" dirty="0">
                <a:solidFill>
                  <a:srgbClr val="262626"/>
                </a:solidFill>
              </a:rPr>
              <a:t>Overhead-Gruppen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SF / NF / Merlin: 1,4–4,2 s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AiiDA: 5,1–10,3 s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Pegasus: 171–221 s</a:t>
            </a:r>
          </a:p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Kein proportionaler Zusammenhang</a:t>
            </a:r>
            <a:r>
              <a:rPr lang="de-DE" sz="1200" dirty="0">
                <a:solidFill>
                  <a:srgbClr val="262626"/>
                </a:solidFill>
              </a:rPr>
              <a:t> zwischen Rechenlast und Overhead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Workflowstruktur</a:t>
            </a:r>
            <a:r>
              <a:rPr lang="de-DE" sz="1200" dirty="0">
                <a:solidFill>
                  <a:srgbClr val="262626"/>
                </a:solidFill>
              </a:rPr>
              <a:t> teilweise relevant: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Scatter-Gather bei AiiDA und Pegasus mit erhöhtem Overhead</a:t>
            </a:r>
          </a:p>
        </p:txBody>
      </p:sp>
    </p:spTree>
    <p:extLst>
      <p:ext uri="{BB962C8B-B14F-4D97-AF65-F5344CB8AC3E}">
        <p14:creationId xmlns:p14="http://schemas.microsoft.com/office/powerpoint/2010/main" val="597007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A59EE0-1109-2D00-3FE5-6DB60B878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Scatter-Gather: Gesamtlaufzeit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3D76D50-CA3C-A0D8-8EB5-2BDD9851B9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905000"/>
            <a:ext cx="7264400" cy="3188985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MAKESPAN BEI 1, 2 UND 4 Teilstücke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788400" y="2006600"/>
            <a:ext cx="24892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788400" y="2413000"/>
            <a:ext cx="24892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Kurze Rechenlast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geringer bzw. teilweise kein zusätzlicher Gewinn, Overhead fällt ins Gewicht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Mittlere und lange Rechenlast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deutliche Verringerung des Makespans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Zusätzliche Parallelisierung</a:t>
            </a:r>
            <a:r>
              <a:rPr lang="de-DE" sz="1200" dirty="0">
                <a:solidFill>
                  <a:srgbClr val="262626"/>
                </a:solidFill>
              </a:rPr>
              <a:t> gewinnt mit wachsender Rechenlast an Bedeutung, da Overhead an Gewicht verliert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13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310711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83A317-8F96-271A-B21A-147B6A11B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 err="1">
                <a:solidFill>
                  <a:srgbClr val="262626"/>
                </a:solidFill>
              </a:rPr>
              <a:t>Übergangslatenzen</a:t>
            </a:r>
            <a:endParaRPr lang="de-DE" sz="2600" b="1" dirty="0">
              <a:solidFill>
                <a:srgbClr val="262626"/>
              </a:solidFill>
            </a:endParaRP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C38C7638-4172-2B59-2CEA-E311165E6D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4" y="2274433"/>
            <a:ext cx="7111992" cy="2493284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ÜBERGANGSLATENZEN – LOKALE UNTERSUCHUNG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077200" y="1854200"/>
            <a:ext cx="32004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077200" y="2235200"/>
            <a:ext cx="3200400" cy="279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Innerhalb eines Systems weitgehend </a:t>
            </a:r>
            <a:r>
              <a:rPr lang="de-DE" sz="1300" b="1" dirty="0">
                <a:solidFill>
                  <a:srgbClr val="262626"/>
                </a:solidFill>
              </a:rPr>
              <a:t>stabile Übergangslatenzen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Stabile Reihenfolge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200" dirty="0">
                <a:solidFill>
                  <a:srgbClr val="595959"/>
                </a:solidFill>
              </a:rPr>
              <a:t>StreamFlow &lt; Nextflow &lt; Merlin &lt; AiiDA ≪ Pegasus</a:t>
            </a:r>
          </a:p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Pegasus</a:t>
            </a:r>
            <a:r>
              <a:rPr lang="de-DE" sz="1300" dirty="0">
                <a:solidFill>
                  <a:srgbClr val="262626"/>
                </a:solidFill>
              </a:rPr>
              <a:t> mit </a:t>
            </a:r>
            <a:r>
              <a:rPr lang="de-DE" sz="1300" b="1" dirty="0">
                <a:solidFill>
                  <a:srgbClr val="262626"/>
                </a:solidFill>
              </a:rPr>
              <a:t>rund 20 s</a:t>
            </a:r>
            <a:r>
              <a:rPr lang="de-DE" sz="1300" dirty="0">
                <a:solidFill>
                  <a:srgbClr val="262626"/>
                </a:solidFill>
              </a:rPr>
              <a:t> um Größenordnungen höher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Hohe Übergangslatenzen erklären einen großen Teil des </a:t>
            </a:r>
            <a:r>
              <a:rPr lang="de-DE" sz="1300" b="1" dirty="0">
                <a:solidFill>
                  <a:srgbClr val="262626"/>
                </a:solidFill>
              </a:rPr>
              <a:t>Overheads </a:t>
            </a:r>
            <a:r>
              <a:rPr lang="de-DE" sz="1300" dirty="0">
                <a:solidFill>
                  <a:srgbClr val="262626"/>
                </a:solidFill>
              </a:rPr>
              <a:t>bei </a:t>
            </a:r>
            <a:r>
              <a:rPr lang="de-DE" sz="1300" dirty="0" err="1">
                <a:solidFill>
                  <a:srgbClr val="262626"/>
                </a:solidFill>
              </a:rPr>
              <a:t>AiiDA</a:t>
            </a:r>
            <a:r>
              <a:rPr lang="de-DE" sz="1300" dirty="0">
                <a:solidFill>
                  <a:srgbClr val="262626"/>
                </a:solidFill>
              </a:rPr>
              <a:t> und Pegasus, aber </a:t>
            </a:r>
            <a:r>
              <a:rPr lang="de-DE" sz="1300" b="1" dirty="0">
                <a:solidFill>
                  <a:srgbClr val="262626"/>
                </a:solidFill>
              </a:rPr>
              <a:t>nicht allein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14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895090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902435-D957-7A56-F80C-F7A9FF39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Startspreizung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8668C887-A541-971C-5F2F-8B27C30316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133600"/>
            <a:ext cx="6350000" cy="347185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STARTSPREIZUNG – LOKALE UNTERSUCHUNG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077200" y="1854200"/>
            <a:ext cx="32004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077200" y="2235200"/>
            <a:ext cx="320040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0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Mit </a:t>
            </a:r>
            <a:r>
              <a:rPr lang="de-DE" sz="1300" b="1" dirty="0">
                <a:solidFill>
                  <a:srgbClr val="262626"/>
                </a:solidFill>
              </a:rPr>
              <a:t>mehr parallelen Instanzen</a:t>
            </a:r>
            <a:r>
              <a:rPr lang="de-DE" sz="1300" dirty="0">
                <a:solidFill>
                  <a:srgbClr val="262626"/>
                </a:solidFill>
              </a:rPr>
              <a:t> steigt die Startspreizung bei allen Systemen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Besonders deutlich bei </a:t>
            </a:r>
            <a:r>
              <a:rPr lang="de-DE" sz="1300" b="1" dirty="0">
                <a:solidFill>
                  <a:srgbClr val="262626"/>
                </a:solidFill>
              </a:rPr>
              <a:t>AiiDA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000"/>
              </a:spcAft>
              <a:buNone/>
            </a:pPr>
            <a:r>
              <a:rPr lang="de-DE" sz="1200" b="1" dirty="0">
                <a:solidFill>
                  <a:srgbClr val="595959"/>
                </a:solidFill>
              </a:rPr>
              <a:t>58 ms → 698 ms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Stabile Reihenfolge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000"/>
              </a:spcAft>
              <a:buNone/>
            </a:pPr>
            <a:r>
              <a:rPr lang="de-DE" sz="1200" dirty="0">
                <a:solidFill>
                  <a:srgbClr val="595959"/>
                </a:solidFill>
              </a:rPr>
              <a:t>Nextflow &lt; StreamFlow &lt; Pegasus &lt; AiiDA &lt; Merlin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Pegasus</a:t>
            </a:r>
            <a:r>
              <a:rPr lang="de-DE" sz="1300" dirty="0">
                <a:solidFill>
                  <a:srgbClr val="262626"/>
                </a:solidFill>
              </a:rPr>
              <a:t> bei der Startspreizung im </a:t>
            </a:r>
            <a:r>
              <a:rPr lang="de-DE" sz="1300" b="1" dirty="0">
                <a:solidFill>
                  <a:srgbClr val="262626"/>
                </a:solidFill>
              </a:rPr>
              <a:t>mittleren Bereich, </a:t>
            </a:r>
            <a:r>
              <a:rPr lang="de-DE" sz="1300" dirty="0">
                <a:solidFill>
                  <a:srgbClr val="262626"/>
                </a:solidFill>
              </a:rPr>
              <a:t>trotz sehr hoher Übergangslatenzen</a:t>
            </a:r>
          </a:p>
        </p:txBody>
      </p:sp>
      <p:cxnSp>
        <p:nvCxnSpPr>
          <p:cNvPr id="23" name="Trennlinie"/>
          <p:cNvCxnSpPr/>
          <p:nvPr/>
        </p:nvCxnSpPr>
        <p:spPr>
          <a:xfrm>
            <a:off x="8077200" y="4724400"/>
            <a:ext cx="3200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24" name="Schlussaussage"/>
          <p:cNvSpPr txBox="1"/>
          <p:nvPr/>
        </p:nvSpPr>
        <p:spPr>
          <a:xfrm>
            <a:off x="8077200" y="4876800"/>
            <a:ext cx="3200400" cy="88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dirty="0">
                <a:solidFill>
                  <a:srgbClr val="262626"/>
                </a:solidFill>
              </a:rPr>
              <a:t>Höhere Koordinationswerte bedeuten nicht automatisch einen höheren Gesamt-Overhead.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Merlin: höhere Koordinationswerte als Nextflow und StreamFlow, aber dieselbe niedrige Overhead-Gruppe.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15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58390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3E5E2F-3F12-D116-7CE7-D6ECFF7D2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lang="de-DE" sz="2600" b="1" dirty="0">
                <a:solidFill>
                  <a:srgbClr val="262626"/>
                </a:solidFill>
              </a:rPr>
              <a:t>Quellenverzeichnis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0A9FB2-E4B2-A71F-E04B-B10EEFD4F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10058400" cy="3810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de-DE" sz="1400" b="1" dirty="0">
                <a:solidFill>
                  <a:srgbClr val="262626"/>
                </a:solidFill>
              </a:rPr>
              <a:t>Logos der Workflow-Management-Systeme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Nextflow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https://workflows.community/systems/nextflow/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StreamFlow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https://workflows.community/systems/streamflow/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Merlin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https://workflows.community/systems/merlin/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Pegasus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https://workflows.community/systems/pegasus/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AiiDA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https://workflows.community/systems/aiida-core/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Abruf: 01.09.2026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237940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952</Words>
  <Application>Microsoft Macintosh PowerPoint</Application>
  <PresentationFormat>Breitbild</PresentationFormat>
  <Paragraphs>309</Paragraphs>
  <Slides>16</Slides>
  <Notes>2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Überblick</vt:lpstr>
      <vt:lpstr>Ein wissenschaftlicher Workflow verbindet mehrere Rechenschritte zu einem gemeinsamen Ablauf.</vt:lpstr>
      <vt:lpstr>Warum Workflow-Management-Systeme im HPC?</vt:lpstr>
      <vt:lpstr>Ziel und Forschungsfragen</vt:lpstr>
      <vt:lpstr>Betrachtete Workflow-Management-Systeme</vt:lpstr>
      <vt:lpstr>Zweistufiges Untersuchungsdesign</vt:lpstr>
      <vt:lpstr>Gemeinsame Benchmark-Workflows</vt:lpstr>
      <vt:lpstr>Messmethodik</vt:lpstr>
      <vt:lpstr>Modellierung des Scatter-Gather-Musters</vt:lpstr>
      <vt:lpstr>Unterschiedliche Ausführungsmodelle</vt:lpstr>
      <vt:lpstr>Lokale Untersuchung: WMS-Overhead</vt:lpstr>
      <vt:lpstr>Scatter-Gather: Gesamtlaufzeit</vt:lpstr>
      <vt:lpstr>Übergangslatenzen</vt:lpstr>
      <vt:lpstr>Startspreizung</vt:lpstr>
      <vt:lpstr>Quellenverzeichnis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10</cp:revision>
  <dcterms:created xsi:type="dcterms:W3CDTF">2026-09-02T08:10:57Z</dcterms:created>
  <dcterms:modified xsi:type="dcterms:W3CDTF">2026-09-03T17:21:19Z</dcterms:modified>
</cp:coreProperties>
</file>