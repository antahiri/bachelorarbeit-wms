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9" r:id="rId2"/>
    <p:sldId id="263" r:id="rId3"/>
    <p:sldId id="267" r:id="rId4"/>
    <p:sldId id="272" r:id="rId5"/>
    <p:sldId id="274" r:id="rId6"/>
    <p:sldId id="276" r:id="rId7"/>
    <p:sldId id="280" r:id="rId8"/>
    <p:sldId id="285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34"/>
    <p:restoredTop sz="94658"/>
  </p:normalViewPr>
  <p:slideViewPr>
    <p:cSldViewPr snapToGrid="0">
      <p:cViewPr>
        <p:scale>
          <a:sx n="68" d="100"/>
          <a:sy n="68" d="100"/>
        </p:scale>
        <p:origin x="312" y="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992D6B-DA9F-DA49-93CB-1A27F22C3466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4616F-5B70-3840-955D-6DB355250D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0511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4616F-5B70-3840-955D-6DB355250DC4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29418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F50E0F-8593-420A-2D75-82C1B0F92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7D1655A-5FB5-571B-FD71-CF9BF0C1F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65FB02-738D-1281-7553-0855AAA44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7699E5-73E4-77C8-59D7-7E39C3414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355D19-8CDD-4E41-85CA-FB389F79F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96986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AABCC9-53A4-0991-9AED-A62B1A7F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BC21F4-58F8-CC7F-0305-5A7CD9407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09832A-894B-AB1B-27BC-8A84391C2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225C928-5C95-FEB3-415D-4F9D3BE56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A21753-BC8A-B894-7E32-13B8A7E7C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6832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9F419A-84EA-A481-EBD1-3AF27D34E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0F743F-31A8-161E-4CF0-522CA1F71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EB062F-DEED-F21A-AA21-06A675870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879017-5B9F-9E6E-AF13-F9C16E5D8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27A2555-0902-D5F1-2652-13CC8B1A0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4497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B2405A-DD12-D70B-329D-040566BA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096FC5-9214-AC70-AC50-D682885BEF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15BE708-DD60-E4A6-109A-CCCAC3D34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B5C123-A46E-2F2A-0740-3228B18B2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B2481C-C5E0-27EE-5A6D-B952347E5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A45667-646E-B321-C774-CCD2C8C31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5232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11EDDD-6938-4A54-797B-34B244001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5065358-23CA-4B2E-1F39-BC3390C253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EBCEB1C-757F-AEBF-A81D-F171E014B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0506628-AF50-A969-D785-B376552D56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B7EB69D-712F-8BC8-F8B4-333C854DFB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2AB27A8-523E-0230-5A39-DADA6ECF7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C5CCFDB-A6B5-DD8C-07EC-5B26AC83B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DAF01A1-7D54-DC3B-AD23-362B14311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1757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EEBA1D-EE2B-6F6E-487B-42EC75163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AAD2D4D-8CC6-21E0-8B77-AFF1DB409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F75E81C-A439-3D5C-E5DA-B1912C0D0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9B47DB-9DF7-E563-AD18-C1F083FFC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2708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4BCA15D-3492-659F-FA6A-C9BD32456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D0F986B-D57F-6710-BB0A-DCCAA7CB3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AC9107-711F-C31A-F818-C3D5CE714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2505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C861DD-C9C2-5AFE-45DA-194B172B9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9DDF6B-8EAE-2EE7-D4C8-52C09EF8D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DD949-8231-0150-ABAE-4EE836BAB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BE646C8-C9A4-03B5-20E0-C45698E62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17717AB-93D7-0D79-142C-C7B4D8B2D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32A27E8-C2DA-8A8E-D5B3-AB1FFADD2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542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A2C80C-80ED-BAB0-4F70-97B3F7225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3B90B1-A07E-483B-B97E-26F9BE680C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797912A-483D-09A9-AEE2-F6701B2435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63F6C31-BCA2-DEA4-54FE-F774ED630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B75D75-E0FD-B783-B8D0-18B62AC8A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462CAB9-E443-5F2C-AEB2-16BAE1865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5336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09848-8AF0-EA1A-2AC8-FA46EB857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8F37DC3-5562-4CDB-EC8D-01E5B0FE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9A1DDC-C138-638F-7F12-FC20DCB1D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73A8E5-252C-330E-6414-A183A015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FB3B56-0B25-094F-EAEF-C6801E014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5949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CA9F875-39F0-3ED2-D274-095402C72C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7F9079D-C113-57B4-B1DB-7A53A7E18F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764C16-B471-5B8C-C717-1E12DF339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DDA1BB-4DE0-DA65-AF3F-545361815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3D84A1-1540-96E1-2FED-1D6DDDFF8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2926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F52D09E-EBB7-8407-96A9-07AB3DAFD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63B2504-2EC5-117D-F557-47A296530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2E62DD-CEA8-65C2-3721-9B6B17DDC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064778-EACE-D3CC-3BE6-37FB1FAE9D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D380E6-1364-47C6-3352-C304EAC115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6463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AB960-80E8-7A60-6571-37499217CB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00" y="1498600"/>
            <a:ext cx="9652000" cy="1905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3600" b="1" dirty="0">
                <a:solidFill>
                  <a:srgbClr val="262626"/>
                </a:solidFill>
              </a:rPr>
              <a:t>Systematische Betrachtung ausgewählter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Workflow-Management-Systeme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für HPC-Umgebungen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6AFC276-4B97-FDD6-FB28-49BEFD406C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9200" y="3810000"/>
            <a:ext cx="8890000" cy="2776538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1400"/>
              </a:spcAft>
            </a:pPr>
            <a:r>
              <a:rPr lang="de-DE" sz="1400" b="1" spc="200" dirty="0">
                <a:solidFill>
                  <a:srgbClr val="C1002A"/>
                </a:solidFill>
              </a:rPr>
              <a:t>BACHELORARBEIT</a:t>
            </a:r>
          </a:p>
          <a:p>
            <a:pPr algn="l">
              <a:spcAft>
                <a:spcPts val="1200"/>
              </a:spcAft>
            </a:pPr>
            <a:r>
              <a:rPr lang="de-DE" sz="2000" b="1" dirty="0">
                <a:solidFill>
                  <a:srgbClr val="262626"/>
                </a:solidFill>
              </a:rPr>
              <a:t>Anas Tahiri</a:t>
            </a:r>
          </a:p>
          <a:p>
            <a:pPr algn="l">
              <a:spcAft>
                <a:spcPts val="200"/>
              </a:spcAft>
            </a:pPr>
            <a:r>
              <a:rPr lang="de-DE" sz="1500" dirty="0">
                <a:solidFill>
                  <a:srgbClr val="595959"/>
                </a:solidFill>
              </a:rPr>
              <a:t>Johannes Gutenberg-Universität Mainz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Gutachter: Prof. Dr. Sarah Neuwirth und Prof. Dr. Nicolai Kuntze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Betreuung: Niklas </a:t>
            </a:r>
            <a:r>
              <a:rPr lang="de-DE" sz="1500" dirty="0" err="1">
                <a:solidFill>
                  <a:srgbClr val="595959"/>
                </a:solidFill>
              </a:rPr>
              <a:t>Bartelheimer</a:t>
            </a:r>
            <a:r>
              <a:rPr lang="de-DE" sz="1500" dirty="0">
                <a:solidFill>
                  <a:srgbClr val="595959"/>
                </a:solidFill>
              </a:rPr>
              <a:t> und </a:t>
            </a:r>
            <a:r>
              <a:rPr lang="de-DE" sz="1500" dirty="0" err="1">
                <a:solidFill>
                  <a:srgbClr val="595959"/>
                </a:solidFill>
              </a:rPr>
              <a:t>Zhaobin</a:t>
            </a:r>
            <a:r>
              <a:rPr lang="de-DE" sz="1500" dirty="0">
                <a:solidFill>
                  <a:srgbClr val="595959"/>
                </a:solidFill>
              </a:rPr>
              <a:t> Zhu</a:t>
            </a:r>
          </a:p>
          <a:p>
            <a:pPr algn="l"/>
            <a:r>
              <a:rPr lang="de-DE" sz="1400" dirty="0">
                <a:solidFill>
                  <a:srgbClr val="595959"/>
                </a:solidFill>
              </a:rPr>
              <a:t>Kolloquium · 10. September 2026</a:t>
            </a:r>
          </a:p>
        </p:txBody>
      </p:sp>
      <p:sp>
        <p:nvSpPr>
          <p:cNvPr id="10" name="Akzentlinie"/>
          <p:cNvSpPr/>
          <p:nvPr/>
        </p:nvSpPr>
        <p:spPr>
          <a:xfrm>
            <a:off x="914400" y="1498600"/>
            <a:ext cx="50800" cy="1676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2D479A3-CE8F-8A83-CA37-9FB301976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1656" y="366713"/>
            <a:ext cx="1131887" cy="1131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440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040461-A3F5-6DBD-101D-778F129C5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Überblick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8F2FD3-36AE-D29F-70A5-FC217FC82E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2159000"/>
            <a:ext cx="8890000" cy="3683000"/>
          </a:xfrm>
        </p:spPr>
        <p:txBody>
          <a:bodyPr wrap="square" lIns="0" tIns="0" rIns="0" bIns="0" anchor="t">
            <a:normAutofit/>
          </a:bodyPr>
          <a:lstStyle/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01</a:t>
            </a:r>
            <a:r>
              <a:rPr lang="de-DE" sz="2000" dirty="0">
                <a:solidFill>
                  <a:srgbClr val="262626"/>
                </a:solidFill>
              </a:rPr>
              <a:t>	Motivation und Fragestellung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02</a:t>
            </a:r>
            <a:r>
              <a:rPr lang="de-DE" sz="2000" dirty="0">
                <a:solidFill>
                  <a:srgbClr val="262626"/>
                </a:solidFill>
              </a:rPr>
              <a:t>	Methodik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03</a:t>
            </a:r>
            <a:r>
              <a:rPr lang="de-DE" sz="2000" dirty="0">
                <a:solidFill>
                  <a:srgbClr val="262626"/>
                </a:solidFill>
              </a:rPr>
              <a:t>	Modellierung und Ausführung der WMS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04</a:t>
            </a:r>
            <a:r>
              <a:rPr lang="de-DE" sz="2000" dirty="0">
                <a:solidFill>
                  <a:srgbClr val="262626"/>
                </a:solidFill>
              </a:rPr>
              <a:t>	Praktische Untersuchung und Ergebnisse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05</a:t>
            </a:r>
            <a:r>
              <a:rPr lang="de-DE" sz="2000" dirty="0">
                <a:solidFill>
                  <a:srgbClr val="262626"/>
                </a:solidFill>
              </a:rPr>
              <a:t>	Forschungsfragen und Fazit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273996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D9A5A4-C2C6-495D-3A92-E3411F52F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1016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2600" b="1" dirty="0">
                <a:solidFill>
                  <a:srgbClr val="262626"/>
                </a:solidFill>
              </a:rPr>
              <a:t>Ein wissenschaftlicher Workflow verbindet mehrere Rechenschritte zu einem gemeinsamen Ablauf.</a:t>
            </a:r>
          </a:p>
        </p:txBody>
      </p:sp>
      <p:sp>
        <p:nvSpPr>
          <p:cNvPr id="20" name="Shape 20"/>
          <p:cNvSpPr/>
          <p:nvPr/>
        </p:nvSpPr>
        <p:spPr>
          <a:xfrm>
            <a:off x="914400" y="812800"/>
            <a:ext cx="50800" cy="787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cxnSp>
        <p:nvCxnSpPr>
          <p:cNvPr id="21" name="Arrow 21"/>
          <p:cNvCxnSpPr/>
          <p:nvPr/>
        </p:nvCxnSpPr>
        <p:spPr>
          <a:xfrm>
            <a:off x="1219200" y="3581400"/>
            <a:ext cx="8128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22" name="Label 22"/>
          <p:cNvSpPr txBox="1"/>
          <p:nvPr/>
        </p:nvSpPr>
        <p:spPr>
          <a:xfrm>
            <a:off x="1143000" y="2971800"/>
            <a:ext cx="965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595959"/>
                </a:solidFill>
              </a:rPr>
              <a:t>Eingabe</a:t>
            </a:r>
          </a:p>
        </p:txBody>
      </p:sp>
      <p:sp>
        <p:nvSpPr>
          <p:cNvPr id="23" name="Shape 23"/>
          <p:cNvSpPr/>
          <p:nvPr/>
        </p:nvSpPr>
        <p:spPr>
          <a:xfrm>
            <a:off x="2032000" y="3302000"/>
            <a:ext cx="1524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262626"/>
                </a:solidFill>
              </a:rPr>
              <a:t>Rechenschritt</a:t>
            </a:r>
          </a:p>
        </p:txBody>
      </p:sp>
      <p:cxnSp>
        <p:nvCxnSpPr>
          <p:cNvPr id="24" name="Arrow 24"/>
          <p:cNvCxnSpPr/>
          <p:nvPr/>
        </p:nvCxnSpPr>
        <p:spPr>
          <a:xfrm>
            <a:off x="3556000" y="3581400"/>
            <a:ext cx="8128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25" name="Label 25"/>
          <p:cNvSpPr txBox="1"/>
          <p:nvPr/>
        </p:nvSpPr>
        <p:spPr>
          <a:xfrm>
            <a:off x="3479800" y="2971800"/>
            <a:ext cx="965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595959"/>
                </a:solidFill>
              </a:rPr>
              <a:t>Ausgabe</a:t>
            </a:r>
          </a:p>
        </p:txBody>
      </p:sp>
      <p:sp>
        <p:nvSpPr>
          <p:cNvPr id="26" name="Label 26"/>
          <p:cNvSpPr txBox="1"/>
          <p:nvPr/>
        </p:nvSpPr>
        <p:spPr>
          <a:xfrm>
            <a:off x="1219200" y="4318000"/>
            <a:ext cx="3302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de-DE" sz="1400" dirty="0">
                <a:solidFill>
                  <a:srgbClr val="595959"/>
                </a:solidFill>
              </a:rPr>
              <a:t>Baustein: ein einzelner Rechenschritt</a:t>
            </a:r>
          </a:p>
        </p:txBody>
      </p:sp>
      <p:sp>
        <p:nvSpPr>
          <p:cNvPr id="27" name="Shape 27"/>
          <p:cNvSpPr/>
          <p:nvPr/>
        </p:nvSpPr>
        <p:spPr>
          <a:xfrm>
            <a:off x="5943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A</a:t>
            </a:r>
          </a:p>
        </p:txBody>
      </p:sp>
      <p:sp>
        <p:nvSpPr>
          <p:cNvPr id="28" name="Shape 28"/>
          <p:cNvSpPr/>
          <p:nvPr/>
        </p:nvSpPr>
        <p:spPr>
          <a:xfrm>
            <a:off x="7467600" y="23114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B</a:t>
            </a:r>
          </a:p>
        </p:txBody>
      </p:sp>
      <p:sp>
        <p:nvSpPr>
          <p:cNvPr id="29" name="Shape 29"/>
          <p:cNvSpPr/>
          <p:nvPr/>
        </p:nvSpPr>
        <p:spPr>
          <a:xfrm>
            <a:off x="8991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C</a:t>
            </a:r>
          </a:p>
        </p:txBody>
      </p:sp>
      <p:sp>
        <p:nvSpPr>
          <p:cNvPr id="30" name="Shape 30"/>
          <p:cNvSpPr/>
          <p:nvPr/>
        </p:nvSpPr>
        <p:spPr>
          <a:xfrm>
            <a:off x="10515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D</a:t>
            </a:r>
          </a:p>
        </p:txBody>
      </p:sp>
      <p:cxnSp>
        <p:nvCxnSpPr>
          <p:cNvPr id="31" name="Arrow 31"/>
          <p:cNvCxnSpPr/>
          <p:nvPr/>
        </p:nvCxnSpPr>
        <p:spPr>
          <a:xfrm flipV="1">
            <a:off x="6705600" y="2590800"/>
            <a:ext cx="762000" cy="99060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2" name="Arrow 32"/>
          <p:cNvCxnSpPr/>
          <p:nvPr/>
        </p:nvCxnSpPr>
        <p:spPr>
          <a:xfrm>
            <a:off x="8229600" y="2590800"/>
            <a:ext cx="762000" cy="99060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3" name="Arrow 33"/>
          <p:cNvCxnSpPr/>
          <p:nvPr/>
        </p:nvCxnSpPr>
        <p:spPr>
          <a:xfrm>
            <a:off x="6705600" y="3581400"/>
            <a:ext cx="22860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4" name="Arrow 34"/>
          <p:cNvCxnSpPr/>
          <p:nvPr/>
        </p:nvCxnSpPr>
        <p:spPr>
          <a:xfrm>
            <a:off x="9753600" y="3581400"/>
            <a:ext cx="7620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35" name="Shape 35"/>
          <p:cNvSpPr/>
          <p:nvPr/>
        </p:nvSpPr>
        <p:spPr>
          <a:xfrm>
            <a:off x="6985000" y="29591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6" name="Shape 36"/>
          <p:cNvSpPr/>
          <p:nvPr/>
        </p:nvSpPr>
        <p:spPr>
          <a:xfrm>
            <a:off x="8509000" y="29591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7" name="Shape 37"/>
          <p:cNvSpPr/>
          <p:nvPr/>
        </p:nvSpPr>
        <p:spPr>
          <a:xfrm>
            <a:off x="7747000" y="34544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8" name="Shape 38"/>
          <p:cNvSpPr/>
          <p:nvPr/>
        </p:nvSpPr>
        <p:spPr>
          <a:xfrm>
            <a:off x="10033000" y="34544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9" name="Label 39"/>
          <p:cNvSpPr txBox="1"/>
          <p:nvPr/>
        </p:nvSpPr>
        <p:spPr>
          <a:xfrm>
            <a:off x="5943600" y="4318000"/>
            <a:ext cx="5334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de-DE" sz="1400" dirty="0">
                <a:solidFill>
                  <a:srgbClr val="595959"/>
                </a:solidFill>
              </a:rPr>
              <a:t>Mehrere verbundene Rechenschritte bilden einen Workflow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3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70" name="Stichpunkte"/>
          <p:cNvSpPr txBox="1"/>
          <p:nvPr/>
        </p:nvSpPr>
        <p:spPr>
          <a:xfrm>
            <a:off x="1219200" y="4927600"/>
            <a:ext cx="9854692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Wissenschaftlicher Workflow: verbundene Rechenschritte mit gemeinsamem Forschungsziel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Mehr Schritte und Abhängigkeiten → höherer Koordinationsaufwand → Workflow-Management-Systeme</a:t>
            </a:r>
          </a:p>
        </p:txBody>
      </p:sp>
    </p:spTree>
    <p:extLst>
      <p:ext uri="{BB962C8B-B14F-4D97-AF65-F5344CB8AC3E}">
        <p14:creationId xmlns:p14="http://schemas.microsoft.com/office/powerpoint/2010/main" val="2996142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0F9664-B06B-1E69-0E37-E3D6CFDB7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Warum Workflow-Management-Systeme im HPC?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155994-4CBC-162B-520F-83B3A198DE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905000"/>
            <a:ext cx="4318000" cy="2794000"/>
          </a:xfrm>
        </p:spPr>
        <p:txBody>
          <a:bodyPr wrap="square" lIns="0" tIns="0" rIns="0" bIns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Workflow-Management-System</a:t>
            </a:r>
          </a:p>
          <a:p>
            <a:pPr marL="0" indent="0" algn="l">
              <a:spcAft>
                <a:spcPts val="1800"/>
              </a:spcAft>
              <a:buNone/>
            </a:pPr>
            <a:r>
              <a:rPr lang="de-DE" sz="1600" dirty="0">
                <a:solidFill>
                  <a:srgbClr val="595959"/>
                </a:solidFill>
              </a:rPr>
              <a:t>Orchestriert die Ausführung des Workflows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Planung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Koordination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Datenübertragung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Überwachung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Rechts"/>
          <p:cNvSpPr txBox="1"/>
          <p:nvPr/>
        </p:nvSpPr>
        <p:spPr>
          <a:xfrm>
            <a:off x="6959600" y="1905000"/>
            <a:ext cx="4318000" cy="317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</a:pPr>
            <a:r>
              <a:rPr lang="de-DE" sz="2000" b="1" dirty="0">
                <a:solidFill>
                  <a:srgbClr val="262626"/>
                </a:solidFill>
              </a:rPr>
              <a:t>HPC-Umgebung</a:t>
            </a:r>
          </a:p>
          <a:p>
            <a:pPr algn="l">
              <a:spcAft>
                <a:spcPts val="800"/>
              </a:spcAft>
            </a:pPr>
            <a:r>
              <a:rPr lang="de-DE" sz="1600" dirty="0">
                <a:solidFill>
                  <a:srgbClr val="595959"/>
                </a:solidFill>
              </a:rPr>
              <a:t>Rechen- und datenintensive wissenschaftliche Workflows können von HPC-Ressourcen profitieren.</a:t>
            </a:r>
          </a:p>
          <a:p>
            <a:pPr algn="l">
              <a:spcAft>
                <a:spcPts val="1600"/>
              </a:spcAft>
            </a:pPr>
            <a:r>
              <a:rPr lang="de-DE" sz="1400" dirty="0">
                <a:solidFill>
                  <a:srgbClr val="595959"/>
                </a:solidFill>
              </a:rPr>
              <a:t>Beispiele: </a:t>
            </a:r>
            <a:r>
              <a:rPr lang="de-DE" sz="1400" dirty="0">
                <a:solidFill>
                  <a:srgbClr val="262626"/>
                </a:solidFill>
              </a:rPr>
              <a:t>Simulationen · </a:t>
            </a:r>
            <a:r>
              <a:rPr lang="de-DE" sz="1400" dirty="0" err="1">
                <a:solidFill>
                  <a:srgbClr val="262626"/>
                </a:solidFill>
              </a:rPr>
              <a:t>Machine</a:t>
            </a:r>
            <a:r>
              <a:rPr lang="de-DE" sz="1400" dirty="0">
                <a:solidFill>
                  <a:srgbClr val="262626"/>
                </a:solidFill>
              </a:rPr>
              <a:t> Learning · Bioinformatik</a:t>
            </a:r>
          </a:p>
          <a:p>
            <a:pPr marL="203200" indent="-2032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Ressourcenverwaltung</a:t>
            </a:r>
          </a:p>
          <a:p>
            <a:pPr marL="203200" algn="l">
              <a:spcAft>
                <a:spcPts val="1600"/>
              </a:spcAft>
            </a:pPr>
            <a:r>
              <a:rPr lang="de-DE" sz="1400" dirty="0">
                <a:solidFill>
                  <a:srgbClr val="595959"/>
                </a:solidFill>
              </a:rPr>
              <a:t>z. B. durch Slurm</a:t>
            </a:r>
          </a:p>
          <a:p>
            <a:pPr algn="l"/>
            <a:r>
              <a:rPr lang="de-DE" sz="1600" b="1" dirty="0">
                <a:solidFill>
                  <a:srgbClr val="262626"/>
                </a:solidFill>
              </a:rPr>
              <a:t>WMS müssen in diese Ausführungsumgebung integriert werden.</a:t>
            </a:r>
          </a:p>
        </p:txBody>
      </p:sp>
      <p:cxnSp>
        <p:nvCxnSpPr>
          <p:cNvPr id="22" name="Verbindung"/>
          <p:cNvCxnSpPr/>
          <p:nvPr/>
        </p:nvCxnSpPr>
        <p:spPr>
          <a:xfrm>
            <a:off x="5867400" y="3073400"/>
            <a:ext cx="762000" cy="0"/>
          </a:xfrm>
          <a:prstGeom prst="straightConnector1">
            <a:avLst/>
          </a:prstGeom>
          <a:ln w="12700">
            <a:solidFill>
              <a:srgbClr val="A6A6A6"/>
            </a:solidFill>
            <a:tailEnd type="triangle" w="med" len="med"/>
          </a:ln>
        </p:spPr>
      </p:cxnSp>
      <p:sp>
        <p:nvSpPr>
          <p:cNvPr id="23" name="Überleitung"/>
          <p:cNvSpPr txBox="1"/>
          <p:nvPr/>
        </p:nvSpPr>
        <p:spPr>
          <a:xfrm>
            <a:off x="1219200" y="5461000"/>
            <a:ext cx="1005840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C1002A"/>
                </a:solidFill>
              </a:rPr>
              <a:t>Wie unterscheiden sich WMS in Modellierung, Laufzeitverhalten und HPC-Einsatz?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4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767066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9EFA8F-6F04-1A12-DE30-7DEE733FC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Ziel und Forschungsfragen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66CCFD-4293-3292-23B9-7587705DF3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778000"/>
            <a:ext cx="10058400" cy="762000"/>
          </a:xfrm>
        </p:spPr>
        <p:txBody>
          <a:bodyPr wrap="square" lIns="0" tIns="0" rIns="0" bIns="0" anchor="t">
            <a:normAutofit lnSpcReduction="10000"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de-DE" sz="1200" b="1" spc="150" dirty="0">
                <a:solidFill>
                  <a:srgbClr val="C1002A"/>
                </a:solidFill>
              </a:rPr>
              <a:t>ZIEL DER ARBEIT</a:t>
            </a:r>
          </a:p>
          <a:p>
            <a:pPr marL="0" indent="0" algn="l">
              <a:buNone/>
            </a:pPr>
            <a:r>
              <a:rPr lang="de-DE" sz="1600" dirty="0">
                <a:solidFill>
                  <a:srgbClr val="262626"/>
                </a:solidFill>
              </a:rPr>
              <a:t>Systematischer Vergleich ausgewählter Workflow-Management-Systeme hinsichtlich Modellierung, Laufzeitverhalten und Einsatz in einer HPC-Umgebung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cxnSp>
        <p:nvCxnSpPr>
          <p:cNvPr id="24" name="Trenner"/>
          <p:cNvCxnSpPr/>
          <p:nvPr/>
        </p:nvCxnSpPr>
        <p:spPr>
          <a:xfrm>
            <a:off x="1219200" y="2717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0" name="Frage F1"/>
          <p:cNvSpPr txBox="1"/>
          <p:nvPr/>
        </p:nvSpPr>
        <p:spPr>
          <a:xfrm>
            <a:off x="1219200" y="29464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F1 · MODELLIERUNG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Wie unterscheiden sich die Systeme bei der Umsetzung eines Pipeline und </a:t>
            </a:r>
            <a:r>
              <a:rPr lang="de-DE" sz="1400" dirty="0" err="1">
                <a:solidFill>
                  <a:srgbClr val="262626"/>
                </a:solidFill>
              </a:rPr>
              <a:t>Scatter</a:t>
            </a:r>
            <a:r>
              <a:rPr lang="de-DE" sz="1400" dirty="0">
                <a:solidFill>
                  <a:srgbClr val="262626"/>
                </a:solidFill>
              </a:rPr>
              <a:t>-Gather Musters?</a:t>
            </a:r>
          </a:p>
        </p:txBody>
      </p:sp>
      <p:sp>
        <p:nvSpPr>
          <p:cNvPr id="31" name="Frage F2"/>
          <p:cNvSpPr txBox="1"/>
          <p:nvPr/>
        </p:nvSpPr>
        <p:spPr>
          <a:xfrm>
            <a:off x="6451600" y="29464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F2 · LAUFZEITVERHALTEN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Welches Laufzeitverhalten zeigen die Systeme bei der Ausführung dieser Workflows?</a:t>
            </a:r>
          </a:p>
          <a:p>
            <a:pPr algn="l"/>
            <a:r>
              <a:rPr lang="de-DE" sz="1200" dirty="0">
                <a:solidFill>
                  <a:srgbClr val="595959"/>
                </a:solidFill>
              </a:rPr>
              <a:t>Makespan · Overhead · Übergangslatenz · Startspreizung</a:t>
            </a:r>
          </a:p>
        </p:txBody>
      </p:sp>
      <p:sp>
        <p:nvSpPr>
          <p:cNvPr id="32" name="Frage F3"/>
          <p:cNvSpPr txBox="1"/>
          <p:nvPr/>
        </p:nvSpPr>
        <p:spPr>
          <a:xfrm>
            <a:off x="1219200" y="42926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F3 · HPC-EINSATZ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Wie lassen sich die Systeme auf einem Slurm-basierten HPC-System betreiben und wie setzen sich dort die Laufzeiten zusammen?</a:t>
            </a:r>
          </a:p>
        </p:txBody>
      </p:sp>
      <p:sp>
        <p:nvSpPr>
          <p:cNvPr id="33" name="Frage F4"/>
          <p:cNvSpPr txBox="1"/>
          <p:nvPr/>
        </p:nvSpPr>
        <p:spPr>
          <a:xfrm>
            <a:off x="6451600" y="42926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F4 · EINORDNUNG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Für welche Arten von Workflows und Anwendungsfällen erscheinen die einzelnen Systeme besonders geeignet?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5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496952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E26FD6-D96A-4610-4054-2346AC3DA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Betrachtete Workflow-Management-Systeme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186123-53BF-979A-60CA-7202DD242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4648200"/>
            <a:ext cx="10058400" cy="381000"/>
          </a:xfrm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de-DE" sz="1600" dirty="0">
                <a:solidFill>
                  <a:srgbClr val="595959"/>
                </a:solidFill>
              </a:rPr>
              <a:t>Unterschiedliche Ansätze in Anwendungskontext, Workflow-Beschreibung und Systemarchitektur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Marke Nextflow"/>
          <p:cNvSpPr/>
          <p:nvPr/>
        </p:nvSpPr>
        <p:spPr>
          <a:xfrm>
            <a:off x="204724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" name="System Nextflow"/>
          <p:cNvSpPr txBox="1"/>
          <p:nvPr/>
        </p:nvSpPr>
        <p:spPr>
          <a:xfrm>
            <a:off x="121920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22" name="Marke StreamFlow"/>
          <p:cNvSpPr/>
          <p:nvPr/>
        </p:nvSpPr>
        <p:spPr>
          <a:xfrm>
            <a:off x="405892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1" name="System StreamFlow"/>
          <p:cNvSpPr txBox="1"/>
          <p:nvPr/>
        </p:nvSpPr>
        <p:spPr>
          <a:xfrm>
            <a:off x="323088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23" name="Marke Pegasus"/>
          <p:cNvSpPr/>
          <p:nvPr/>
        </p:nvSpPr>
        <p:spPr>
          <a:xfrm>
            <a:off x="607060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2" name="System Pegasus"/>
          <p:cNvSpPr txBox="1"/>
          <p:nvPr/>
        </p:nvSpPr>
        <p:spPr>
          <a:xfrm>
            <a:off x="524256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24" name="Marke Merlin"/>
          <p:cNvSpPr/>
          <p:nvPr/>
        </p:nvSpPr>
        <p:spPr>
          <a:xfrm>
            <a:off x="808228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" name="System Merlin"/>
          <p:cNvSpPr txBox="1"/>
          <p:nvPr/>
        </p:nvSpPr>
        <p:spPr>
          <a:xfrm>
            <a:off x="725424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25" name="Marke AiiDA"/>
          <p:cNvSpPr/>
          <p:nvPr/>
        </p:nvSpPr>
        <p:spPr>
          <a:xfrm>
            <a:off x="1009396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4" name="System AiiDA"/>
          <p:cNvSpPr txBox="1"/>
          <p:nvPr/>
        </p:nvSpPr>
        <p:spPr>
          <a:xfrm>
            <a:off x="926592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AiiDA</a:t>
            </a:r>
          </a:p>
        </p:txBody>
      </p:sp>
      <p:cxnSp>
        <p:nvCxnSpPr>
          <p:cNvPr id="36" name="Trenner"/>
          <p:cNvCxnSpPr/>
          <p:nvPr/>
        </p:nvCxnSpPr>
        <p:spPr>
          <a:xfrm>
            <a:off x="1219200" y="4241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6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881142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B421FD-2FF5-4BBE-DCB7-955136455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Zweistufiges Untersuchungsdesign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1E8772-EFF4-5F07-0094-2D6A9C28B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2032000"/>
            <a:ext cx="4318000" cy="3175000"/>
          </a:xfrm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LOKALE UNTERSUCHUNG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Alle fünf Systeme</a:t>
            </a:r>
          </a:p>
          <a:p>
            <a:pPr marL="203200" indent="-203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Qualitativer Vergleich</a:t>
            </a:r>
          </a:p>
          <a:p>
            <a:pPr marL="203200" indent="-203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Quantitative Messungen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Rechts"/>
          <p:cNvSpPr txBox="1"/>
          <p:nvPr/>
        </p:nvSpPr>
        <p:spPr>
          <a:xfrm>
            <a:off x="6959600" y="2032000"/>
            <a:ext cx="4318000" cy="317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MOGON / HPC</a:t>
            </a:r>
          </a:p>
          <a:p>
            <a:pPr marL="0" indent="0" algn="l">
              <a:spcAft>
                <a:spcPts val="3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Vier Systeme</a:t>
            </a:r>
          </a:p>
          <a:p>
            <a:pPr marL="0" indent="0" algn="l">
              <a:spcAft>
                <a:spcPts val="1600"/>
              </a:spcAft>
              <a:buNone/>
            </a:pPr>
            <a:r>
              <a:rPr lang="de-DE" sz="1400" dirty="0">
                <a:solidFill>
                  <a:srgbClr val="595959"/>
                </a:solidFill>
              </a:rPr>
              <a:t>Nextflow · StreamFlow · Merlin · AiiDA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Bereitstellung und Betrieb unter Slurm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Untersuchung des regulären Slurm-Betriebs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Quantitative Messungen auf dedizierter Ressource</a:t>
            </a:r>
          </a:p>
        </p:txBody>
      </p:sp>
      <p:cxnSp>
        <p:nvCxnSpPr>
          <p:cNvPr id="22" name="Trenner"/>
          <p:cNvCxnSpPr/>
          <p:nvPr/>
        </p:nvCxnSpPr>
        <p:spPr>
          <a:xfrm>
            <a:off x="6248400" y="2032000"/>
            <a:ext cx="0" cy="317500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7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2085791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C76724-1455-81ED-7162-313B1F722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Gemeinsame Benchmark-Workflows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064824-A3CB-89A9-5D41-A13FD12F8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701800"/>
            <a:ext cx="4318000" cy="228600"/>
          </a:xfrm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PIPELINE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Label rechts"/>
          <p:cNvSpPr txBox="1"/>
          <p:nvPr/>
        </p:nvSpPr>
        <p:spPr>
          <a:xfrm>
            <a:off x="6959600" y="17018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300" b="1" spc="150" dirty="0">
                <a:solidFill>
                  <a:srgbClr val="C1002A"/>
                </a:solidFill>
              </a:rPr>
              <a:t>SCATTER-GATHER</a:t>
            </a:r>
          </a:p>
        </p:txBody>
      </p:sp>
      <p:sp>
        <p:nvSpPr>
          <p:cNvPr id="22" name="Node generate_input"/>
          <p:cNvSpPr/>
          <p:nvPr/>
        </p:nvSpPr>
        <p:spPr>
          <a:xfrm>
            <a:off x="2616200" y="2082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generate_input</a:t>
            </a:r>
          </a:p>
        </p:txBody>
      </p:sp>
      <p:sp>
        <p:nvSpPr>
          <p:cNvPr id="23" name="Node preprocess"/>
          <p:cNvSpPr/>
          <p:nvPr/>
        </p:nvSpPr>
        <p:spPr>
          <a:xfrm>
            <a:off x="2616200" y="25146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preprocess</a:t>
            </a:r>
          </a:p>
        </p:txBody>
      </p:sp>
      <p:cxnSp>
        <p:nvCxnSpPr>
          <p:cNvPr id="24" name="Pfeil"/>
          <p:cNvCxnSpPr/>
          <p:nvPr/>
        </p:nvCxnSpPr>
        <p:spPr>
          <a:xfrm>
            <a:off x="3378200" y="23622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5" name="Node compute"/>
          <p:cNvSpPr/>
          <p:nvPr/>
        </p:nvSpPr>
        <p:spPr>
          <a:xfrm>
            <a:off x="2616200" y="29464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</a:p>
        </p:txBody>
      </p:sp>
      <p:cxnSp>
        <p:nvCxnSpPr>
          <p:cNvPr id="26" name="Pfeil"/>
          <p:cNvCxnSpPr/>
          <p:nvPr/>
        </p:nvCxnSpPr>
        <p:spPr>
          <a:xfrm>
            <a:off x="3378200" y="27940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7" name="Node postprocess"/>
          <p:cNvSpPr/>
          <p:nvPr/>
        </p:nvSpPr>
        <p:spPr>
          <a:xfrm>
            <a:off x="2616200" y="33782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postprocess</a:t>
            </a:r>
          </a:p>
        </p:txBody>
      </p:sp>
      <p:cxnSp>
        <p:nvCxnSpPr>
          <p:cNvPr id="28" name="Pfeil"/>
          <p:cNvCxnSpPr/>
          <p:nvPr/>
        </p:nvCxnSpPr>
        <p:spPr>
          <a:xfrm>
            <a:off x="3378200" y="32258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9" name="Node generate_input"/>
          <p:cNvSpPr/>
          <p:nvPr/>
        </p:nvSpPr>
        <p:spPr>
          <a:xfrm>
            <a:off x="8356600" y="2082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generate_input</a:t>
            </a:r>
          </a:p>
        </p:txBody>
      </p:sp>
      <p:cxnSp>
        <p:nvCxnSpPr>
          <p:cNvPr id="30" name="Pfeil"/>
          <p:cNvCxnSpPr/>
          <p:nvPr/>
        </p:nvCxnSpPr>
        <p:spPr>
          <a:xfrm>
            <a:off x="9118600" y="23622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1" name="Node preprocess"/>
          <p:cNvSpPr/>
          <p:nvPr/>
        </p:nvSpPr>
        <p:spPr>
          <a:xfrm>
            <a:off x="8356600" y="25146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preprocess</a:t>
            </a:r>
          </a:p>
        </p:txBody>
      </p:sp>
      <p:cxnSp>
        <p:nvCxnSpPr>
          <p:cNvPr id="32" name="Pfeil"/>
          <p:cNvCxnSpPr/>
          <p:nvPr/>
        </p:nvCxnSpPr>
        <p:spPr>
          <a:xfrm>
            <a:off x="9118600" y="27940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3" name="Node split"/>
          <p:cNvSpPr/>
          <p:nvPr/>
        </p:nvSpPr>
        <p:spPr>
          <a:xfrm>
            <a:off x="8356600" y="29464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split</a:t>
            </a:r>
          </a:p>
        </p:txBody>
      </p:sp>
      <p:sp>
        <p:nvSpPr>
          <p:cNvPr id="34" name="Node compute"/>
          <p:cNvSpPr/>
          <p:nvPr/>
        </p:nvSpPr>
        <p:spPr>
          <a:xfrm>
            <a:off x="70866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1</a:t>
            </a:r>
          </a:p>
        </p:txBody>
      </p:sp>
      <p:cxnSp>
        <p:nvCxnSpPr>
          <p:cNvPr id="35" name="Pfeil"/>
          <p:cNvCxnSpPr/>
          <p:nvPr/>
        </p:nvCxnSpPr>
        <p:spPr>
          <a:xfrm flipH="1">
            <a:off x="7620000" y="32258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6" name="Pfeil"/>
          <p:cNvCxnSpPr/>
          <p:nvPr/>
        </p:nvCxnSpPr>
        <p:spPr>
          <a:xfrm>
            <a:off x="7620000" y="36576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7" name="Node compute"/>
          <p:cNvSpPr/>
          <p:nvPr/>
        </p:nvSpPr>
        <p:spPr>
          <a:xfrm>
            <a:off x="85852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2</a:t>
            </a:r>
          </a:p>
        </p:txBody>
      </p:sp>
      <p:cxnSp>
        <p:nvCxnSpPr>
          <p:cNvPr id="38" name="Pfeil"/>
          <p:cNvCxnSpPr/>
          <p:nvPr/>
        </p:nvCxnSpPr>
        <p:spPr>
          <a:xfrm>
            <a:off x="9118600" y="32258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9" name="Pfeil"/>
          <p:cNvCxnSpPr/>
          <p:nvPr/>
        </p:nvCxnSpPr>
        <p:spPr>
          <a:xfrm>
            <a:off x="9118600" y="36576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0" name="Node compute"/>
          <p:cNvSpPr/>
          <p:nvPr/>
        </p:nvSpPr>
        <p:spPr>
          <a:xfrm>
            <a:off x="100838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n</a:t>
            </a:r>
          </a:p>
        </p:txBody>
      </p:sp>
      <p:cxnSp>
        <p:nvCxnSpPr>
          <p:cNvPr id="41" name="Pfeil"/>
          <p:cNvCxnSpPr/>
          <p:nvPr/>
        </p:nvCxnSpPr>
        <p:spPr>
          <a:xfrm>
            <a:off x="9118600" y="32258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42" name="Pfeil"/>
          <p:cNvCxnSpPr/>
          <p:nvPr/>
        </p:nvCxnSpPr>
        <p:spPr>
          <a:xfrm flipH="1">
            <a:off x="9118600" y="36576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3" name="Ellipsis"/>
          <p:cNvSpPr txBox="1"/>
          <p:nvPr/>
        </p:nvSpPr>
        <p:spPr>
          <a:xfrm>
            <a:off x="9867900" y="3378200"/>
            <a:ext cx="215900" cy="279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de-DE" sz="1300" dirty="0">
                <a:solidFill>
                  <a:srgbClr val="A6A6A6"/>
                </a:solidFill>
              </a:rPr>
              <a:t>···</a:t>
            </a:r>
          </a:p>
        </p:txBody>
      </p:sp>
      <p:sp>
        <p:nvSpPr>
          <p:cNvPr id="44" name="Node aggregate"/>
          <p:cNvSpPr/>
          <p:nvPr/>
        </p:nvSpPr>
        <p:spPr>
          <a:xfrm>
            <a:off x="8356600" y="38100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aggregate</a:t>
            </a:r>
          </a:p>
        </p:txBody>
      </p:sp>
      <p:cxnSp>
        <p:nvCxnSpPr>
          <p:cNvPr id="45" name="Pfeil"/>
          <p:cNvCxnSpPr/>
          <p:nvPr/>
        </p:nvCxnSpPr>
        <p:spPr>
          <a:xfrm>
            <a:off x="9118600" y="40894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6" name="Node postprocess"/>
          <p:cNvSpPr/>
          <p:nvPr/>
        </p:nvSpPr>
        <p:spPr>
          <a:xfrm>
            <a:off x="8356600" y="4241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postprocess</a:t>
            </a:r>
          </a:p>
        </p:txBody>
      </p:sp>
      <p:sp>
        <p:nvSpPr>
          <p:cNvPr id="47" name="Caption links"/>
          <p:cNvSpPr txBox="1"/>
          <p:nvPr/>
        </p:nvSpPr>
        <p:spPr>
          <a:xfrm>
            <a:off x="1219200" y="45974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i="1" dirty="0">
                <a:solidFill>
                  <a:srgbClr val="595959"/>
                </a:solidFill>
              </a:rPr>
              <a:t>Sequenzielle Verarbeitung</a:t>
            </a:r>
          </a:p>
        </p:txBody>
      </p:sp>
      <p:sp>
        <p:nvSpPr>
          <p:cNvPr id="48" name="Caption rechts"/>
          <p:cNvSpPr txBox="1"/>
          <p:nvPr/>
        </p:nvSpPr>
        <p:spPr>
          <a:xfrm>
            <a:off x="6959600" y="45974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i="1" dirty="0">
                <a:solidFill>
                  <a:srgbClr val="595959"/>
                </a:solidFill>
              </a:rPr>
              <a:t>Parallele Verarbeitung mit anschließender Zusammenführung</a:t>
            </a:r>
          </a:p>
        </p:txBody>
      </p:sp>
      <p:sp>
        <p:nvSpPr>
          <p:cNvPr id="4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8</a:t>
            </a:r>
          </a:p>
        </p:txBody>
      </p:sp>
      <p:cxnSp>
        <p:nvCxnSpPr>
          <p:cNvPr id="5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70" name="Parameter links"/>
          <p:cNvSpPr txBox="1"/>
          <p:nvPr/>
        </p:nvSpPr>
        <p:spPr>
          <a:xfrm>
            <a:off x="1219200" y="48387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dirty="0">
                <a:solidFill>
                  <a:srgbClr val="595959"/>
                </a:solidFill>
              </a:rPr>
              <a:t>Rechenlast: </a:t>
            </a:r>
            <a:r>
              <a:rPr lang="de-DE" sz="1200" b="1" dirty="0">
                <a:solidFill>
                  <a:srgbClr val="262626"/>
                </a:solidFill>
              </a:rPr>
              <a:t>short · medium · long</a:t>
            </a:r>
          </a:p>
        </p:txBody>
      </p:sp>
      <p:sp>
        <p:nvSpPr>
          <p:cNvPr id="71" name="Parameter rechts"/>
          <p:cNvSpPr txBox="1"/>
          <p:nvPr/>
        </p:nvSpPr>
        <p:spPr>
          <a:xfrm>
            <a:off x="6959600" y="4838700"/>
            <a:ext cx="431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de-DE" sz="1200" dirty="0">
                <a:solidFill>
                  <a:srgbClr val="595959"/>
                </a:solidFill>
              </a:rPr>
              <a:t>Rechenlast: </a:t>
            </a:r>
            <a:r>
              <a:rPr lang="de-DE" sz="1200" b="1" dirty="0">
                <a:solidFill>
                  <a:srgbClr val="262626"/>
                </a:solidFill>
              </a:rPr>
              <a:t>short · medium · long</a:t>
            </a:r>
          </a:p>
          <a:p>
            <a:pPr algn="ctr"/>
            <a:r>
              <a:rPr lang="de-DE" sz="1200" dirty="0">
                <a:solidFill>
                  <a:srgbClr val="595959"/>
                </a:solidFill>
              </a:rPr>
              <a:t>Teilstücke: </a:t>
            </a:r>
            <a:r>
              <a:rPr lang="de-DE" sz="1200" b="1" dirty="0">
                <a:solidFill>
                  <a:srgbClr val="262626"/>
                </a:solidFill>
              </a:rPr>
              <a:t>1 · 2 · 4</a:t>
            </a:r>
          </a:p>
        </p:txBody>
      </p:sp>
      <p:cxnSp>
        <p:nvCxnSpPr>
          <p:cNvPr id="72" name="Trennlinie"/>
          <p:cNvCxnSpPr/>
          <p:nvPr/>
        </p:nvCxnSpPr>
        <p:spPr>
          <a:xfrm>
            <a:off x="1219200" y="53594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73" name="Kernaussage"/>
          <p:cNvSpPr txBox="1"/>
          <p:nvPr/>
        </p:nvSpPr>
        <p:spPr>
          <a:xfrm>
            <a:off x="1219200" y="55118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Gleiche Rechenlogik in allen fünf Systemen</a:t>
            </a:r>
          </a:p>
        </p:txBody>
      </p:sp>
    </p:spTree>
    <p:extLst>
      <p:ext uri="{BB962C8B-B14F-4D97-AF65-F5344CB8AC3E}">
        <p14:creationId xmlns:p14="http://schemas.microsoft.com/office/powerpoint/2010/main" val="26008773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253A0C3-FEE4-1840-999E-FEEB82FBA188}">
  <we:reference id="wa200010725" version="1.0.0.1" store="de-DE" storeType="OMEX"/>
  <we:alternateReferences>
    <we:reference id="WA200010725" version="1.0.0.1" store="WA200010725" storeType="OMEX"/>
  </we:alternateReferences>
  <we:properties>
    <we:property name="claude.fileId" value="&quot;62595c2e-ee25-41f4-8a18-3e98fd8a962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416</Words>
  <Application>Microsoft Macintosh PowerPoint</Application>
  <PresentationFormat>Breitbild</PresentationFormat>
  <Paragraphs>129</Paragraphs>
  <Slides>8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</vt:lpstr>
      <vt:lpstr>Systematische Betrachtung ausgewählter Workflow-Management-Systeme für HPC-Umgebungen</vt:lpstr>
      <vt:lpstr>Überblick</vt:lpstr>
      <vt:lpstr>Ein wissenschaftlicher Workflow verbindet mehrere Rechenschritte zu einem gemeinsamen Ablauf.</vt:lpstr>
      <vt:lpstr>Warum Workflow-Management-Systeme im HPC?</vt:lpstr>
      <vt:lpstr>Ziel und Forschungsfragen</vt:lpstr>
      <vt:lpstr>Betrachtete Workflow-Management-Systeme</vt:lpstr>
      <vt:lpstr>Zweistufiges Untersuchungsdesign</vt:lpstr>
      <vt:lpstr>Gemeinsame Benchmark-Workflows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Tahiri, Anas</dc:creator>
  <cp:lastModifiedBy>Tahiri, Anas</cp:lastModifiedBy>
  <cp:revision>5</cp:revision>
  <dcterms:created xsi:type="dcterms:W3CDTF">2026-09-02T08:10:57Z</dcterms:created>
  <dcterms:modified xsi:type="dcterms:W3CDTF">2026-09-02T16:15:41Z</dcterms:modified>
</cp:coreProperties>
</file>