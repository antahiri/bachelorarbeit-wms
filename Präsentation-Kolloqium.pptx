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9" r:id="rId2"/>
    <p:sldId id="263" r:id="rId3"/>
    <p:sldId id="267" r:id="rId4"/>
    <p:sldId id="291" r:id="rId5"/>
    <p:sldId id="274" r:id="rId6"/>
    <p:sldId id="276" r:id="rId7"/>
    <p:sldId id="280" r:id="rId8"/>
    <p:sldId id="285" r:id="rId9"/>
    <p:sldId id="290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2"/>
    <p:restoredTop sz="94658"/>
  </p:normalViewPr>
  <p:slideViewPr>
    <p:cSldViewPr snapToGrid="0">
      <p:cViewPr>
        <p:scale>
          <a:sx n="68" d="100"/>
          <a:sy n="68" d="100"/>
        </p:scale>
        <p:origin x="256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992D6B-DA9F-DA49-93CB-1A27F22C3466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4616F-5B70-3840-955D-6DB355250D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05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4616F-5B70-3840-955D-6DB355250D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941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verbindet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4" name="Motivation"/>
          <p:cNvSpPr txBox="1"/>
          <p:nvPr/>
        </p:nvSpPr>
        <p:spPr>
          <a:xfrm>
            <a:off x="1219200" y="520700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dirty="0">
                <a:solidFill>
                  <a:srgbClr val="262626"/>
                </a:solidFill>
              </a:rPr>
              <a:t>Kein einzelnes WMS eignet sich gleichermaßen für alle Workflows und Ausführungsumgebungen.</a:t>
            </a:r>
          </a:p>
        </p:txBody>
      </p:sp>
      <p:sp>
        <p:nvSpPr>
          <p:cNvPr id="23" name="Überleitung"/>
          <p:cNvSpPr txBox="1"/>
          <p:nvPr/>
        </p:nvSpPr>
        <p:spPr>
          <a:xfrm>
            <a:off x="1219200" y="55626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806169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Anwendungskontext,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4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Gemeinsame Benchmark-Workflows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01800"/>
            <a:ext cx="4318000" cy="228600"/>
          </a:xfrm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PIPELINE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Label rechts"/>
          <p:cNvSpPr txBox="1"/>
          <p:nvPr/>
        </p:nvSpPr>
        <p:spPr>
          <a:xfrm>
            <a:off x="6959600" y="17018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300" b="1" spc="150" dirty="0">
                <a:solidFill>
                  <a:srgbClr val="C1002A"/>
                </a:solidFill>
              </a:rPr>
              <a:t>SCATTER-GATHER</a:t>
            </a:r>
          </a:p>
        </p:txBody>
      </p:sp>
      <p:sp>
        <p:nvSpPr>
          <p:cNvPr id="22" name="Node generate_input"/>
          <p:cNvSpPr/>
          <p:nvPr/>
        </p:nvSpPr>
        <p:spPr>
          <a:xfrm>
            <a:off x="26162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sp>
        <p:nvSpPr>
          <p:cNvPr id="23" name="Node preprocess"/>
          <p:cNvSpPr/>
          <p:nvPr/>
        </p:nvSpPr>
        <p:spPr>
          <a:xfrm>
            <a:off x="26162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24" name="Pfeil"/>
          <p:cNvCxnSpPr/>
          <p:nvPr/>
        </p:nvCxnSpPr>
        <p:spPr>
          <a:xfrm>
            <a:off x="33782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5" name="Node compute"/>
          <p:cNvSpPr/>
          <p:nvPr/>
        </p:nvSpPr>
        <p:spPr>
          <a:xfrm>
            <a:off x="26162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</a:p>
        </p:txBody>
      </p:sp>
      <p:cxnSp>
        <p:nvCxnSpPr>
          <p:cNvPr id="26" name="Pfeil"/>
          <p:cNvCxnSpPr/>
          <p:nvPr/>
        </p:nvCxnSpPr>
        <p:spPr>
          <a:xfrm>
            <a:off x="33782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7" name="Node postprocess"/>
          <p:cNvSpPr/>
          <p:nvPr/>
        </p:nvSpPr>
        <p:spPr>
          <a:xfrm>
            <a:off x="2616200" y="33782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cxnSp>
        <p:nvCxnSpPr>
          <p:cNvPr id="28" name="Pfeil"/>
          <p:cNvCxnSpPr/>
          <p:nvPr/>
        </p:nvCxnSpPr>
        <p:spPr>
          <a:xfrm>
            <a:off x="33782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29" name="Node generate_input"/>
          <p:cNvSpPr/>
          <p:nvPr/>
        </p:nvSpPr>
        <p:spPr>
          <a:xfrm>
            <a:off x="8356600" y="2082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generate_input</a:t>
            </a:r>
          </a:p>
        </p:txBody>
      </p:sp>
      <p:cxnSp>
        <p:nvCxnSpPr>
          <p:cNvPr id="30" name="Pfeil"/>
          <p:cNvCxnSpPr/>
          <p:nvPr/>
        </p:nvCxnSpPr>
        <p:spPr>
          <a:xfrm>
            <a:off x="9118600" y="23622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1" name="Node preprocess"/>
          <p:cNvSpPr/>
          <p:nvPr/>
        </p:nvSpPr>
        <p:spPr>
          <a:xfrm>
            <a:off x="8356600" y="25146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preprocess</a:t>
            </a:r>
          </a:p>
        </p:txBody>
      </p:sp>
      <p:cxnSp>
        <p:nvCxnSpPr>
          <p:cNvPr id="32" name="Pfeil"/>
          <p:cNvCxnSpPr/>
          <p:nvPr/>
        </p:nvCxnSpPr>
        <p:spPr>
          <a:xfrm>
            <a:off x="9118600" y="27940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3" name="Node split"/>
          <p:cNvSpPr/>
          <p:nvPr/>
        </p:nvSpPr>
        <p:spPr>
          <a:xfrm>
            <a:off x="8356600" y="29464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split</a:t>
            </a:r>
          </a:p>
        </p:txBody>
      </p:sp>
      <p:sp>
        <p:nvSpPr>
          <p:cNvPr id="34" name="Node compute"/>
          <p:cNvSpPr/>
          <p:nvPr/>
        </p:nvSpPr>
        <p:spPr>
          <a:xfrm>
            <a:off x="70866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1</a:t>
            </a:r>
          </a:p>
        </p:txBody>
      </p:sp>
      <p:cxnSp>
        <p:nvCxnSpPr>
          <p:cNvPr id="35" name="Pfeil"/>
          <p:cNvCxnSpPr/>
          <p:nvPr/>
        </p:nvCxnSpPr>
        <p:spPr>
          <a:xfrm flipH="1">
            <a:off x="76200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6" name="Pfeil"/>
          <p:cNvCxnSpPr/>
          <p:nvPr/>
        </p:nvCxnSpPr>
        <p:spPr>
          <a:xfrm>
            <a:off x="76200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37" name="Node compute"/>
          <p:cNvSpPr/>
          <p:nvPr/>
        </p:nvSpPr>
        <p:spPr>
          <a:xfrm>
            <a:off x="85852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2</a:t>
            </a:r>
          </a:p>
        </p:txBody>
      </p:sp>
      <p:cxnSp>
        <p:nvCxnSpPr>
          <p:cNvPr id="38" name="Pfeil"/>
          <p:cNvCxnSpPr/>
          <p:nvPr/>
        </p:nvCxnSpPr>
        <p:spPr>
          <a:xfrm>
            <a:off x="9118600" y="32258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39" name="Pfeil"/>
          <p:cNvCxnSpPr/>
          <p:nvPr/>
        </p:nvCxnSpPr>
        <p:spPr>
          <a:xfrm>
            <a:off x="9118600" y="36576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0" name="Node compute"/>
          <p:cNvSpPr/>
          <p:nvPr/>
        </p:nvSpPr>
        <p:spPr>
          <a:xfrm>
            <a:off x="10083800" y="3378200"/>
            <a:ext cx="10668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C1002A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C1002A"/>
                </a:solidFill>
              </a:rPr>
              <a:t>compute</a:t>
            </a:r>
            <a:r>
              <a:rPr lang="de-DE" sz="1300" baseline="-25000" dirty="0">
                <a:solidFill>
                  <a:srgbClr val="C1002A"/>
                </a:solidFill>
              </a:rPr>
              <a:t>n</a:t>
            </a:r>
          </a:p>
        </p:txBody>
      </p:sp>
      <p:cxnSp>
        <p:nvCxnSpPr>
          <p:cNvPr id="41" name="Pfeil"/>
          <p:cNvCxnSpPr/>
          <p:nvPr/>
        </p:nvCxnSpPr>
        <p:spPr>
          <a:xfrm>
            <a:off x="9118600" y="32258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cxnSp>
        <p:nvCxnSpPr>
          <p:cNvPr id="42" name="Pfeil"/>
          <p:cNvCxnSpPr/>
          <p:nvPr/>
        </p:nvCxnSpPr>
        <p:spPr>
          <a:xfrm flipH="1">
            <a:off x="9118600" y="3657600"/>
            <a:ext cx="149860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3" name="Ellipsis"/>
          <p:cNvSpPr txBox="1"/>
          <p:nvPr/>
        </p:nvSpPr>
        <p:spPr>
          <a:xfrm>
            <a:off x="9867900" y="3378200"/>
            <a:ext cx="215900" cy="2794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de-DE" sz="1300" dirty="0">
                <a:solidFill>
                  <a:srgbClr val="A6A6A6"/>
                </a:solidFill>
              </a:rPr>
              <a:t>···</a:t>
            </a:r>
          </a:p>
        </p:txBody>
      </p:sp>
      <p:sp>
        <p:nvSpPr>
          <p:cNvPr id="44" name="Node aggregate"/>
          <p:cNvSpPr/>
          <p:nvPr/>
        </p:nvSpPr>
        <p:spPr>
          <a:xfrm>
            <a:off x="8356600" y="38100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aggregate</a:t>
            </a:r>
          </a:p>
        </p:txBody>
      </p:sp>
      <p:cxnSp>
        <p:nvCxnSpPr>
          <p:cNvPr id="45" name="Pfeil"/>
          <p:cNvCxnSpPr/>
          <p:nvPr/>
        </p:nvCxnSpPr>
        <p:spPr>
          <a:xfrm>
            <a:off x="9118600" y="4089400"/>
            <a:ext cx="0" cy="152400"/>
          </a:xfrm>
          <a:prstGeom prst="straightConnector1">
            <a:avLst/>
          </a:prstGeom>
          <a:ln w="9525">
            <a:solidFill>
              <a:srgbClr val="8C8C8C"/>
            </a:solidFill>
            <a:tailEnd type="triangle" w="sm" len="sm"/>
          </a:ln>
        </p:spPr>
      </p:cxnSp>
      <p:sp>
        <p:nvSpPr>
          <p:cNvPr id="46" name="Node postprocess"/>
          <p:cNvSpPr/>
          <p:nvPr/>
        </p:nvSpPr>
        <p:spPr>
          <a:xfrm>
            <a:off x="8356600" y="4241800"/>
            <a:ext cx="1524000" cy="279400"/>
          </a:xfrm>
          <a:prstGeom prst="roundRect">
            <a:avLst>
              <a:gd name="adj" fmla="val 18000"/>
            </a:avLst>
          </a:prstGeom>
          <a:noFill/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de-DE" sz="1300" dirty="0">
                <a:solidFill>
                  <a:srgbClr val="262626"/>
                </a:solidFill>
              </a:rPr>
              <a:t>postprocess</a:t>
            </a:r>
          </a:p>
        </p:txBody>
      </p:sp>
      <p:sp>
        <p:nvSpPr>
          <p:cNvPr id="47" name="Caption links"/>
          <p:cNvSpPr txBox="1"/>
          <p:nvPr/>
        </p:nvSpPr>
        <p:spPr>
          <a:xfrm>
            <a:off x="12192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Sequenzielle Verarbeitung</a:t>
            </a:r>
          </a:p>
        </p:txBody>
      </p:sp>
      <p:sp>
        <p:nvSpPr>
          <p:cNvPr id="48" name="Caption rechts"/>
          <p:cNvSpPr txBox="1"/>
          <p:nvPr/>
        </p:nvSpPr>
        <p:spPr>
          <a:xfrm>
            <a:off x="6959600" y="45974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i="1" dirty="0">
                <a:solidFill>
                  <a:srgbClr val="595959"/>
                </a:solidFill>
              </a:rPr>
              <a:t>Parallele Verarbeitung mit anschließender Zusammenführung</a:t>
            </a:r>
          </a:p>
        </p:txBody>
      </p:sp>
      <p:sp>
        <p:nvSpPr>
          <p:cNvPr id="4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8</a:t>
            </a:r>
          </a:p>
        </p:txBody>
      </p:sp>
      <p:cxnSp>
        <p:nvCxnSpPr>
          <p:cNvPr id="5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6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Parameter links"/>
          <p:cNvSpPr txBox="1"/>
          <p:nvPr/>
        </p:nvSpPr>
        <p:spPr>
          <a:xfrm>
            <a:off x="1219200" y="4838700"/>
            <a:ext cx="4318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 · mittel · lang</a:t>
            </a:r>
          </a:p>
        </p:txBody>
      </p:sp>
      <p:sp>
        <p:nvSpPr>
          <p:cNvPr id="71" name="Parameter rechts"/>
          <p:cNvSpPr txBox="1"/>
          <p:nvPr/>
        </p:nvSpPr>
        <p:spPr>
          <a:xfrm>
            <a:off x="6959600" y="4838700"/>
            <a:ext cx="431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de-DE" sz="1200" dirty="0">
                <a:solidFill>
                  <a:srgbClr val="595959"/>
                </a:solidFill>
              </a:rPr>
              <a:t>Rechenlast: </a:t>
            </a:r>
            <a:r>
              <a:rPr lang="de-DE" sz="1200" b="1" dirty="0">
                <a:solidFill>
                  <a:srgbClr val="262626"/>
                </a:solidFill>
              </a:rPr>
              <a:t>kurz· mittel · lang</a:t>
            </a:r>
          </a:p>
          <a:p>
            <a:pPr algn="ctr"/>
            <a:r>
              <a:rPr lang="de-DE" sz="1200" dirty="0">
                <a:solidFill>
                  <a:srgbClr val="595959"/>
                </a:solidFill>
              </a:rPr>
              <a:t>Teilstücke: </a:t>
            </a:r>
            <a:r>
              <a:rPr lang="de-DE" sz="1200" b="1" dirty="0">
                <a:solidFill>
                  <a:srgbClr val="262626"/>
                </a:solidFill>
              </a:rPr>
              <a:t>1 · 2 · 4</a:t>
            </a:r>
          </a:p>
        </p:txBody>
      </p:sp>
      <p:cxnSp>
        <p:nvCxnSpPr>
          <p:cNvPr id="72" name="Trennlinie"/>
          <p:cNvCxnSpPr/>
          <p:nvPr/>
        </p:nvCxnSpPr>
        <p:spPr>
          <a:xfrm>
            <a:off x="1219200" y="53594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73" name="Kernaussage"/>
          <p:cNvSpPr txBox="1"/>
          <p:nvPr/>
        </p:nvSpPr>
        <p:spPr>
          <a:xfrm>
            <a:off x="1219200" y="5511800"/>
            <a:ext cx="10058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1400" b="1" dirty="0">
                <a:solidFill>
                  <a:srgbClr val="262626"/>
                </a:solidFill>
              </a:rPr>
              <a:t>Gleiche Rechenlogik in allen fünf Systemen</a:t>
            </a:r>
          </a:p>
        </p:txBody>
      </p:sp>
    </p:spTree>
    <p:extLst>
      <p:ext uri="{BB962C8B-B14F-4D97-AF65-F5344CB8AC3E}">
        <p14:creationId xmlns:p14="http://schemas.microsoft.com/office/powerpoint/2010/main" val="2600877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855EF-998F-9ED7-38F1-4399375D9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Messmethodik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1" name="Trenner vertikal"/>
          <p:cNvCxnSpPr/>
          <p:nvPr/>
        </p:nvCxnSpPr>
        <p:spPr>
          <a:xfrm>
            <a:off x="6248400" y="1778000"/>
            <a:ext cx="0" cy="408940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2" name="Trenner horizontal"/>
          <p:cNvCxnSpPr/>
          <p:nvPr/>
        </p:nvCxnSpPr>
        <p:spPr>
          <a:xfrm>
            <a:off x="1219200" y="3835400"/>
            <a:ext cx="100584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23" name="Überschrift WORKFLOW-MAKESPAN"/>
          <p:cNvSpPr txBox="1"/>
          <p:nvPr/>
        </p:nvSpPr>
        <p:spPr>
          <a:xfrm>
            <a:off x="1219200" y="1752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WORKFLOW-MAKESPAN</a:t>
            </a:r>
          </a:p>
        </p:txBody>
      </p:sp>
      <p:cxnSp>
        <p:nvCxnSpPr>
          <p:cNvPr id="24" name="Zeitachse"/>
          <p:cNvCxnSpPr/>
          <p:nvPr/>
        </p:nvCxnSpPr>
        <p:spPr>
          <a:xfrm>
            <a:off x="1270000" y="2794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25" name="Makespan Balken"/>
          <p:cNvSpPr/>
          <p:nvPr/>
        </p:nvSpPr>
        <p:spPr>
          <a:xfrm>
            <a:off x="1422400" y="2616200"/>
            <a:ext cx="41656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29" name="Tick"/>
          <p:cNvCxnSpPr/>
          <p:nvPr/>
        </p:nvCxnSpPr>
        <p:spPr>
          <a:xfrm>
            <a:off x="1422400" y="2489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0" name="Tick"/>
          <p:cNvCxnSpPr/>
          <p:nvPr/>
        </p:nvCxnSpPr>
        <p:spPr>
          <a:xfrm>
            <a:off x="5588000" y="2489200"/>
            <a:ext cx="0" cy="5334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31" name="Messspanne Makespan"/>
          <p:cNvCxnSpPr/>
          <p:nvPr/>
        </p:nvCxnSpPr>
        <p:spPr>
          <a:xfrm>
            <a:off x="1422400" y="2971800"/>
            <a:ext cx="4165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32" name="Label Makespan"/>
          <p:cNvSpPr txBox="1"/>
          <p:nvPr/>
        </p:nvSpPr>
        <p:spPr>
          <a:xfrm>
            <a:off x="2679700" y="30353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Makespan</a:t>
            </a:r>
          </a:p>
        </p:txBody>
      </p:sp>
      <p:sp>
        <p:nvSpPr>
          <p:cNvPr id="33" name="Stichpunkte"/>
          <p:cNvSpPr txBox="1"/>
          <p:nvPr/>
        </p:nvSpPr>
        <p:spPr>
          <a:xfrm>
            <a:off x="1219200" y="3302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Gesamtlaufzeit des Workflows</a:t>
            </a:r>
          </a:p>
        </p:txBody>
      </p:sp>
      <p:sp>
        <p:nvSpPr>
          <p:cNvPr id="34" name="Überschrift WMS-OVERHEAD"/>
          <p:cNvSpPr txBox="1"/>
          <p:nvPr/>
        </p:nvSpPr>
        <p:spPr>
          <a:xfrm>
            <a:off x="6654800" y="17526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WMS-OVERHEAD</a:t>
            </a:r>
          </a:p>
        </p:txBody>
      </p:sp>
      <p:cxnSp>
        <p:nvCxnSpPr>
          <p:cNvPr id="35" name="Zeitachse"/>
          <p:cNvCxnSpPr/>
          <p:nvPr/>
        </p:nvCxnSpPr>
        <p:spPr>
          <a:xfrm>
            <a:off x="6705600" y="27940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36" name="Zeile Referenz"/>
          <p:cNvSpPr txBox="1"/>
          <p:nvPr/>
        </p:nvSpPr>
        <p:spPr>
          <a:xfrm>
            <a:off x="6654800" y="22860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ohne WMS</a:t>
            </a:r>
          </a:p>
        </p:txBody>
      </p:sp>
      <p:sp>
        <p:nvSpPr>
          <p:cNvPr id="37" name="Zeile WMS"/>
          <p:cNvSpPr txBox="1"/>
          <p:nvPr/>
        </p:nvSpPr>
        <p:spPr>
          <a:xfrm>
            <a:off x="6654800" y="2616200"/>
            <a:ext cx="965200" cy="1778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mit WMS</a:t>
            </a:r>
          </a:p>
        </p:txBody>
      </p:sp>
      <p:sp>
        <p:nvSpPr>
          <p:cNvPr id="38" name="Referenz Schritt"/>
          <p:cNvSpPr/>
          <p:nvPr/>
        </p:nvSpPr>
        <p:spPr>
          <a:xfrm>
            <a:off x="7696200" y="2286000"/>
            <a:ext cx="2120900" cy="17780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42" name="WMS Schritt"/>
          <p:cNvSpPr/>
          <p:nvPr/>
        </p:nvSpPr>
        <p:spPr>
          <a:xfrm>
            <a:off x="7696200" y="2616200"/>
            <a:ext cx="26797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cxnSp>
        <p:nvCxnSpPr>
          <p:cNvPr id="46" name="Tick"/>
          <p:cNvCxnSpPr/>
          <p:nvPr/>
        </p:nvCxnSpPr>
        <p:spPr>
          <a:xfrm>
            <a:off x="9817100" y="2209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7" name="Tick"/>
          <p:cNvCxnSpPr/>
          <p:nvPr/>
        </p:nvCxnSpPr>
        <p:spPr>
          <a:xfrm>
            <a:off x="10375900" y="2209800"/>
            <a:ext cx="0" cy="8128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48" name="Messspanne Overhead"/>
          <p:cNvCxnSpPr/>
          <p:nvPr/>
        </p:nvCxnSpPr>
        <p:spPr>
          <a:xfrm>
            <a:off x="9817100" y="2971800"/>
            <a:ext cx="5588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49" name="Label Overhead"/>
          <p:cNvSpPr txBox="1"/>
          <p:nvPr/>
        </p:nvSpPr>
        <p:spPr>
          <a:xfrm>
            <a:off x="9461500" y="3035300"/>
            <a:ext cx="1270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Overhead</a:t>
            </a:r>
          </a:p>
        </p:txBody>
      </p:sp>
      <p:sp>
        <p:nvSpPr>
          <p:cNvPr id="50" name="Stichpunkte"/>
          <p:cNvSpPr txBox="1"/>
          <p:nvPr/>
        </p:nvSpPr>
        <p:spPr>
          <a:xfrm>
            <a:off x="6654800" y="33020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Vergleich mit Referenz ohne WMS</a:t>
            </a:r>
          </a:p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Zusätzliche Laufzeit durch WMS-Ausführung</a:t>
            </a:r>
          </a:p>
        </p:txBody>
      </p:sp>
      <p:sp>
        <p:nvSpPr>
          <p:cNvPr id="51" name="Überschrift ÜBERGANGSLATENZ"/>
          <p:cNvSpPr txBox="1"/>
          <p:nvPr/>
        </p:nvSpPr>
        <p:spPr>
          <a:xfrm>
            <a:off x="1219200" y="39878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ÜBERGANGSLATENZ</a:t>
            </a:r>
          </a:p>
        </p:txBody>
      </p:sp>
      <p:cxnSp>
        <p:nvCxnSpPr>
          <p:cNvPr id="52" name="Zeitachse"/>
          <p:cNvCxnSpPr/>
          <p:nvPr/>
        </p:nvCxnSpPr>
        <p:spPr>
          <a:xfrm>
            <a:off x="1270000" y="50292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53" name="Schritt A"/>
          <p:cNvSpPr/>
          <p:nvPr/>
        </p:nvSpPr>
        <p:spPr>
          <a:xfrm>
            <a:off x="1905000" y="48514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" name="Schritt B"/>
          <p:cNvSpPr/>
          <p:nvPr/>
        </p:nvSpPr>
        <p:spPr>
          <a:xfrm>
            <a:off x="3835400" y="4851400"/>
            <a:ext cx="1397000" cy="177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de-DE" sz="1200" b="1" dirty="0">
                <a:solidFill>
                  <a:srgbClr val="FFFFFF"/>
                </a:solidFill>
              </a:rPr>
              <a:t>B</a:t>
            </a:r>
          </a:p>
        </p:txBody>
      </p:sp>
      <p:cxnSp>
        <p:nvCxnSpPr>
          <p:cNvPr id="55" name="Tick"/>
          <p:cNvCxnSpPr/>
          <p:nvPr/>
        </p:nvCxnSpPr>
        <p:spPr>
          <a:xfrm>
            <a:off x="3302000" y="47752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6" name="Tick"/>
          <p:cNvCxnSpPr/>
          <p:nvPr/>
        </p:nvCxnSpPr>
        <p:spPr>
          <a:xfrm>
            <a:off x="3835400" y="4775200"/>
            <a:ext cx="0" cy="4826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57" name="Messspanne Übergangslatenz"/>
          <p:cNvCxnSpPr/>
          <p:nvPr/>
        </p:nvCxnSpPr>
        <p:spPr>
          <a:xfrm>
            <a:off x="3302000" y="5207000"/>
            <a:ext cx="5334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58" name="Label Übergangslatenz"/>
          <p:cNvSpPr txBox="1"/>
          <p:nvPr/>
        </p:nvSpPr>
        <p:spPr>
          <a:xfrm>
            <a:off x="2743200" y="5270500"/>
            <a:ext cx="1651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Übergangslatenz</a:t>
            </a:r>
          </a:p>
        </p:txBody>
      </p:sp>
      <p:sp>
        <p:nvSpPr>
          <p:cNvPr id="59" name="Stichpunkte"/>
          <p:cNvSpPr txBox="1"/>
          <p:nvPr/>
        </p:nvSpPr>
        <p:spPr>
          <a:xfrm>
            <a:off x="1219200" y="55372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Ende eines Schritts → Start des nächsten</a:t>
            </a:r>
          </a:p>
        </p:txBody>
      </p:sp>
      <p:sp>
        <p:nvSpPr>
          <p:cNvPr id="60" name="Überschrift STARTSPREIZUNG"/>
          <p:cNvSpPr txBox="1"/>
          <p:nvPr/>
        </p:nvSpPr>
        <p:spPr>
          <a:xfrm>
            <a:off x="6654800" y="3987800"/>
            <a:ext cx="46228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200" b="1" spc="150" dirty="0">
                <a:solidFill>
                  <a:srgbClr val="C1002A"/>
                </a:solidFill>
              </a:rPr>
              <a:t>STARTSPREIZUNG</a:t>
            </a:r>
          </a:p>
        </p:txBody>
      </p:sp>
      <p:cxnSp>
        <p:nvCxnSpPr>
          <p:cNvPr id="61" name="Zeitachse"/>
          <p:cNvCxnSpPr/>
          <p:nvPr/>
        </p:nvCxnSpPr>
        <p:spPr>
          <a:xfrm>
            <a:off x="6705600" y="5029200"/>
            <a:ext cx="4470400" cy="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sp>
        <p:nvSpPr>
          <p:cNvPr id="62" name="compute 1"/>
          <p:cNvSpPr/>
          <p:nvPr/>
        </p:nvSpPr>
        <p:spPr>
          <a:xfrm>
            <a:off x="7772400" y="44323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3" name="compute 2"/>
          <p:cNvSpPr/>
          <p:nvPr/>
        </p:nvSpPr>
        <p:spPr>
          <a:xfrm>
            <a:off x="7975600" y="45847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4" name="compute 3"/>
          <p:cNvSpPr/>
          <p:nvPr/>
        </p:nvSpPr>
        <p:spPr>
          <a:xfrm>
            <a:off x="8178800" y="47371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5" name="compute 4"/>
          <p:cNvSpPr/>
          <p:nvPr/>
        </p:nvSpPr>
        <p:spPr>
          <a:xfrm>
            <a:off x="8382000" y="4889500"/>
            <a:ext cx="2032000" cy="1143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endParaRPr lang="de-DE"/>
          </a:p>
        </p:txBody>
      </p:sp>
      <p:sp>
        <p:nvSpPr>
          <p:cNvPr id="66" name="Instanzen Label"/>
          <p:cNvSpPr txBox="1"/>
          <p:nvPr/>
        </p:nvSpPr>
        <p:spPr>
          <a:xfrm>
            <a:off x="6654800" y="4432300"/>
            <a:ext cx="1016000" cy="571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compute</a:t>
            </a:r>
            <a:r>
              <a:rPr lang="de-DE" sz="1100" baseline="-25000" dirty="0">
                <a:solidFill>
                  <a:srgbClr val="595959"/>
                </a:solidFill>
              </a:rPr>
              <a:t>1–4</a:t>
            </a:r>
          </a:p>
        </p:txBody>
      </p:sp>
      <p:cxnSp>
        <p:nvCxnSpPr>
          <p:cNvPr id="67" name="Tick"/>
          <p:cNvCxnSpPr/>
          <p:nvPr/>
        </p:nvCxnSpPr>
        <p:spPr>
          <a:xfrm>
            <a:off x="7772400" y="43561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8" name="Tick"/>
          <p:cNvCxnSpPr/>
          <p:nvPr/>
        </p:nvCxnSpPr>
        <p:spPr>
          <a:xfrm>
            <a:off x="8382000" y="4356100"/>
            <a:ext cx="0" cy="901700"/>
          </a:xfrm>
          <a:prstGeom prst="straightConnector1">
            <a:avLst/>
          </a:prstGeom>
          <a:ln w="6350">
            <a:solidFill>
              <a:srgbClr val="C1002A"/>
            </a:solidFill>
            <a:prstDash val="dash"/>
          </a:ln>
        </p:spPr>
      </p:cxnSp>
      <p:cxnSp>
        <p:nvCxnSpPr>
          <p:cNvPr id="69" name="Messspanne Startspreizung"/>
          <p:cNvCxnSpPr/>
          <p:nvPr/>
        </p:nvCxnSpPr>
        <p:spPr>
          <a:xfrm>
            <a:off x="7772400" y="5207000"/>
            <a:ext cx="609600" cy="0"/>
          </a:xfrm>
          <a:prstGeom prst="straightConnector1">
            <a:avLst/>
          </a:prstGeom>
          <a:ln w="12700">
            <a:solidFill>
              <a:srgbClr val="C1002A"/>
            </a:solidFill>
            <a:headEnd type="triangle" w="sm" len="sm"/>
            <a:tailEnd type="triangle" w="sm" len="sm"/>
          </a:ln>
        </p:spPr>
      </p:cxnSp>
      <p:sp>
        <p:nvSpPr>
          <p:cNvPr id="70" name="Label Startspreizung"/>
          <p:cNvSpPr txBox="1"/>
          <p:nvPr/>
        </p:nvSpPr>
        <p:spPr>
          <a:xfrm>
            <a:off x="7315200" y="5270500"/>
            <a:ext cx="1524000" cy="1778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200" b="1" dirty="0">
                <a:solidFill>
                  <a:srgbClr val="C1002A"/>
                </a:solidFill>
              </a:rPr>
              <a:t>Startspreizung</a:t>
            </a:r>
          </a:p>
        </p:txBody>
      </p:sp>
      <p:sp>
        <p:nvSpPr>
          <p:cNvPr id="71" name="Stichpunkte"/>
          <p:cNvSpPr txBox="1"/>
          <p:nvPr/>
        </p:nvSpPr>
        <p:spPr>
          <a:xfrm>
            <a:off x="6654800" y="5537200"/>
            <a:ext cx="4622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7800" indent="-177800" algn="l">
              <a:spcAft>
                <a:spcPts val="3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300" dirty="0">
                <a:solidFill>
                  <a:srgbClr val="262626"/>
                </a:solidFill>
              </a:rPr>
              <a:t>Erster → letzter Start paralleler Instanzen</a:t>
            </a:r>
          </a:p>
        </p:txBody>
      </p:sp>
      <p:sp>
        <p:nvSpPr>
          <p:cNvPr id="3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9</a:t>
            </a:r>
          </a:p>
        </p:txBody>
      </p:sp>
      <p:cxnSp>
        <p:nvCxnSpPr>
          <p:cNvPr id="4" name="Fortschritt Linie"/>
          <p:cNvCxnSpPr/>
          <p:nvPr/>
        </p:nvCxnSpPr>
        <p:spPr>
          <a:xfrm>
            <a:off x="1219200" y="6172200"/>
            <a:ext cx="5080000" cy="0"/>
          </a:xfrm>
          <a:prstGeom prst="straightConnector1">
            <a:avLst/>
          </a:prstGeom>
          <a:ln w="6350">
            <a:solidFill>
              <a:srgbClr val="D9D9D9"/>
            </a:solidFill>
          </a:ln>
        </p:spPr>
      </p:cxnSp>
      <p:sp>
        <p:nvSpPr>
          <p:cNvPr id="5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7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8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9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0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11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2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13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14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180" name="Label Workflow-Start"/>
          <p:cNvSpPr txBox="1"/>
          <p:nvPr/>
        </p:nvSpPr>
        <p:spPr>
          <a:xfrm>
            <a:off x="1422400" y="2286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l"/>
            <a:r>
              <a:rPr lang="de-DE" sz="1100" dirty="0">
                <a:solidFill>
                  <a:srgbClr val="595959"/>
                </a:solidFill>
              </a:rPr>
              <a:t>Workflow-Start</a:t>
            </a:r>
          </a:p>
        </p:txBody>
      </p:sp>
      <p:sp>
        <p:nvSpPr>
          <p:cNvPr id="181" name="Label Workflow-Ende"/>
          <p:cNvSpPr txBox="1"/>
          <p:nvPr/>
        </p:nvSpPr>
        <p:spPr>
          <a:xfrm>
            <a:off x="4445000" y="2286000"/>
            <a:ext cx="1143000" cy="177800"/>
          </a:xfrm>
          <a:prstGeom prst="rect">
            <a:avLst/>
          </a:prstGeom>
          <a:noFill/>
        </p:spPr>
        <p:txBody>
          <a:bodyPr wrap="none" lIns="0" tIns="0" rIns="0" bIns="0" anchor="b"/>
          <a:lstStyle/>
          <a:p>
            <a:pPr algn="r"/>
            <a:r>
              <a:rPr lang="de-DE" sz="1100" dirty="0">
                <a:solidFill>
                  <a:srgbClr val="595959"/>
                </a:solidFill>
              </a:rPr>
              <a:t>Workflow-Ende</a:t>
            </a:r>
          </a:p>
        </p:txBody>
      </p:sp>
    </p:spTree>
    <p:extLst>
      <p:ext uri="{BB962C8B-B14F-4D97-AF65-F5344CB8AC3E}">
        <p14:creationId xmlns:p14="http://schemas.microsoft.com/office/powerpoint/2010/main" val="985474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</Words>
  <Application>Microsoft Macintosh PowerPoint</Application>
  <PresentationFormat>Breitbild</PresentationFormat>
  <Paragraphs>157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Gemeinsame Benchmark-Workflows</vt:lpstr>
      <vt:lpstr>Messmethodik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8</cp:revision>
  <dcterms:created xsi:type="dcterms:W3CDTF">2026-09-02T08:10:57Z</dcterms:created>
  <dcterms:modified xsi:type="dcterms:W3CDTF">2026-09-03T08:00:56Z</dcterms:modified>
</cp:coreProperties>
</file>