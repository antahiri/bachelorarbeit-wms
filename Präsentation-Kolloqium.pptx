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9" r:id="rId2"/>
    <p:sldId id="263" r:id="rId3"/>
    <p:sldId id="267" r:id="rId4"/>
    <p:sldId id="291" r:id="rId5"/>
    <p:sldId id="274" r:id="rId6"/>
    <p:sldId id="276" r:id="rId7"/>
    <p:sldId id="280" r:id="rId8"/>
    <p:sldId id="285" r:id="rId9"/>
    <p:sldId id="296" r:id="rId10"/>
    <p:sldId id="300" r:id="rId11"/>
    <p:sldId id="303" r:id="rId12"/>
    <p:sldId id="306" r:id="rId13"/>
    <p:sldId id="308" r:id="rId14"/>
    <p:sldId id="321" r:id="rId15"/>
    <p:sldId id="322" r:id="rId16"/>
    <p:sldId id="325" r:id="rId17"/>
    <p:sldId id="331" r:id="rId18"/>
    <p:sldId id="333" r:id="rId19"/>
    <p:sldId id="335" r:id="rId20"/>
    <p:sldId id="337" r:id="rId21"/>
    <p:sldId id="339" r:id="rId22"/>
    <p:sldId id="313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99"/>
    <p:restoredTop sz="94315"/>
  </p:normalViewPr>
  <p:slideViewPr>
    <p:cSldViewPr snapToGrid="0">
      <p:cViewPr>
        <p:scale>
          <a:sx n="75" d="100"/>
          <a:sy n="75" d="100"/>
        </p:scale>
        <p:origin x="-64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1218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verbindet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4" name="Motivation"/>
          <p:cNvSpPr txBox="1"/>
          <p:nvPr/>
        </p:nvSpPr>
        <p:spPr>
          <a:xfrm>
            <a:off x="1219200" y="52070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Kein einzelnes WMS eignet sich gleichermaßen für alle Workflows und Ausführungsumgebungen.</a:t>
            </a:r>
          </a:p>
        </p:txBody>
      </p:sp>
      <p:sp>
        <p:nvSpPr>
          <p:cNvPr id="23" name="Überleitung"/>
          <p:cNvSpPr txBox="1"/>
          <p:nvPr/>
        </p:nvSpPr>
        <p:spPr>
          <a:xfrm>
            <a:off x="1219200" y="55626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061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39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3E33774-80CE-598E-9215-58D1F38F7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039" y="1803400"/>
            <a:ext cx="1016000" cy="1016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AE676D52-19CF-8D62-9EE2-58154F08E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720" y="1803400"/>
            <a:ext cx="1016000" cy="1016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DAE37E44-F187-07E0-8E86-D34141458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2080" y="1803400"/>
            <a:ext cx="1016000" cy="1016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BB86D7B3-0AAD-B032-FEDE-AB51B4F394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565" y="1803400"/>
            <a:ext cx="847668" cy="1016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EE2CFA3-5394-B97C-1E6A-B85624307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3760" y="1803400"/>
            <a:ext cx="1016000" cy="1016000"/>
          </a:xfrm>
          <a:prstGeom prst="rect">
            <a:avLst/>
          </a:prstGeom>
        </p:spPr>
      </p:pic>
      <p:sp>
        <p:nvSpPr>
          <p:cNvPr id="35" name="Hinweis Logoquellen">
            <a:extLst>
              <a:ext uri="{FF2B5EF4-FFF2-40B4-BE49-F238E27FC236}">
                <a16:creationId xmlns:a16="http://schemas.microsoft.com/office/drawing/2014/main" id="{0F13586A-123C-614B-94EE-A2E96AA06623}"/>
              </a:ext>
            </a:extLst>
          </p:cNvPr>
          <p:cNvSpPr txBox="1"/>
          <p:nvPr/>
        </p:nvSpPr>
        <p:spPr>
          <a:xfrm>
            <a:off x="1219200" y="5588000"/>
            <a:ext cx="381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de-DE" sz="900">
                <a:solidFill>
                  <a:srgbClr val="8C8C8C"/>
                </a:solidFill>
              </a:rPr>
              <a:t>Logoquellen: siehe Quellenverzeichnis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524000"/>
            <a:ext cx="0" cy="39370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5433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362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717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2781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032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362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032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362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717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2781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48768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4940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102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254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4069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559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1021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48768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49403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  <p:sp>
        <p:nvSpPr>
          <p:cNvPr id="190" name="Methodische Fußzeile"/>
          <p:cNvSpPr txBox="1"/>
          <p:nvPr/>
        </p:nvSpPr>
        <p:spPr>
          <a:xfrm>
            <a:off x="1219200" y="55245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Instrumentierung: Start-/Endzeitstempel in den Payload-Skripten</a:t>
            </a:r>
          </a:p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Wiederholungen: kurz 5× · mittel 5× · lang 3×</a:t>
            </a:r>
          </a:p>
        </p:txBody>
      </p:sp>
    </p:spTree>
    <p:extLst>
      <p:ext uri="{BB962C8B-B14F-4D97-AF65-F5344CB8AC3E}">
        <p14:creationId xmlns:p14="http://schemas.microsoft.com/office/powerpoint/2010/main" val="436942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93EF6-ED28-1BFF-E834-94265AA79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r>
              <a:rPr lang="de-DE" sz="2600" b="1" dirty="0">
                <a:solidFill>
                  <a:srgbClr val="262626"/>
                </a:solidFill>
              </a:rPr>
              <a:t>Modellierung des </a:t>
            </a:r>
            <a:r>
              <a:rPr lang="de-DE" sz="2600" b="1" dirty="0" err="1">
                <a:solidFill>
                  <a:srgbClr val="262626"/>
                </a:solidFill>
              </a:rPr>
              <a:t>Scatter</a:t>
            </a:r>
            <a:r>
              <a:rPr lang="de-DE" sz="2600" b="1" dirty="0">
                <a:solidFill>
                  <a:srgbClr val="262626"/>
                </a:solidFill>
              </a:rPr>
              <a:t>-Gather-Musters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split"/>
          <p:cNvSpPr/>
          <p:nvPr/>
        </p:nvSpPr>
        <p:spPr>
          <a:xfrm>
            <a:off x="3708400" y="2260600"/>
            <a:ext cx="1143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21" name="aggregate"/>
          <p:cNvSpPr/>
          <p:nvPr/>
        </p:nvSpPr>
        <p:spPr>
          <a:xfrm>
            <a:off x="7518400" y="2260600"/>
            <a:ext cx="1270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aggregate</a:t>
            </a:r>
          </a:p>
        </p:txBody>
      </p:sp>
      <p:sp>
        <p:nvSpPr>
          <p:cNvPr id="22" name="compute"/>
          <p:cNvSpPr/>
          <p:nvPr/>
        </p:nvSpPr>
        <p:spPr>
          <a:xfrm>
            <a:off x="5676900" y="18796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1</a:t>
            </a:r>
          </a:p>
        </p:txBody>
      </p:sp>
      <p:sp>
        <p:nvSpPr>
          <p:cNvPr id="23" name="compute"/>
          <p:cNvSpPr/>
          <p:nvPr/>
        </p:nvSpPr>
        <p:spPr>
          <a:xfrm>
            <a:off x="5676900" y="21590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2</a:t>
            </a:r>
          </a:p>
        </p:txBody>
      </p:sp>
      <p:sp>
        <p:nvSpPr>
          <p:cNvPr id="24" name="compute"/>
          <p:cNvSpPr/>
          <p:nvPr/>
        </p:nvSpPr>
        <p:spPr>
          <a:xfrm>
            <a:off x="5676900" y="26924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n</a:t>
            </a:r>
          </a:p>
        </p:txBody>
      </p:sp>
      <p:sp>
        <p:nvSpPr>
          <p:cNvPr id="25" name="Punkte"/>
          <p:cNvSpPr txBox="1"/>
          <p:nvPr/>
        </p:nvSpPr>
        <p:spPr>
          <a:xfrm>
            <a:off x="5676900" y="24130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···</a:t>
            </a:r>
          </a:p>
        </p:txBody>
      </p:sp>
      <p:cxnSp>
        <p:nvCxnSpPr>
          <p:cNvPr id="26" name="Fan-out"/>
          <p:cNvCxnSpPr/>
          <p:nvPr/>
        </p:nvCxnSpPr>
        <p:spPr>
          <a:xfrm flipV="1">
            <a:off x="4851400" y="19939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7" name="Fan-in"/>
          <p:cNvCxnSpPr/>
          <p:nvPr/>
        </p:nvCxnSpPr>
        <p:spPr>
          <a:xfrm>
            <a:off x="6946900" y="19939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8" name="Fan-out"/>
          <p:cNvCxnSpPr/>
          <p:nvPr/>
        </p:nvCxnSpPr>
        <p:spPr>
          <a:xfrm flipV="1">
            <a:off x="4851400" y="2273300"/>
            <a:ext cx="825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9" name="Fan-in"/>
          <p:cNvCxnSpPr/>
          <p:nvPr/>
        </p:nvCxnSpPr>
        <p:spPr>
          <a:xfrm>
            <a:off x="6946900" y="2273300"/>
            <a:ext cx="571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0" name="Fan-out"/>
          <p:cNvCxnSpPr/>
          <p:nvPr/>
        </p:nvCxnSpPr>
        <p:spPr>
          <a:xfrm>
            <a:off x="4851400" y="24003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1" name="Fan-in"/>
          <p:cNvCxnSpPr/>
          <p:nvPr/>
        </p:nvCxnSpPr>
        <p:spPr>
          <a:xfrm flipV="1">
            <a:off x="6946900" y="24003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Diagramm Label"/>
          <p:cNvSpPr txBox="1"/>
          <p:nvPr/>
        </p:nvSpPr>
        <p:spPr>
          <a:xfrm>
            <a:off x="1219200" y="1651000"/>
            <a:ext cx="508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SCATTER-GATHER-AUSSCHNITT</a:t>
            </a:r>
          </a:p>
        </p:txBody>
      </p:sp>
      <p:sp>
        <p:nvSpPr>
          <p:cNvPr id="33" name="Abschnitt"/>
          <p:cNvSpPr txBox="1"/>
          <p:nvPr/>
        </p:nvSpPr>
        <p:spPr>
          <a:xfrm>
            <a:off x="1219200" y="3098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PARALLELISIERUNG UND ZUSAMMENFÜHRUNG JE SYSTEM</a:t>
            </a:r>
          </a:p>
        </p:txBody>
      </p:sp>
      <p:cxnSp>
        <p:nvCxnSpPr>
          <p:cNvPr id="54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5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Mechanismen für Parallelisierung und Zusammenführung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10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56" name="Marke Nextflow"/>
          <p:cNvSpPr/>
          <p:nvPr/>
        </p:nvSpPr>
        <p:spPr>
          <a:xfrm>
            <a:off x="121920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Nextflow"/>
          <p:cNvSpPr txBox="1"/>
          <p:nvPr/>
        </p:nvSpPr>
        <p:spPr>
          <a:xfrm>
            <a:off x="121920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58" name="Label Parallelisierung Nextflow"/>
          <p:cNvSpPr txBox="1"/>
          <p:nvPr/>
        </p:nvSpPr>
        <p:spPr>
          <a:xfrm>
            <a:off x="121920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59" name="Parallelisierung Nextflow"/>
          <p:cNvSpPr txBox="1"/>
          <p:nvPr/>
        </p:nvSpPr>
        <p:spPr>
          <a:xfrm>
            <a:off x="121920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Teilstücke über </a:t>
            </a:r>
            <a:r>
              <a:rPr lang="de-DE" sz="1200" b="1" dirty="0">
                <a:solidFill>
                  <a:srgbClr val="262626"/>
                </a:solidFill>
              </a:rPr>
              <a:t>flatten</a:t>
            </a:r>
          </a:p>
        </p:txBody>
      </p:sp>
      <p:sp>
        <p:nvSpPr>
          <p:cNvPr id="60" name="Label Zusammenführung Nextflow"/>
          <p:cNvSpPr txBox="1"/>
          <p:nvPr/>
        </p:nvSpPr>
        <p:spPr>
          <a:xfrm>
            <a:off x="121920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1" name="Zusammenführung Nextflow"/>
          <p:cNvSpPr txBox="1"/>
          <p:nvPr/>
        </p:nvSpPr>
        <p:spPr>
          <a:xfrm>
            <a:off x="121920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Ergebnisse über </a:t>
            </a:r>
            <a:r>
              <a:rPr lang="de-DE" sz="1200" b="1" dirty="0">
                <a:solidFill>
                  <a:srgbClr val="262626"/>
                </a:solidFill>
              </a:rPr>
              <a:t>collect</a:t>
            </a:r>
          </a:p>
        </p:txBody>
      </p:sp>
      <p:sp>
        <p:nvSpPr>
          <p:cNvPr id="62" name="Marke StreamFlow"/>
          <p:cNvSpPr/>
          <p:nvPr/>
        </p:nvSpPr>
        <p:spPr>
          <a:xfrm>
            <a:off x="323088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3" name="System StreamFlow"/>
          <p:cNvSpPr txBox="1"/>
          <p:nvPr/>
        </p:nvSpPr>
        <p:spPr>
          <a:xfrm>
            <a:off x="323088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64" name="Label Parallelisierung StreamFlow"/>
          <p:cNvSpPr txBox="1"/>
          <p:nvPr/>
        </p:nvSpPr>
        <p:spPr>
          <a:xfrm>
            <a:off x="323088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65" name="Parallelisierung StreamFlow"/>
          <p:cNvSpPr txBox="1"/>
          <p:nvPr/>
        </p:nvSpPr>
        <p:spPr>
          <a:xfrm>
            <a:off x="323088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CWL </a:t>
            </a:r>
            <a:r>
              <a:rPr lang="de-DE" sz="1200" b="1" dirty="0">
                <a:solidFill>
                  <a:srgbClr val="262626"/>
                </a:solidFill>
              </a:rPr>
              <a:t>scatter</a:t>
            </a:r>
          </a:p>
        </p:txBody>
      </p:sp>
      <p:sp>
        <p:nvSpPr>
          <p:cNvPr id="66" name="Label Zusammenführung StreamFlow"/>
          <p:cNvSpPr txBox="1"/>
          <p:nvPr/>
        </p:nvSpPr>
        <p:spPr>
          <a:xfrm>
            <a:off x="323088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7" name="Zusammenführung StreamFlow"/>
          <p:cNvSpPr txBox="1"/>
          <p:nvPr/>
        </p:nvSpPr>
        <p:spPr>
          <a:xfrm>
            <a:off x="323088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nach allen Ergebnissen</a:t>
            </a:r>
          </a:p>
        </p:txBody>
      </p:sp>
      <p:sp>
        <p:nvSpPr>
          <p:cNvPr id="68" name="Marke Merlin"/>
          <p:cNvSpPr/>
          <p:nvPr/>
        </p:nvSpPr>
        <p:spPr>
          <a:xfrm>
            <a:off x="524256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9" name="System Merlin"/>
          <p:cNvSpPr txBox="1"/>
          <p:nvPr/>
        </p:nvSpPr>
        <p:spPr>
          <a:xfrm>
            <a:off x="524256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70" name="Label Parallelisierung Merlin"/>
          <p:cNvSpPr txBox="1"/>
          <p:nvPr/>
        </p:nvSpPr>
        <p:spPr>
          <a:xfrm>
            <a:off x="524256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1" name="Parallelisierung Merlin"/>
          <p:cNvSpPr txBox="1"/>
          <p:nvPr/>
        </p:nvSpPr>
        <p:spPr>
          <a:xfrm>
            <a:off x="524256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Vervielfachung über </a:t>
            </a:r>
            <a:r>
              <a:rPr lang="de-DE" sz="1200" b="1" dirty="0">
                <a:solidFill>
                  <a:srgbClr val="262626"/>
                </a:solidFill>
              </a:rPr>
              <a:t>CHUNK</a:t>
            </a:r>
          </a:p>
        </p:txBody>
      </p:sp>
      <p:sp>
        <p:nvSpPr>
          <p:cNvPr id="72" name="Label Zusammenführung Merlin"/>
          <p:cNvSpPr txBox="1"/>
          <p:nvPr/>
        </p:nvSpPr>
        <p:spPr>
          <a:xfrm>
            <a:off x="524256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3" name="Zusammenführung Merlin"/>
          <p:cNvSpPr txBox="1"/>
          <p:nvPr/>
        </p:nvSpPr>
        <p:spPr>
          <a:xfrm>
            <a:off x="524256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Abhängigkeit von allen Compute-Instanzen</a:t>
            </a:r>
          </a:p>
        </p:txBody>
      </p:sp>
      <p:sp>
        <p:nvSpPr>
          <p:cNvPr id="74" name="Marke Pegasus"/>
          <p:cNvSpPr/>
          <p:nvPr/>
        </p:nvSpPr>
        <p:spPr>
          <a:xfrm>
            <a:off x="725424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5" name="System Pegasus"/>
          <p:cNvSpPr txBox="1"/>
          <p:nvPr/>
        </p:nvSpPr>
        <p:spPr>
          <a:xfrm>
            <a:off x="725424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76" name="Label Parallelisierung Pegasus"/>
          <p:cNvSpPr txBox="1"/>
          <p:nvPr/>
        </p:nvSpPr>
        <p:spPr>
          <a:xfrm>
            <a:off x="725424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7" name="Parallelisierung Pegasus"/>
          <p:cNvSpPr txBox="1"/>
          <p:nvPr/>
        </p:nvSpPr>
        <p:spPr>
          <a:xfrm>
            <a:off x="725424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Compute-Jobs durch Python-Schleife</a:t>
            </a:r>
          </a:p>
        </p:txBody>
      </p:sp>
      <p:sp>
        <p:nvSpPr>
          <p:cNvPr id="78" name="Label Zusammenführung Pegasus"/>
          <p:cNvSpPr txBox="1"/>
          <p:nvPr/>
        </p:nvSpPr>
        <p:spPr>
          <a:xfrm>
            <a:off x="725424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9" name="Zusammenführung Pegasus"/>
          <p:cNvSpPr txBox="1"/>
          <p:nvPr/>
        </p:nvSpPr>
        <p:spPr>
          <a:xfrm>
            <a:off x="725424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benötigt alle Ergebnisdateien</a:t>
            </a:r>
          </a:p>
        </p:txBody>
      </p:sp>
      <p:sp>
        <p:nvSpPr>
          <p:cNvPr id="80" name="Marke AiiDA"/>
          <p:cNvSpPr/>
          <p:nvPr/>
        </p:nvSpPr>
        <p:spPr>
          <a:xfrm>
            <a:off x="926592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1" name="System AiiDA"/>
          <p:cNvSpPr txBox="1"/>
          <p:nvPr/>
        </p:nvSpPr>
        <p:spPr>
          <a:xfrm>
            <a:off x="926592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82" name="Label Parallelisierung AiiDA"/>
          <p:cNvSpPr txBox="1"/>
          <p:nvPr/>
        </p:nvSpPr>
        <p:spPr>
          <a:xfrm>
            <a:off x="926592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83" name="Parallelisierung AiiDA"/>
          <p:cNvSpPr txBox="1"/>
          <p:nvPr/>
        </p:nvSpPr>
        <p:spPr>
          <a:xfrm>
            <a:off x="926592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Einreichung aus Python-Schleife</a:t>
            </a:r>
          </a:p>
        </p:txBody>
      </p:sp>
      <p:sp>
        <p:nvSpPr>
          <p:cNvPr id="84" name="Label Zusammenführung AiiDA"/>
          <p:cNvSpPr txBox="1"/>
          <p:nvPr/>
        </p:nvSpPr>
        <p:spPr>
          <a:xfrm>
            <a:off x="926592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85" name="Zusammenführung AiiDA"/>
          <p:cNvSpPr txBox="1"/>
          <p:nvPr/>
        </p:nvSpPr>
        <p:spPr>
          <a:xfrm>
            <a:off x="926592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Warten auf alle Prozesse mit </a:t>
            </a:r>
            <a:r>
              <a:rPr lang="de-DE" sz="1200" b="1" dirty="0">
                <a:solidFill>
                  <a:srgbClr val="262626"/>
                </a:solidFill>
              </a:rPr>
              <a:t>ToContext</a:t>
            </a:r>
          </a:p>
        </p:txBody>
      </p:sp>
    </p:spTree>
    <p:extLst>
      <p:ext uri="{BB962C8B-B14F-4D97-AF65-F5344CB8AC3E}">
        <p14:creationId xmlns:p14="http://schemas.microsoft.com/office/powerpoint/2010/main" val="3355691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D2F4F-B195-4B9B-922C-9D19B565B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Unterschiedliche Ausführungsmodelle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Marke Nextflow"/>
          <p:cNvSpPr/>
          <p:nvPr/>
        </p:nvSpPr>
        <p:spPr>
          <a:xfrm>
            <a:off x="121920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System Nextflow"/>
          <p:cNvSpPr txBox="1"/>
          <p:nvPr/>
        </p:nvSpPr>
        <p:spPr>
          <a:xfrm>
            <a:off x="121920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Nextflow Workflow"/>
          <p:cNvSpPr/>
          <p:nvPr/>
        </p:nvSpPr>
        <p:spPr>
          <a:xfrm>
            <a:off x="139954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23" name="Nextflow Pfeil 0"/>
          <p:cNvCxnSpPr/>
          <p:nvPr/>
        </p:nvCxnSpPr>
        <p:spPr>
          <a:xfrm>
            <a:off x="213614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4" name="Nextflow Nextflow-Laufzeit"/>
          <p:cNvSpPr/>
          <p:nvPr/>
        </p:nvSpPr>
        <p:spPr>
          <a:xfrm>
            <a:off x="139954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Nextflow-Laufzeit</a:t>
            </a:r>
          </a:p>
        </p:txBody>
      </p:sp>
      <p:cxnSp>
        <p:nvCxnSpPr>
          <p:cNvPr id="25" name="Nextflow Pfeil 1"/>
          <p:cNvCxnSpPr/>
          <p:nvPr/>
        </p:nvCxnSpPr>
        <p:spPr>
          <a:xfrm>
            <a:off x="213614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6" name="Nextflow Task"/>
          <p:cNvSpPr/>
          <p:nvPr/>
        </p:nvSpPr>
        <p:spPr>
          <a:xfrm>
            <a:off x="139954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27" name="Beschreibung Nextflow"/>
          <p:cNvSpPr txBox="1"/>
          <p:nvPr/>
        </p:nvSpPr>
        <p:spPr>
          <a:xfrm>
            <a:off x="121920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28" name="Marke StreamFlow"/>
          <p:cNvSpPr/>
          <p:nvPr/>
        </p:nvSpPr>
        <p:spPr>
          <a:xfrm>
            <a:off x="323088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9" name="System StreamFlow"/>
          <p:cNvSpPr txBox="1"/>
          <p:nvPr/>
        </p:nvSpPr>
        <p:spPr>
          <a:xfrm>
            <a:off x="323088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0" name="StreamFlow Workflow"/>
          <p:cNvSpPr/>
          <p:nvPr/>
        </p:nvSpPr>
        <p:spPr>
          <a:xfrm>
            <a:off x="341122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1" name="StreamFlow Pfeil 0"/>
          <p:cNvCxnSpPr/>
          <p:nvPr/>
        </p:nvCxnSpPr>
        <p:spPr>
          <a:xfrm>
            <a:off x="41478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StreamFlow StreamFlow-Laufzeit"/>
          <p:cNvSpPr/>
          <p:nvPr/>
        </p:nvSpPr>
        <p:spPr>
          <a:xfrm>
            <a:off x="341122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StreamFlow-Laufzeit</a:t>
            </a:r>
          </a:p>
        </p:txBody>
      </p:sp>
      <p:cxnSp>
        <p:nvCxnSpPr>
          <p:cNvPr id="33" name="StreamFlow Pfeil 1"/>
          <p:cNvCxnSpPr/>
          <p:nvPr/>
        </p:nvCxnSpPr>
        <p:spPr>
          <a:xfrm>
            <a:off x="41478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4" name="StreamFlow Task"/>
          <p:cNvSpPr/>
          <p:nvPr/>
        </p:nvSpPr>
        <p:spPr>
          <a:xfrm>
            <a:off x="341122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35" name="Beschreibung StreamFlow"/>
          <p:cNvSpPr txBox="1"/>
          <p:nvPr/>
        </p:nvSpPr>
        <p:spPr>
          <a:xfrm>
            <a:off x="323088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36" name="Marke Merlin"/>
          <p:cNvSpPr/>
          <p:nvPr/>
        </p:nvSpPr>
        <p:spPr>
          <a:xfrm>
            <a:off x="524256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System Merlin"/>
          <p:cNvSpPr txBox="1"/>
          <p:nvPr/>
        </p:nvSpPr>
        <p:spPr>
          <a:xfrm>
            <a:off x="524256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8" name="Merlin Workflow"/>
          <p:cNvSpPr/>
          <p:nvPr/>
        </p:nvSpPr>
        <p:spPr>
          <a:xfrm>
            <a:off x="542290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9" name="Merlin Pfeil 0"/>
          <p:cNvCxnSpPr/>
          <p:nvPr/>
        </p:nvCxnSpPr>
        <p:spPr>
          <a:xfrm>
            <a:off x="615950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Merlin Redis"/>
          <p:cNvSpPr/>
          <p:nvPr/>
        </p:nvSpPr>
        <p:spPr>
          <a:xfrm>
            <a:off x="542290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Redis</a:t>
            </a:r>
          </a:p>
        </p:txBody>
      </p:sp>
      <p:cxnSp>
        <p:nvCxnSpPr>
          <p:cNvPr id="41" name="Merlin Pfeil 1"/>
          <p:cNvCxnSpPr/>
          <p:nvPr/>
        </p:nvCxnSpPr>
        <p:spPr>
          <a:xfrm>
            <a:off x="615950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2" name="Merlin Worker"/>
          <p:cNvSpPr/>
          <p:nvPr/>
        </p:nvSpPr>
        <p:spPr>
          <a:xfrm>
            <a:off x="542290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Worker</a:t>
            </a:r>
          </a:p>
        </p:txBody>
      </p:sp>
      <p:cxnSp>
        <p:nvCxnSpPr>
          <p:cNvPr id="43" name="Merlin Pfeil 2"/>
          <p:cNvCxnSpPr/>
          <p:nvPr/>
        </p:nvCxnSpPr>
        <p:spPr>
          <a:xfrm>
            <a:off x="615950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4" name="Merlin Task"/>
          <p:cNvSpPr/>
          <p:nvPr/>
        </p:nvSpPr>
        <p:spPr>
          <a:xfrm>
            <a:off x="542290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45" name="Beschreibung Merlin"/>
          <p:cNvSpPr txBox="1"/>
          <p:nvPr/>
        </p:nvSpPr>
        <p:spPr>
          <a:xfrm>
            <a:off x="524256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Aufgabenwarteschlange + Worker</a:t>
            </a:r>
          </a:p>
        </p:txBody>
      </p:sp>
      <p:sp>
        <p:nvSpPr>
          <p:cNvPr id="46" name="Marke Pegasus"/>
          <p:cNvSpPr/>
          <p:nvPr/>
        </p:nvSpPr>
        <p:spPr>
          <a:xfrm>
            <a:off x="725424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System Pegasus"/>
          <p:cNvSpPr txBox="1"/>
          <p:nvPr/>
        </p:nvSpPr>
        <p:spPr>
          <a:xfrm>
            <a:off x="725424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48" name="Pegasus Workflow"/>
          <p:cNvSpPr/>
          <p:nvPr/>
        </p:nvSpPr>
        <p:spPr>
          <a:xfrm>
            <a:off x="743458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49" name="Pegasus Pfeil 0"/>
          <p:cNvCxnSpPr/>
          <p:nvPr/>
        </p:nvCxnSpPr>
        <p:spPr>
          <a:xfrm>
            <a:off x="817118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0" name="Pegasus Planner"/>
          <p:cNvSpPr/>
          <p:nvPr/>
        </p:nvSpPr>
        <p:spPr>
          <a:xfrm>
            <a:off x="743458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Planner</a:t>
            </a:r>
          </a:p>
        </p:txBody>
      </p:sp>
      <p:cxnSp>
        <p:nvCxnSpPr>
          <p:cNvPr id="51" name="Pegasus Pfeil 1"/>
          <p:cNvCxnSpPr/>
          <p:nvPr/>
        </p:nvCxnSpPr>
        <p:spPr>
          <a:xfrm>
            <a:off x="817118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2" name="Pegasus HTCondor"/>
          <p:cNvSpPr/>
          <p:nvPr/>
        </p:nvSpPr>
        <p:spPr>
          <a:xfrm>
            <a:off x="743458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HTCondor</a:t>
            </a:r>
          </a:p>
        </p:txBody>
      </p:sp>
      <p:cxnSp>
        <p:nvCxnSpPr>
          <p:cNvPr id="53" name="Pegasus Pfeil 2"/>
          <p:cNvCxnSpPr/>
          <p:nvPr/>
        </p:nvCxnSpPr>
        <p:spPr>
          <a:xfrm>
            <a:off x="817118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4" name="Pegasus Jobs"/>
          <p:cNvSpPr/>
          <p:nvPr/>
        </p:nvSpPr>
        <p:spPr>
          <a:xfrm>
            <a:off x="743458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Jobs</a:t>
            </a:r>
          </a:p>
        </p:txBody>
      </p:sp>
      <p:sp>
        <p:nvSpPr>
          <p:cNvPr id="55" name="Beschreibung Pegasus"/>
          <p:cNvSpPr txBox="1"/>
          <p:nvPr/>
        </p:nvSpPr>
        <p:spPr>
          <a:xfrm>
            <a:off x="725424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Planung + Ausführung</a:t>
            </a:r>
          </a:p>
        </p:txBody>
      </p:sp>
      <p:sp>
        <p:nvSpPr>
          <p:cNvPr id="56" name="Marke AiiDA"/>
          <p:cNvSpPr/>
          <p:nvPr/>
        </p:nvSpPr>
        <p:spPr>
          <a:xfrm>
            <a:off x="926592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AiiDA"/>
          <p:cNvSpPr txBox="1"/>
          <p:nvPr/>
        </p:nvSpPr>
        <p:spPr>
          <a:xfrm>
            <a:off x="926592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58" name="AiiDA WorkChain"/>
          <p:cNvSpPr/>
          <p:nvPr/>
        </p:nvSpPr>
        <p:spPr>
          <a:xfrm>
            <a:off x="9265920" y="25400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WorkChain</a:t>
            </a:r>
          </a:p>
        </p:txBody>
      </p:sp>
      <p:cxnSp>
        <p:nvCxnSpPr>
          <p:cNvPr id="59" name="AiiDA Pfeil 0"/>
          <p:cNvCxnSpPr/>
          <p:nvPr/>
        </p:nvCxnSpPr>
        <p:spPr>
          <a:xfrm>
            <a:off x="97866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0" name="AiiDA RabbitMQ"/>
          <p:cNvSpPr/>
          <p:nvPr/>
        </p:nvSpPr>
        <p:spPr>
          <a:xfrm>
            <a:off x="9265920" y="30734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RabbitMQ</a:t>
            </a:r>
          </a:p>
        </p:txBody>
      </p:sp>
      <p:cxnSp>
        <p:nvCxnSpPr>
          <p:cNvPr id="61" name="AiiDA Pfeil 1"/>
          <p:cNvCxnSpPr/>
          <p:nvPr/>
        </p:nvCxnSpPr>
        <p:spPr>
          <a:xfrm>
            <a:off x="97866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2" name="AiiDA Daemon/Runner"/>
          <p:cNvSpPr/>
          <p:nvPr/>
        </p:nvSpPr>
        <p:spPr>
          <a:xfrm>
            <a:off x="9265920" y="36068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Daemon/Runner</a:t>
            </a:r>
          </a:p>
        </p:txBody>
      </p:sp>
      <p:cxnSp>
        <p:nvCxnSpPr>
          <p:cNvPr id="63" name="AiiDA Pfeil 2"/>
          <p:cNvCxnSpPr/>
          <p:nvPr/>
        </p:nvCxnSpPr>
        <p:spPr>
          <a:xfrm>
            <a:off x="978662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4" name="AiiDA CalcJobs"/>
          <p:cNvSpPr/>
          <p:nvPr/>
        </p:nvSpPr>
        <p:spPr>
          <a:xfrm>
            <a:off x="9265920" y="41402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CalcJobs</a:t>
            </a:r>
          </a:p>
        </p:txBody>
      </p:sp>
      <p:sp>
        <p:nvSpPr>
          <p:cNvPr id="65" name="AiiDA Datenbank"/>
          <p:cNvSpPr/>
          <p:nvPr/>
        </p:nvSpPr>
        <p:spPr>
          <a:xfrm>
            <a:off x="10510520" y="3606800"/>
            <a:ext cx="7366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Datenbank</a:t>
            </a:r>
          </a:p>
        </p:txBody>
      </p:sp>
      <p:cxnSp>
        <p:nvCxnSpPr>
          <p:cNvPr id="66" name="AiiDA Doppelpfeil"/>
          <p:cNvCxnSpPr/>
          <p:nvPr/>
        </p:nvCxnSpPr>
        <p:spPr>
          <a:xfrm>
            <a:off x="10307320" y="3759200"/>
            <a:ext cx="203200" cy="0"/>
          </a:xfrm>
          <a:prstGeom prst="line">
            <a:avLst/>
          </a:prstGeom>
          <a:ln w="9525">
            <a:solidFill>
              <a:srgbClr val="8C8C8C"/>
            </a:solidFill>
            <a:headEnd type="triangle" w="sm" len="sm"/>
            <a:tailEnd type="triangle" w="sm" len="sm"/>
          </a:ln>
        </p:spPr>
      </p:cxnSp>
      <p:sp>
        <p:nvSpPr>
          <p:cNvPr id="67" name="Beschreibung AiiDA"/>
          <p:cNvSpPr txBox="1"/>
          <p:nvPr/>
        </p:nvSpPr>
        <p:spPr>
          <a:xfrm>
            <a:off x="926592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Warteschlange + Daemon + Datenbank </a:t>
            </a:r>
          </a:p>
        </p:txBody>
      </p:sp>
      <p:cxnSp>
        <p:nvCxnSpPr>
          <p:cNvPr id="68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9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Wege zur 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11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936722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35E23-6E52-9AEE-EAD2-3BEB471F3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Lokale Untersuchung: WMS-Overhead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CD6A111-9076-8E04-3AED-ED16A28E3C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2978013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OVERHEAD GEGENÜBER REFERENZAUSFÜHRUNG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12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30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31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dirty="0">
                <a:solidFill>
                  <a:srgbClr val="262626"/>
                </a:solidFill>
              </a:rPr>
              <a:t>Drei </a:t>
            </a:r>
            <a:r>
              <a:rPr lang="de-DE" sz="1200" b="1" dirty="0">
                <a:solidFill>
                  <a:srgbClr val="262626"/>
                </a:solidFill>
              </a:rPr>
              <a:t>Overhead-Gruppen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SF / NF / Merlin: 1,4–4,2 s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AiiDA: 5,1–10,3 s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Pegasus: 171–221 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Kein proportionaler Zusammenhang</a:t>
            </a:r>
            <a:r>
              <a:rPr lang="de-DE" sz="1200" dirty="0">
                <a:solidFill>
                  <a:srgbClr val="262626"/>
                </a:solidFill>
              </a:rPr>
              <a:t> zwischen Rechenlast und Overhead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Workflowstruktur</a:t>
            </a:r>
            <a:r>
              <a:rPr lang="de-DE" sz="1200" dirty="0">
                <a:solidFill>
                  <a:srgbClr val="262626"/>
                </a:solidFill>
              </a:rPr>
              <a:t> teilweise relevant: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Scatter-Gather bei AiiDA und Pegasus mit erhöhtem Overhead</a:t>
            </a:r>
          </a:p>
        </p:txBody>
      </p:sp>
    </p:spTree>
    <p:extLst>
      <p:ext uri="{BB962C8B-B14F-4D97-AF65-F5344CB8AC3E}">
        <p14:creationId xmlns:p14="http://schemas.microsoft.com/office/powerpoint/2010/main" val="597007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59EE0-1109-2D00-3FE5-6DB60B878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Scatter-Gather: Gesamtlaufzeit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3D76D50-CA3C-A0D8-8EB5-2BDD9851B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3188985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MAKESPAN BEI 1, 2 UND 4 Teilstücke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Kurze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bringt geringen bzw. teilweise keinen zusätzlichen Gewinn, Overhead fällt ins Gewicht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Mittlere und lange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deutliche Verringerung des Makespans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Zusätzliche Parallelisierung</a:t>
            </a:r>
            <a:r>
              <a:rPr lang="de-DE" sz="1200" dirty="0">
                <a:solidFill>
                  <a:srgbClr val="262626"/>
                </a:solidFill>
              </a:rPr>
              <a:t> gewinnt mit wachsender Rechenlast an Bedeutung, da Overhead an Gewicht verliert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13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1071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3A317-8F96-271A-B21A-147B6A11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 err="1">
                <a:solidFill>
                  <a:srgbClr val="262626"/>
                </a:solidFill>
              </a:rPr>
              <a:t>Übergangslatenzen</a:t>
            </a:r>
            <a:endParaRPr lang="de-DE" sz="2600" b="1" dirty="0">
              <a:solidFill>
                <a:srgbClr val="262626"/>
              </a:solidFill>
            </a:endParaRP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C38C7638-4172-2B59-2CEA-E311165E6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4" y="2274433"/>
            <a:ext cx="7111992" cy="2493284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ÜBERGANGSLATENZEN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79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Innerhalb eines Systems weitgehend </a:t>
            </a:r>
            <a:r>
              <a:rPr lang="de-DE" sz="1300" b="1" dirty="0">
                <a:solidFill>
                  <a:srgbClr val="262626"/>
                </a:solidFill>
              </a:rPr>
              <a:t>stabile Übergangslatenzen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StreamFlow &lt; Nextflow &lt; Merlin &lt; AiiDA ≪ Pegasus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mit </a:t>
            </a:r>
            <a:r>
              <a:rPr lang="de-DE" sz="1300" b="1" dirty="0">
                <a:solidFill>
                  <a:srgbClr val="262626"/>
                </a:solidFill>
              </a:rPr>
              <a:t>rund 20 s</a:t>
            </a:r>
            <a:r>
              <a:rPr lang="de-DE" sz="1300" dirty="0">
                <a:solidFill>
                  <a:srgbClr val="262626"/>
                </a:solidFill>
              </a:rPr>
              <a:t> um Größenordnungen höher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Hohe Übergangslatenzen erklären einen großen Teil des </a:t>
            </a:r>
            <a:r>
              <a:rPr lang="de-DE" sz="1300" b="1" dirty="0">
                <a:solidFill>
                  <a:srgbClr val="262626"/>
                </a:solidFill>
              </a:rPr>
              <a:t>Overheads </a:t>
            </a:r>
            <a:r>
              <a:rPr lang="de-DE" sz="1300" dirty="0">
                <a:solidFill>
                  <a:srgbClr val="262626"/>
                </a:solidFill>
              </a:rPr>
              <a:t>bei </a:t>
            </a:r>
            <a:r>
              <a:rPr lang="de-DE" sz="1300" dirty="0" err="1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 und Pegasus, aber </a:t>
            </a:r>
            <a:r>
              <a:rPr lang="de-DE" sz="1300" b="1" dirty="0">
                <a:solidFill>
                  <a:srgbClr val="262626"/>
                </a:solidFill>
              </a:rPr>
              <a:t>nicht allein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95090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902435-D957-7A56-F80C-F7A9FF39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Startspreizung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668C887-A541-971C-5F2F-8B27C30316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133600"/>
            <a:ext cx="6350000" cy="347185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STARTSPREIZUNG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Mit </a:t>
            </a:r>
            <a:r>
              <a:rPr lang="de-DE" sz="1300" b="1" dirty="0">
                <a:solidFill>
                  <a:srgbClr val="262626"/>
                </a:solidFill>
              </a:rPr>
              <a:t>mehr parallelen Instanzen</a:t>
            </a:r>
            <a:r>
              <a:rPr lang="de-DE" sz="1300" dirty="0">
                <a:solidFill>
                  <a:srgbClr val="262626"/>
                </a:solidFill>
              </a:rPr>
              <a:t> steigt die Startspreizung bei allen Systemen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Besonders deutlich bei </a:t>
            </a:r>
            <a:r>
              <a:rPr lang="de-DE" sz="1300" b="1" dirty="0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b="1" dirty="0">
                <a:solidFill>
                  <a:srgbClr val="595959"/>
                </a:solidFill>
              </a:rPr>
              <a:t>58 ms → 698 ms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Nextflow &lt; StreamFlow &lt; Pegasus &lt; AiiDA &lt; Merlin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bei der Startspreizung im </a:t>
            </a:r>
            <a:r>
              <a:rPr lang="de-DE" sz="1300" b="1" dirty="0">
                <a:solidFill>
                  <a:srgbClr val="262626"/>
                </a:solidFill>
              </a:rPr>
              <a:t>mittleren Bereich, </a:t>
            </a:r>
            <a:r>
              <a:rPr lang="de-DE" sz="1300" dirty="0">
                <a:solidFill>
                  <a:srgbClr val="262626"/>
                </a:solidFill>
              </a:rPr>
              <a:t>trotz sehr hoher Übergangslatenzen</a:t>
            </a:r>
          </a:p>
        </p:txBody>
      </p:sp>
      <p:cxnSp>
        <p:nvCxnSpPr>
          <p:cNvPr id="23" name="Trennlinie"/>
          <p:cNvCxnSpPr/>
          <p:nvPr/>
        </p:nvCxnSpPr>
        <p:spPr>
          <a:xfrm>
            <a:off x="8077200" y="4724400"/>
            <a:ext cx="3200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4" name="Schlussaussage"/>
          <p:cNvSpPr txBox="1"/>
          <p:nvPr/>
        </p:nvSpPr>
        <p:spPr>
          <a:xfrm>
            <a:off x="8077200" y="4876800"/>
            <a:ext cx="32004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dirty="0">
                <a:solidFill>
                  <a:srgbClr val="262626"/>
                </a:solidFill>
              </a:rPr>
              <a:t>Höhere Koordinationswerte bedeuten nicht automatisch einen höheren Gesamt-Overhead.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Merlin: höhere Koordinationswerte als Nextflow und StreamFlow, aber dieselbe niedrige Overhead-Gruppe.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15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58390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01FDA-B628-94D4-F55D-1F47A7E7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Von lokal zu MOGON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INTEGRATION IN DIE HPC-UMGEBUNG</a:t>
            </a:r>
          </a:p>
        </p:txBody>
      </p:sp>
      <p:sp>
        <p:nvSpPr>
          <p:cNvPr id="22" name="Kopf System"/>
          <p:cNvSpPr txBox="1"/>
          <p:nvPr/>
        </p:nvSpPr>
        <p:spPr>
          <a:xfrm>
            <a:off x="1219200" y="1879600"/>
            <a:ext cx="1778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SYSTEM</a:t>
            </a:r>
          </a:p>
        </p:txBody>
      </p:sp>
      <p:sp>
        <p:nvSpPr>
          <p:cNvPr id="23" name="Kopf Anpassung"/>
          <p:cNvSpPr txBox="1"/>
          <p:nvPr/>
        </p:nvSpPr>
        <p:spPr>
          <a:xfrm>
            <a:off x="3175000" y="1879600"/>
            <a:ext cx="3937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ANPASSUNG FÜR MOGON</a:t>
            </a:r>
          </a:p>
        </p:txBody>
      </p:sp>
      <p:sp>
        <p:nvSpPr>
          <p:cNvPr id="24" name="Kopf Ausführung"/>
          <p:cNvSpPr txBox="1"/>
          <p:nvPr/>
        </p:nvSpPr>
        <p:spPr>
          <a:xfrm>
            <a:off x="7289800" y="1879600"/>
            <a:ext cx="39878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AUSFÜHRUNG ÜBER SLURM</a:t>
            </a:r>
          </a:p>
        </p:txBody>
      </p:sp>
      <p:cxnSp>
        <p:nvCxnSpPr>
          <p:cNvPr id="25" name="Kopflinie"/>
          <p:cNvCxnSpPr/>
          <p:nvPr/>
        </p:nvCxnSpPr>
        <p:spPr>
          <a:xfrm>
            <a:off x="1219200" y="21336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6" name="Name Nextflow"/>
          <p:cNvSpPr txBox="1"/>
          <p:nvPr/>
        </p:nvSpPr>
        <p:spPr>
          <a:xfrm>
            <a:off x="1219200" y="22352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7" name="Anpassung Nextflow"/>
          <p:cNvSpPr txBox="1"/>
          <p:nvPr/>
        </p:nvSpPr>
        <p:spPr>
          <a:xfrm>
            <a:off x="3175000" y="22352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nextflow.config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Executor</a:t>
            </a:r>
          </a:p>
        </p:txBody>
      </p:sp>
      <p:sp>
        <p:nvSpPr>
          <p:cNvPr id="28" name="Ausführung Nextflow"/>
          <p:cNvSpPr txBox="1"/>
          <p:nvPr/>
        </p:nvSpPr>
        <p:spPr>
          <a:xfrm>
            <a:off x="7289800" y="22352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29" name="Zeilenlinie 1"/>
          <p:cNvCxnSpPr/>
          <p:nvPr/>
        </p:nvCxnSpPr>
        <p:spPr>
          <a:xfrm>
            <a:off x="1219200" y="2844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Name StreamFlow"/>
          <p:cNvSpPr txBox="1"/>
          <p:nvPr/>
        </p:nvSpPr>
        <p:spPr>
          <a:xfrm>
            <a:off x="1219200" y="28956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1" name="Anpassung StreamFlow"/>
          <p:cNvSpPr txBox="1"/>
          <p:nvPr/>
        </p:nvSpPr>
        <p:spPr>
          <a:xfrm>
            <a:off x="3175000" y="28956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streamflow.yml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Slurm-Deployment</a:t>
            </a:r>
          </a:p>
        </p:txBody>
      </p:sp>
      <p:sp>
        <p:nvSpPr>
          <p:cNvPr id="32" name="Ausführung StreamFlow"/>
          <p:cNvSpPr txBox="1"/>
          <p:nvPr/>
        </p:nvSpPr>
        <p:spPr>
          <a:xfrm>
            <a:off x="7289800" y="28956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3" name="Zeilenlinie 2"/>
          <p:cNvCxnSpPr/>
          <p:nvPr/>
        </p:nvCxnSpPr>
        <p:spPr>
          <a:xfrm>
            <a:off x="1219200" y="35052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Name AiiDA"/>
          <p:cNvSpPr txBox="1"/>
          <p:nvPr/>
        </p:nvSpPr>
        <p:spPr>
          <a:xfrm>
            <a:off x="1219200" y="35560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35" name="Anpassung AiiDA"/>
          <p:cNvSpPr txBox="1"/>
          <p:nvPr/>
        </p:nvSpPr>
        <p:spPr>
          <a:xfrm>
            <a:off x="3175000" y="35560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Ressourcenangaben + Rechner-Eintrag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Scheduler</a:t>
            </a:r>
          </a:p>
        </p:txBody>
      </p:sp>
      <p:sp>
        <p:nvSpPr>
          <p:cNvPr id="36" name="Ausführung AiiDA"/>
          <p:cNvSpPr txBox="1"/>
          <p:nvPr/>
        </p:nvSpPr>
        <p:spPr>
          <a:xfrm>
            <a:off x="7289800" y="35560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CalcJob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7" name="Zeilenlinie 3"/>
          <p:cNvCxnSpPr/>
          <p:nvPr/>
        </p:nvCxnSpPr>
        <p:spPr>
          <a:xfrm>
            <a:off x="1219200" y="416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Name Merlin"/>
          <p:cNvSpPr txBox="1"/>
          <p:nvPr/>
        </p:nvSpPr>
        <p:spPr>
          <a:xfrm>
            <a:off x="1219200" y="42164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9" name="Anpassung Merlin"/>
          <p:cNvSpPr txBox="1"/>
          <p:nvPr/>
        </p:nvSpPr>
        <p:spPr>
          <a:xfrm>
            <a:off x="3175000" y="42164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Pilot-Job-Prinzip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Worker über Slurm gestartet</a:t>
            </a:r>
          </a:p>
        </p:txBody>
      </p:sp>
      <p:sp>
        <p:nvSpPr>
          <p:cNvPr id="40" name="Ausführung Merlin"/>
          <p:cNvSpPr txBox="1"/>
          <p:nvPr/>
        </p:nvSpPr>
        <p:spPr>
          <a:xfrm>
            <a:off x="7289800" y="42164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b="1" dirty="0">
                <a:solidFill>
                  <a:srgbClr val="262626"/>
                </a:solidFill>
              </a:rPr>
              <a:t>Worker-Allokation</a:t>
            </a:r>
            <a:r>
              <a:rPr lang="de-DE" sz="1300" dirty="0">
                <a:solidFill>
                  <a:srgbClr val="262626"/>
                </a:solidFill>
              </a:rPr>
              <a:t> → mehrere Workflow-Tasks</a:t>
            </a:r>
          </a:p>
        </p:txBody>
      </p:sp>
      <p:cxnSp>
        <p:nvCxnSpPr>
          <p:cNvPr id="41" name="Tabellenende"/>
          <p:cNvCxnSpPr/>
          <p:nvPr/>
        </p:nvCxnSpPr>
        <p:spPr>
          <a:xfrm>
            <a:off x="1219200" y="48260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3" name="Dateisystem"/>
          <p:cNvSpPr txBox="1"/>
          <p:nvPr/>
        </p:nvSpPr>
        <p:spPr>
          <a:xfrm>
            <a:off x="1219200" y="49784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Gemeinsames Dateisystem: /fshpc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Workflow-Dateien sind dadurch auch für Schritte auf unterschiedlichen Rechenknoten verfügbar.</a:t>
            </a:r>
          </a:p>
        </p:txBody>
      </p:sp>
      <p:sp>
        <p:nvSpPr>
          <p:cNvPr id="45" name="Kernaussage"/>
          <p:cNvSpPr txBox="1"/>
          <p:nvPr/>
        </p:nvSpPr>
        <p:spPr>
          <a:xfrm>
            <a:off x="1219200" y="5588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Workflow Logik bleibt erhalten, Integration in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 ist systemspezifisch</a:t>
            </a:r>
          </a:p>
        </p:txBody>
      </p:sp>
      <p:sp>
        <p:nvSpPr>
          <p:cNvPr id="4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16</a:t>
            </a:r>
          </a:p>
        </p:txBody>
      </p:sp>
      <p:cxnSp>
        <p:nvCxnSpPr>
          <p:cNvPr id="4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4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6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71731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F39543-9E36-2A79-94D5-635BA055D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Regulärer Slurm-Betrieb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CLUSTERBEDINGTE ZEITANTEILE</a:t>
            </a:r>
          </a:p>
        </p:txBody>
      </p:sp>
      <p:sp>
        <p:nvSpPr>
          <p:cNvPr id="39" name="Zentrale Beobachtungen"/>
          <p:cNvSpPr txBox="1"/>
          <p:nvPr/>
        </p:nvSpPr>
        <p:spPr>
          <a:xfrm>
            <a:off x="7467600" y="1752600"/>
            <a:ext cx="3810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600" b="1" dirty="0"/>
              <a:t>Auswirkungen auf die Messung</a:t>
            </a:r>
          </a:p>
        </p:txBody>
      </p:sp>
      <p:sp>
        <p:nvSpPr>
          <p:cNvPr id="40" name="Punkte"/>
          <p:cNvSpPr txBox="1"/>
          <p:nvPr/>
        </p:nvSpPr>
        <p:spPr>
          <a:xfrm>
            <a:off x="7467600" y="2133600"/>
            <a:ext cx="3810000" cy="266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Systemeigene Vorbereitung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liegt innerhalb der Zeit vor Nutzlast</a:t>
            </a:r>
          </a:p>
          <a:p>
            <a:pPr marL="152400" indent="0" algn="l">
              <a:spcAft>
                <a:spcPts val="800"/>
              </a:spcAft>
              <a:buNone/>
            </a:pPr>
            <a:r>
              <a:rPr lang="de-DE" sz="1000" dirty="0">
                <a:solidFill>
                  <a:srgbClr val="8C8C8C"/>
                </a:solidFill>
              </a:rPr>
              <a:t>ab verfügbaren Zeitankern: Millisekundenbereich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Unterschiedliche Zeitanker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endParaRPr lang="de-DE" sz="1300" b="1" dirty="0">
              <a:solidFill>
                <a:srgbClr val="262626"/>
              </a:solidFill>
            </a:endParaRP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Wiederholte Zeitanteile je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Nextflow · StreamFlow · AiiDA</a:t>
            </a:r>
          </a:p>
          <a:p>
            <a:pPr marL="152400" indent="0" algn="l">
              <a:spcAft>
                <a:spcPts val="3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Workflow-Schritt →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Merlin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eine Allokation → Worker führen Workflow-Schritte aus</a:t>
            </a:r>
          </a:p>
        </p:txBody>
      </p:sp>
      <p:cxnSp>
        <p:nvCxnSpPr>
          <p:cNvPr id="41" name="Trennlinie"/>
          <p:cNvCxnSpPr/>
          <p:nvPr/>
        </p:nvCxnSpPr>
        <p:spPr>
          <a:xfrm>
            <a:off x="1219200" y="5054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2" name="Kernaussage"/>
          <p:cNvSpPr txBox="1"/>
          <p:nvPr/>
        </p:nvSpPr>
        <p:spPr>
          <a:xfrm>
            <a:off x="1219200" y="51562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400" b="1" dirty="0">
                <a:solidFill>
                  <a:srgbClr val="262626"/>
                </a:solidFill>
              </a:rPr>
              <a:t>Große clusterbedingte Zeitanteile überlagern die systemspezifischen Unterschiede.</a:t>
            </a:r>
          </a:p>
        </p:txBody>
      </p:sp>
      <p:sp>
        <p:nvSpPr>
          <p:cNvPr id="43" name="Konsequenz"/>
          <p:cNvSpPr txBox="1"/>
          <p:nvPr/>
        </p:nvSpPr>
        <p:spPr>
          <a:xfrm>
            <a:off x="1219200" y="54356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dirty="0">
                <a:solidFill>
                  <a:srgbClr val="C1002A"/>
                </a:solidFill>
              </a:rPr>
              <a:t>→ </a:t>
            </a:r>
            <a:r>
              <a:rPr lang="de-DE" sz="1300" b="1" dirty="0">
                <a:solidFill>
                  <a:srgbClr val="262626"/>
                </a:solidFill>
              </a:rPr>
              <a:t>Vergleich auf dedizierter Ressource</a:t>
            </a:r>
          </a:p>
        </p:txBody>
      </p:sp>
      <p:sp>
        <p:nvSpPr>
          <p:cNvPr id="4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17</a:t>
            </a:r>
          </a:p>
        </p:txBody>
      </p:sp>
      <p:cxnSp>
        <p:nvCxnSpPr>
          <p:cNvPr id="4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E2D368-EE5B-6B83-CB1C-95B23758C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930400"/>
            <a:ext cx="5588000" cy="2692400"/>
          </a:xfrm>
          <a:prstGeom prst="rect">
            <a:avLst/>
          </a:prstGeom>
        </p:spPr>
      </p:pic>
      <p:sp>
        <p:nvSpPr>
          <p:cNvPr id="60" name="Label Beispiel"/>
          <p:cNvSpPr txBox="1"/>
          <p:nvPr/>
        </p:nvSpPr>
        <p:spPr>
          <a:xfrm>
            <a:off x="1219200" y="1727200"/>
            <a:ext cx="5791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BEISPIEL: NEXTFLOW</a:t>
            </a:r>
          </a:p>
        </p:txBody>
      </p:sp>
      <p:sp>
        <p:nvSpPr>
          <p:cNvPr id="70" name="Kennzahl Queue"/>
          <p:cNvSpPr txBox="1"/>
          <p:nvPr/>
        </p:nvSpPr>
        <p:spPr>
          <a:xfrm>
            <a:off x="1219200" y="47498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Queue: </a:t>
            </a:r>
            <a:r>
              <a:rPr lang="de-DE" sz="1200" b="1" dirty="0">
                <a:solidFill>
                  <a:srgbClr val="262626"/>
                </a:solidFill>
              </a:rPr>
              <a:t>6–17 s</a:t>
            </a:r>
          </a:p>
        </p:txBody>
      </p:sp>
      <p:sp>
        <p:nvSpPr>
          <p:cNvPr id="71" name="Kennzahl Vor Nutzlast"/>
          <p:cNvSpPr txBox="1"/>
          <p:nvPr/>
        </p:nvSpPr>
        <p:spPr>
          <a:xfrm>
            <a:off x="2997200" y="4749800"/>
            <a:ext cx="2032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Zeit vor Nutzlast: </a:t>
            </a:r>
            <a:r>
              <a:rPr lang="de-DE" sz="1200" b="1" dirty="0">
                <a:solidFill>
                  <a:srgbClr val="C1002A"/>
                </a:solidFill>
              </a:rPr>
              <a:t>&gt; 40 s</a:t>
            </a:r>
          </a:p>
        </p:txBody>
      </p:sp>
      <p:sp>
        <p:nvSpPr>
          <p:cNvPr id="72" name="Kennzahl Nutzlast"/>
          <p:cNvSpPr txBox="1"/>
          <p:nvPr/>
        </p:nvSpPr>
        <p:spPr>
          <a:xfrm>
            <a:off x="5156200" y="47498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Nutzlast: </a:t>
            </a:r>
            <a:r>
              <a:rPr lang="de-DE" sz="1200" b="1" dirty="0">
                <a:solidFill>
                  <a:srgbClr val="262626"/>
                </a:solidFill>
              </a:rPr>
              <a:t>teilweise nur ms</a:t>
            </a:r>
          </a:p>
        </p:txBody>
      </p:sp>
      <p:sp>
        <p:nvSpPr>
          <p:cNvPr id="73" name="Überleitung"/>
          <p:cNvSpPr txBox="1"/>
          <p:nvPr/>
        </p:nvSpPr>
        <p:spPr>
          <a:xfrm>
            <a:off x="1397000" y="5676900"/>
            <a:ext cx="8890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Queue-Wartezeit und wiederholte Jobvorbereitung fallen nicht wiederholt an.</a:t>
            </a:r>
          </a:p>
        </p:txBody>
      </p:sp>
    </p:spTree>
    <p:extLst>
      <p:ext uri="{BB962C8B-B14F-4D97-AF65-F5344CB8AC3E}">
        <p14:creationId xmlns:p14="http://schemas.microsoft.com/office/powerpoint/2010/main" val="4201686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357C78-437C-C009-F9EA-1C9E43E47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anchor="ctr" anchorCtr="0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WMS-Vergleich auf dedizierter Ressource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55A12B7-B6C4-8C6E-5730-D2B4D930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WMS-OVERHEAD AUF MOGON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Gruppe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StreamFlow · Nextflow · Merlin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10/12 Konfigurationen: </a:t>
            </a:r>
            <a:r>
              <a:rPr lang="de-DE" sz="1100" b="1" dirty="0">
                <a:solidFill>
                  <a:srgbClr val="262626"/>
                </a:solidFill>
              </a:rPr>
              <a:t>1,6–4,1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Reihenfolge innerhalb der Gruppe wechselt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AiiDA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in allen 12 Konfigurationen höher: </a:t>
            </a:r>
            <a:r>
              <a:rPr lang="de-DE" sz="1100" b="1" dirty="0">
                <a:solidFill>
                  <a:srgbClr val="C1002A"/>
                </a:solidFill>
              </a:rPr>
              <a:t>7–15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Scatter-Gather &gt; Pipeline · mehr Teilstücke → höherer Overhead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Latenz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Übergangslatenz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SF </a:t>
            </a:r>
            <a:r>
              <a:rPr lang="de-DE" sz="1100" b="1" dirty="0">
                <a:solidFill>
                  <a:srgbClr val="262626"/>
                </a:solidFill>
              </a:rPr>
              <a:t>0,06</a:t>
            </a:r>
            <a:r>
              <a:rPr lang="de-DE" sz="1100" dirty="0">
                <a:solidFill>
                  <a:srgbClr val="262626"/>
                </a:solidFill>
              </a:rPr>
              <a:t> · NF </a:t>
            </a:r>
            <a:r>
              <a:rPr lang="de-DE" sz="1100" b="1" dirty="0">
                <a:solidFill>
                  <a:srgbClr val="262626"/>
                </a:solidFill>
              </a:rPr>
              <a:t>0,11</a:t>
            </a:r>
            <a:r>
              <a:rPr lang="de-DE" sz="1100" dirty="0">
                <a:solidFill>
                  <a:srgbClr val="262626"/>
                </a:solidFill>
              </a:rPr>
              <a:t> · Merlin </a:t>
            </a:r>
            <a:r>
              <a:rPr lang="de-DE" sz="1100" b="1" dirty="0">
                <a:solidFill>
                  <a:srgbClr val="262626"/>
                </a:solidFill>
              </a:rPr>
              <a:t>0,14</a:t>
            </a:r>
            <a:r>
              <a:rPr lang="de-DE" sz="1100" dirty="0">
                <a:solidFill>
                  <a:srgbClr val="262626"/>
                </a:solidFill>
              </a:rPr>
              <a:t> · AiiDA </a:t>
            </a:r>
            <a:r>
              <a:rPr lang="de-DE" sz="1100" b="1" dirty="0">
                <a:solidFill>
                  <a:srgbClr val="262626"/>
                </a:solidFill>
              </a:rPr>
              <a:t>1,95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 Reihenfolge wie lokal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AiiDA MOGON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 auf MOGON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Overhead und Übergangslatenz höher als 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Datenbank + Repository auf </a:t>
            </a:r>
            <a:r>
              <a:rPr lang="de-DE" sz="1000" b="1" dirty="0">
                <a:solidFill>
                  <a:srgbClr val="595959"/>
                </a:solidFill>
              </a:rPr>
              <a:t>/fshpc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Leitfrage"/>
          <p:cNvSpPr txBox="1"/>
          <p:nvPr/>
        </p:nvSpPr>
        <p:spPr>
          <a:xfrm>
            <a:off x="1219200" y="55626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C1002A"/>
                </a:solidFill>
              </a:rPr>
              <a:t>Welchen Einfluss hat der Ort der Datenhaltung?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18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983420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36DC6-D207-A223-1507-4D4F781B0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Einfluss des Ablageorts bei AiiDA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CFB64E0-ED47-B839-833B-AC14506BCB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DATENHALTUNG AUF /fshpc UND KNOTENLOKALEM SPEICHER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Vergleich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Kontrollierter Vergleich</a:t>
            </a:r>
          </a:p>
          <a:p>
            <a:pPr algn="l">
              <a:spcAft>
                <a:spcPts val="100"/>
              </a:spcAft>
            </a:pPr>
            <a:r>
              <a:rPr lang="de-DE" sz="1100" b="1" dirty="0">
                <a:solidFill>
                  <a:srgbClr val="262626"/>
                </a:solidFill>
              </a:rPr>
              <a:t>SQLite /fshpc → SQLite knotenlokal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gleicher Storage-Typ, anderer Ablageort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Overhead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Overhead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12,5–29,9 s → </a:t>
            </a:r>
            <a:r>
              <a:rPr lang="de-DE" sz="1100" b="1" dirty="0">
                <a:solidFill>
                  <a:srgbClr val="C1002A"/>
                </a:solidFill>
              </a:rPr>
              <a:t>3,5–11,6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in allen 12 Konfigurationen geringer · Faktor 2,2–3,7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Koordination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Auch Koordinationszeiten sinken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Compute → Aggregate: 4,96 s → 1,44 s</a:t>
            </a:r>
          </a:p>
          <a:p>
            <a:pPr algn="l">
              <a:spcAft>
                <a:spcPts val="0"/>
              </a:spcAft>
            </a:pPr>
            <a:r>
              <a:rPr lang="de-DE" sz="1100" dirty="0">
                <a:solidFill>
                  <a:srgbClr val="262626"/>
                </a:solidFill>
              </a:rPr>
              <a:t>Startspreizung (4 Chunks): 2,99 s → 0,50 s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PostgreSQL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595959"/>
                </a:solidFill>
              </a:rPr>
              <a:t>PostgreSQL /fshpc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595959"/>
                </a:solidFill>
              </a:rPr>
              <a:t>Overhead: 8,4–15,4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zusätzliche Einordnung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Schlussfolgerung"/>
          <p:cNvSpPr txBox="1"/>
          <p:nvPr/>
        </p:nvSpPr>
        <p:spPr>
          <a:xfrm>
            <a:off x="1219200" y="5537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400" b="1" dirty="0">
                <a:solidFill>
                  <a:srgbClr val="262626"/>
                </a:solidFill>
              </a:rPr>
              <a:t>Der Ablageort beeinflusst die gemessenen Zeiten von AiiDA deutlich.</a:t>
            </a:r>
          </a:p>
          <a:p>
            <a:pPr algn="l">
              <a:spcAft>
                <a:spcPts val="0"/>
              </a:spcAft>
            </a:pPr>
            <a:r>
              <a:rPr lang="de-DE" sz="1100" dirty="0" err="1">
                <a:solidFill>
                  <a:srgbClr val="595959"/>
                </a:solidFill>
              </a:rPr>
              <a:t>AiiDA</a:t>
            </a:r>
            <a:r>
              <a:rPr lang="de-DE" sz="1100" dirty="0">
                <a:solidFill>
                  <a:srgbClr val="595959"/>
                </a:solidFill>
              </a:rPr>
              <a:t> liegt auch mit der schnellsten Konfiguration in nahezu allen Fällen über den der anderen drei WMS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19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2370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5E976B-FFD3-889A-ABD0-838FAB26D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Antworten auf die Forschungsfragen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Kürzel F1"/>
          <p:cNvSpPr txBox="1"/>
          <p:nvPr/>
        </p:nvSpPr>
        <p:spPr>
          <a:xfrm>
            <a:off x="1219200" y="16002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F1</a:t>
            </a:r>
          </a:p>
        </p:txBody>
      </p:sp>
      <p:sp>
        <p:nvSpPr>
          <p:cNvPr id="22" name="Kategorie F1"/>
          <p:cNvSpPr txBox="1"/>
          <p:nvPr/>
        </p:nvSpPr>
        <p:spPr>
          <a:xfrm>
            <a:off x="1778000" y="16764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MODELLIERUNG</a:t>
            </a:r>
          </a:p>
        </p:txBody>
      </p:sp>
      <p:sp>
        <p:nvSpPr>
          <p:cNvPr id="23" name="Kernsatz F1"/>
          <p:cNvSpPr txBox="1"/>
          <p:nvPr/>
        </p:nvSpPr>
        <p:spPr>
          <a:xfrm>
            <a:off x="3810000" y="16256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Alle fünf Systeme können beide Workflow-Muster abbilden, unterscheiden sich aber in der Art ihrer Modellierung.</a:t>
            </a:r>
          </a:p>
        </p:txBody>
      </p:sp>
      <p:sp>
        <p:nvSpPr>
          <p:cNvPr id="24" name="Kürzel F2"/>
          <p:cNvSpPr txBox="1"/>
          <p:nvPr/>
        </p:nvSpPr>
        <p:spPr>
          <a:xfrm>
            <a:off x="1219200" y="22606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F2</a:t>
            </a:r>
          </a:p>
        </p:txBody>
      </p:sp>
      <p:sp>
        <p:nvSpPr>
          <p:cNvPr id="25" name="Kategorie F2"/>
          <p:cNvSpPr txBox="1"/>
          <p:nvPr/>
        </p:nvSpPr>
        <p:spPr>
          <a:xfrm>
            <a:off x="1778000" y="23368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LAUFZEITVERHALTEN</a:t>
            </a:r>
          </a:p>
        </p:txBody>
      </p:sp>
      <p:sp>
        <p:nvSpPr>
          <p:cNvPr id="26" name="Kernsatz F2"/>
          <p:cNvSpPr txBox="1"/>
          <p:nvPr/>
        </p:nvSpPr>
        <p:spPr>
          <a:xfrm>
            <a:off x="3810000" y="22860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Trotz identischer Rechenlogik zeigen die Systeme deutliche Unterschiede in Overhead und Koordination.</a:t>
            </a:r>
          </a:p>
        </p:txBody>
      </p:sp>
      <p:sp>
        <p:nvSpPr>
          <p:cNvPr id="27" name="Kürzel F3"/>
          <p:cNvSpPr txBox="1"/>
          <p:nvPr/>
        </p:nvSpPr>
        <p:spPr>
          <a:xfrm>
            <a:off x="1219200" y="29210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F3</a:t>
            </a:r>
          </a:p>
        </p:txBody>
      </p:sp>
      <p:sp>
        <p:nvSpPr>
          <p:cNvPr id="28" name="Kategorie F3"/>
          <p:cNvSpPr txBox="1"/>
          <p:nvPr/>
        </p:nvSpPr>
        <p:spPr>
          <a:xfrm>
            <a:off x="1778000" y="29972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HPC-EINSATZ</a:t>
            </a:r>
          </a:p>
        </p:txBody>
      </p:sp>
      <p:sp>
        <p:nvSpPr>
          <p:cNvPr id="29" name="Kernsatz F3"/>
          <p:cNvSpPr txBox="1"/>
          <p:nvPr/>
        </p:nvSpPr>
        <p:spPr>
          <a:xfrm>
            <a:off x="3810000" y="29464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Vier Systeme ließen sich auf MOGON betreiben,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-Integration und Ausführungsumgebung beeinflussen die Laufzeiten wesentlich.</a:t>
            </a:r>
          </a:p>
        </p:txBody>
      </p:sp>
      <p:cxnSp>
        <p:nvCxnSpPr>
          <p:cNvPr id="30" name="Trennlinie F4"/>
          <p:cNvCxnSpPr/>
          <p:nvPr/>
        </p:nvCxnSpPr>
        <p:spPr>
          <a:xfrm>
            <a:off x="1219200" y="3657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Kürzel F4"/>
          <p:cNvSpPr txBox="1"/>
          <p:nvPr/>
        </p:nvSpPr>
        <p:spPr>
          <a:xfrm>
            <a:off x="1219200" y="38100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F4</a:t>
            </a:r>
          </a:p>
        </p:txBody>
      </p:sp>
      <p:sp>
        <p:nvSpPr>
          <p:cNvPr id="32" name="Kategorie F4"/>
          <p:cNvSpPr txBox="1"/>
          <p:nvPr/>
        </p:nvSpPr>
        <p:spPr>
          <a:xfrm>
            <a:off x="1778000" y="38862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EIGNUNG</a:t>
            </a:r>
          </a:p>
        </p:txBody>
      </p:sp>
      <p:sp>
        <p:nvSpPr>
          <p:cNvPr id="33" name="Kernsatz F4"/>
          <p:cNvSpPr txBox="1"/>
          <p:nvPr/>
        </p:nvSpPr>
        <p:spPr>
          <a:xfrm>
            <a:off x="3810000" y="38354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Es ergibt sich keine allgemeine Rangfolge, die Eignung hängt vom jeweiligen Anwendungsfall und den priorisierten Eigenschaften ab.</a:t>
            </a:r>
          </a:p>
        </p:txBody>
      </p:sp>
      <p:sp>
        <p:nvSpPr>
          <p:cNvPr id="34" name="Systeme Namen"/>
          <p:cNvSpPr txBox="1"/>
          <p:nvPr/>
        </p:nvSpPr>
        <p:spPr>
          <a:xfrm>
            <a:off x="3810000" y="4521200"/>
            <a:ext cx="12700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Nextflow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StreamFlow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Merlin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35" name="Systeme Einordnung"/>
          <p:cNvSpPr txBox="1"/>
          <p:nvPr/>
        </p:nvSpPr>
        <p:spPr>
          <a:xfrm>
            <a:off x="5207000" y="4521200"/>
            <a:ext cx="6070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Datenfluss · geringer Overhead · direkte Slurm-Anbindung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CWL · Trennung von Workflow und Ausführungsumgebung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Worker-Modell · mehrere Aufgaben in einer Allokation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dauerhafte Nachvollziehbarkeit · höherer Overhead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lokal sehr hoher Overhead · keine HPC-Untersuchung</a:t>
            </a:r>
          </a:p>
        </p:txBody>
      </p:sp>
      <p:sp>
        <p:nvSpPr>
          <p:cNvPr id="3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20</a:t>
            </a:r>
          </a:p>
        </p:txBody>
      </p:sp>
      <p:cxnSp>
        <p:nvCxnSpPr>
          <p:cNvPr id="3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4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4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46" name="Marker Fazit"/>
          <p:cNvSpPr/>
          <p:nvPr/>
        </p:nvSpPr>
        <p:spPr>
          <a:xfrm>
            <a:off x="625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624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CD5F66-DCB5-B1DE-3254-43005622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Grenzen und Schlussfolgerung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Grenzen"/>
          <p:cNvSpPr txBox="1"/>
          <p:nvPr/>
        </p:nvSpPr>
        <p:spPr>
          <a:xfrm>
            <a:off x="1219200" y="1574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GRENZEN DER UNTERSUCHUNG</a:t>
            </a:r>
          </a:p>
        </p:txBody>
      </p:sp>
      <p:sp>
        <p:nvSpPr>
          <p:cNvPr id="22" name="Grenze Zwei Workflow-Muster"/>
          <p:cNvSpPr txBox="1"/>
          <p:nvPr/>
        </p:nvSpPr>
        <p:spPr>
          <a:xfrm>
            <a:off x="1219200" y="1930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Zwei Workflow-Muster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keine komplexeren oder verschachtelten Workflows</a:t>
            </a:r>
          </a:p>
        </p:txBody>
      </p:sp>
      <p:sp>
        <p:nvSpPr>
          <p:cNvPr id="23" name="Grenze Kontrollierte Rechenlast"/>
          <p:cNvSpPr txBox="1"/>
          <p:nvPr/>
        </p:nvSpPr>
        <p:spPr>
          <a:xfrm>
            <a:off x="6451600" y="1930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Kontrollierte Rechenlast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keine reale wissenschaftliche Anwendung</a:t>
            </a:r>
          </a:p>
        </p:txBody>
      </p:sp>
      <p:sp>
        <p:nvSpPr>
          <p:cNvPr id="24" name="Grenze Begrenzte Parallelität"/>
          <p:cNvSpPr txBox="1"/>
          <p:nvPr/>
        </p:nvSpPr>
        <p:spPr>
          <a:xfrm>
            <a:off x="1219200" y="2692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Begrenzte Parallelität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maximal 4 Teilstücke</a:t>
            </a:r>
          </a:p>
        </p:txBody>
      </p:sp>
      <p:sp>
        <p:nvSpPr>
          <p:cNvPr id="25" name="Grenze Begrenzte Wiederholungszahl"/>
          <p:cNvSpPr txBox="1"/>
          <p:nvPr/>
        </p:nvSpPr>
        <p:spPr>
          <a:xfrm>
            <a:off x="6451600" y="2692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Begrenzte Wiederholungszahl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5 Wiederholungen · long: 3</a:t>
            </a:r>
          </a:p>
        </p:txBody>
      </p:sp>
      <p:cxnSp>
        <p:nvCxnSpPr>
          <p:cNvPr id="26" name="Trennlinie"/>
          <p:cNvCxnSpPr/>
          <p:nvPr/>
        </p:nvCxnSpPr>
        <p:spPr>
          <a:xfrm>
            <a:off x="1219200" y="3581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Label Schlussfolgerung"/>
          <p:cNvSpPr txBox="1"/>
          <p:nvPr/>
        </p:nvSpPr>
        <p:spPr>
          <a:xfrm>
            <a:off x="1219200" y="3810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SCHLUSSFOLGERUNG</a:t>
            </a:r>
          </a:p>
        </p:txBody>
      </p:sp>
      <p:sp>
        <p:nvSpPr>
          <p:cNvPr id="28" name="Kernaussage"/>
          <p:cNvSpPr txBox="1"/>
          <p:nvPr/>
        </p:nvSpPr>
        <p:spPr>
          <a:xfrm>
            <a:off x="1219200" y="4140200"/>
            <a:ext cx="10058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3000" b="1" dirty="0">
                <a:solidFill>
                  <a:srgbClr val="262626"/>
                </a:solidFill>
              </a:rPr>
              <a:t>Es gibt kein allgemein bestes System.</a:t>
            </a:r>
          </a:p>
        </p:txBody>
      </p:sp>
      <p:sp>
        <p:nvSpPr>
          <p:cNvPr id="29" name="Erläuterung"/>
          <p:cNvSpPr txBox="1"/>
          <p:nvPr/>
        </p:nvSpPr>
        <p:spPr>
          <a:xfrm>
            <a:off x="1219200" y="4876800"/>
            <a:ext cx="8128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500" dirty="0">
                <a:solidFill>
                  <a:srgbClr val="595959"/>
                </a:solidFill>
              </a:rPr>
              <a:t>Welches System geeignet ist, hängt davon ab, welche Eigenschaften für den jeweiligen Anwendungsfall wichtig sind.</a:t>
            </a:r>
          </a:p>
        </p:txBody>
      </p:sp>
      <p:sp>
        <p:nvSpPr>
          <p:cNvPr id="3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21</a:t>
            </a:r>
          </a:p>
        </p:txBody>
      </p:sp>
      <p:cxnSp>
        <p:nvCxnSpPr>
          <p:cNvPr id="31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2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4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6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38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40" name="Marker Fazit"/>
          <p:cNvSpPr/>
          <p:nvPr/>
        </p:nvSpPr>
        <p:spPr>
          <a:xfrm>
            <a:off x="625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983417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3E5E2F-3F12-D116-7CE7-D6ECFF7D2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lang="de-DE" sz="2600" b="1" dirty="0">
                <a:solidFill>
                  <a:srgbClr val="262626"/>
                </a:solidFill>
              </a:rPr>
              <a:t>Quellenverzeichnis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9FB2-E4B2-A71F-E04B-B10EEFD4F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10058400" cy="3810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de-DE" sz="1400" b="1" dirty="0">
                <a:solidFill>
                  <a:srgbClr val="262626"/>
                </a:solidFill>
              </a:rPr>
              <a:t>Logos der Workflow-Management-Systeme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Nextflow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https://workflows.community/systems/nextflow/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StreamFlow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https://workflows.community/systems/streamflow/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Merlin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https://workflows.community/systems/merlin/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Pegasus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https://workflows.community/systems/pegasus/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AiiDA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https://workflows.community/systems/aiida-core/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Abruf: 01.09.2026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23794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1506</Words>
  <Application>Microsoft Macintosh PowerPoint</Application>
  <PresentationFormat>Breitbild</PresentationFormat>
  <Paragraphs>458</Paragraphs>
  <Slides>22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  <vt:lpstr>Modellierung des Scatter-Gather-Musters</vt:lpstr>
      <vt:lpstr>Unterschiedliche Ausführungsmodelle</vt:lpstr>
      <vt:lpstr>Lokale Untersuchung: WMS-Overhead</vt:lpstr>
      <vt:lpstr>Scatter-Gather: Gesamtlaufzeit</vt:lpstr>
      <vt:lpstr>Übergangslatenzen</vt:lpstr>
      <vt:lpstr>Startspreizung</vt:lpstr>
      <vt:lpstr>Von lokal zu MOGON</vt:lpstr>
      <vt:lpstr>Regulärer Slurm-Betrieb</vt:lpstr>
      <vt:lpstr>WMS-Vergleich auf dedizierter Ressource</vt:lpstr>
      <vt:lpstr>Einfluss des Ablageorts bei AiiDA</vt:lpstr>
      <vt:lpstr>Antworten auf die Forschungsfragen</vt:lpstr>
      <vt:lpstr>Grenzen und Schlussfolgerung</vt:lpstr>
      <vt:lpstr>Quellenverzeichnis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13</cp:revision>
  <dcterms:created xsi:type="dcterms:W3CDTF">2026-09-02T08:10:57Z</dcterms:created>
  <dcterms:modified xsi:type="dcterms:W3CDTF">2026-09-04T19:52:37Z</dcterms:modified>
</cp:coreProperties>
</file>