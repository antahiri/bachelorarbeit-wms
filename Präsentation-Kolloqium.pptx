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9" r:id="rId2"/>
    <p:sldId id="263" r:id="rId3"/>
    <p:sldId id="267" r:id="rId4"/>
    <p:sldId id="291" r:id="rId5"/>
    <p:sldId id="274" r:id="rId6"/>
    <p:sldId id="276" r:id="rId7"/>
    <p:sldId id="280" r:id="rId8"/>
    <p:sldId id="285" r:id="rId9"/>
    <p:sldId id="296" r:id="rId10"/>
    <p:sldId id="300" r:id="rId11"/>
    <p:sldId id="303" r:id="rId12"/>
    <p:sldId id="306" r:id="rId13"/>
    <p:sldId id="308" r:id="rId14"/>
    <p:sldId id="313" r:id="rId15"/>
    <p:sldId id="314" r:id="rId1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99"/>
    <p:restoredTop sz="94315"/>
  </p:normalViewPr>
  <p:slideViewPr>
    <p:cSldViewPr snapToGrid="0">
      <p:cViewPr>
        <p:scale>
          <a:sx n="68" d="100"/>
          <a:sy n="68" d="100"/>
        </p:scale>
        <p:origin x="256" y="1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92D6B-DA9F-DA49-93CB-1A27F22C3466}" type="datetimeFigureOut">
              <a:rPr lang="de-DE" smtClean="0"/>
              <a:t>02.09.26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54616F-5B70-3840-955D-6DB355250DC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50511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4616F-5B70-3840-955D-6DB355250DC4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1218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54616F-5B70-3840-955D-6DB355250DC4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2941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F50E0F-8593-420A-2D75-82C1B0F92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7D1655A-5FB5-571B-FD71-CF9BF0C1F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65FB02-738D-1281-7553-0855AAA44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01D3-3982-F640-A1B2-3751BC1B5182}" type="datetimeFigureOut">
              <a:rPr lang="de-DE" smtClean="0"/>
              <a:t>02.09.26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7699E5-73E4-77C8-59D7-7E39C3414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355D19-8CDD-4E41-85CA-FB389F79F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16F5-7D2B-304B-B8C9-4515AE357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9698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AABCC9-53A4-0991-9AED-A62B1A7F9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6BC21F4-58F8-CC7F-0305-5A7CD9407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F09832A-894B-AB1B-27BC-8A84391C2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01D3-3982-F640-A1B2-3751BC1B5182}" type="datetimeFigureOut">
              <a:rPr lang="de-DE" smtClean="0"/>
              <a:t>02.09.26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225C928-5C95-FEB3-415D-4F9D3BE56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A21753-BC8A-B894-7E32-13B8A7E7C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16F5-7D2B-304B-B8C9-4515AE357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6832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79F419A-84EA-A481-EBD1-3AF27D34E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20F743F-31A8-161E-4CF0-522CA1F710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2EB062F-DEED-F21A-AA21-06A675870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01D3-3982-F640-A1B2-3751BC1B5182}" type="datetimeFigureOut">
              <a:rPr lang="de-DE" smtClean="0"/>
              <a:t>02.09.26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879017-5B9F-9E6E-AF13-F9C16E5D8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7A2555-0902-D5F1-2652-13CC8B1A0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16F5-7D2B-304B-B8C9-4515AE357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4497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B2405A-DD12-D70B-329D-040566BA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1096FC5-9214-AC70-AC50-D682885BEF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15BE708-DD60-E4A6-109A-CCCAC3D346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0B5C123-A46E-2F2A-0740-3228B18B2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01D3-3982-F640-A1B2-3751BC1B5182}" type="datetimeFigureOut">
              <a:rPr lang="de-DE" smtClean="0"/>
              <a:t>02.09.26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1B2481C-C5E0-27EE-5A6D-B952347E5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A45667-646E-B321-C774-CCD2C8C31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16F5-7D2B-304B-B8C9-4515AE357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5232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11EDDD-6938-4A54-797B-34B244001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5065358-23CA-4B2E-1F39-BC3390C25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EBCEB1C-757F-AEBF-A81D-F171E014B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0506628-AF50-A969-D785-B376552D56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B7EB69D-712F-8BC8-F8B4-333C854DFB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2AB27A8-523E-0230-5A39-DADA6ECF7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01D3-3982-F640-A1B2-3751BC1B5182}" type="datetimeFigureOut">
              <a:rPr lang="de-DE" smtClean="0"/>
              <a:t>02.09.26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C5CCFDB-A6B5-DD8C-07EC-5B26AC83B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DAF01A1-7D54-DC3B-AD23-362B14311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16F5-7D2B-304B-B8C9-4515AE357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1757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EEBA1D-EE2B-6F6E-487B-42EC75163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AAD2D4D-8CC6-21E0-8B77-AFF1DB409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01D3-3982-F640-A1B2-3751BC1B5182}" type="datetimeFigureOut">
              <a:rPr lang="de-DE" smtClean="0"/>
              <a:t>02.09.26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F75E81C-A439-3D5C-E5DA-B1912C0D0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09B47DB-9DF7-E563-AD18-C1F083FFC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16F5-7D2B-304B-B8C9-4515AE357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2708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4BCA15D-3492-659F-FA6A-C9BD32456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01D3-3982-F640-A1B2-3751BC1B5182}" type="datetimeFigureOut">
              <a:rPr lang="de-DE" smtClean="0"/>
              <a:t>02.09.26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D0F986B-D57F-6710-BB0A-DCCAA7CB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6AC9107-711F-C31A-F818-C3D5CE714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16F5-7D2B-304B-B8C9-4515AE357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2505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C861DD-C9C2-5AFE-45DA-194B172B9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9DDF6B-8EAE-2EE7-D4C8-52C09EF8D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06DD949-8231-0150-ABAE-4EE836BAB3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BE646C8-C9A4-03B5-20E0-C45698E62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01D3-3982-F640-A1B2-3751BC1B5182}" type="datetimeFigureOut">
              <a:rPr lang="de-DE" smtClean="0"/>
              <a:t>02.09.26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17717AB-93D7-0D79-142C-C7B4D8B2D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2A27E8-C2DA-8A8E-D5B3-AB1FFADD2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16F5-7D2B-304B-B8C9-4515AE357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542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A2C80C-80ED-BAB0-4F70-97B3F7225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93B90B1-A07E-483B-B97E-26F9BE680C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797912A-483D-09A9-AEE2-F6701B2435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63F6C31-BCA2-DEA4-54FE-F774ED630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01D3-3982-F640-A1B2-3751BC1B5182}" type="datetimeFigureOut">
              <a:rPr lang="de-DE" smtClean="0"/>
              <a:t>02.09.26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BB75D75-E0FD-B783-B8D0-18B62AC8A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62CAB9-E443-5F2C-AEB2-16BAE1865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16F5-7D2B-304B-B8C9-4515AE357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5336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909848-8AF0-EA1A-2AC8-FA46EB857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8F37DC3-5562-4CDB-EC8D-01E5B0FE0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9A1DDC-C138-638F-7F12-FC20DCB1D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01D3-3982-F640-A1B2-3751BC1B5182}" type="datetimeFigureOut">
              <a:rPr lang="de-DE" smtClean="0"/>
              <a:t>02.09.26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73A8E5-252C-330E-6414-A183A0154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FB3B56-0B25-094F-EAEF-C6801E014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16F5-7D2B-304B-B8C9-4515AE357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5949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CA9F875-39F0-3ED2-D274-095402C72C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7F9079D-C113-57B4-B1DB-7A53A7E18F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764C16-B471-5B8C-C717-1E12DF339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3801D3-3982-F640-A1B2-3751BC1B5182}" type="datetimeFigureOut">
              <a:rPr lang="de-DE" smtClean="0"/>
              <a:t>02.09.26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4DDA1BB-4DE0-DA65-AF3F-545361815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3D84A1-1540-96E1-2FED-1D6DDDFF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B016F5-7D2B-304B-B8C9-4515AE357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42926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F52D09E-EBB7-8407-96A9-07AB3DAFD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63B2504-2EC5-117D-F557-47A296530E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2E62DD-CEA8-65C2-3721-9B6B17DDC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3801D3-3982-F640-A1B2-3751BC1B5182}" type="datetimeFigureOut">
              <a:rPr lang="de-DE" smtClean="0"/>
              <a:t>02.09.26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064778-EACE-D3CC-3BE6-37FB1FAE9D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D380E6-1364-47C6-3352-C304EAC115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B016F5-7D2B-304B-B8C9-4515AE357C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26463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FAB960-80E8-7A60-6571-37499217C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9200" y="1498600"/>
            <a:ext cx="9652000" cy="1905000"/>
          </a:xfr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de-DE" sz="3600" b="1" dirty="0">
                <a:solidFill>
                  <a:srgbClr val="262626"/>
                </a:solidFill>
              </a:rPr>
              <a:t>Systematische Betrachtung ausgewählter</a:t>
            </a:r>
            <a:br>
              <a:rPr lang="de-DE" sz="3600" b="1" dirty="0">
                <a:solidFill>
                  <a:srgbClr val="262626"/>
                </a:solidFill>
              </a:rPr>
            </a:br>
            <a:r>
              <a:rPr lang="de-DE" sz="3600" b="1" dirty="0">
                <a:solidFill>
                  <a:srgbClr val="262626"/>
                </a:solidFill>
              </a:rPr>
              <a:t>Workflow-Management-Systeme</a:t>
            </a:r>
            <a:br>
              <a:rPr lang="de-DE" sz="3600" b="1" dirty="0">
                <a:solidFill>
                  <a:srgbClr val="262626"/>
                </a:solidFill>
              </a:rPr>
            </a:br>
            <a:r>
              <a:rPr lang="de-DE" sz="3600" b="1" dirty="0">
                <a:solidFill>
                  <a:srgbClr val="262626"/>
                </a:solidFill>
              </a:rPr>
              <a:t>für HPC-Umgebungen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6AFC276-4B97-FDD6-FB28-49BEFD406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3810000"/>
            <a:ext cx="8890000" cy="2776538"/>
          </a:xfrm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1400"/>
              </a:spcAft>
            </a:pPr>
            <a:r>
              <a:rPr lang="de-DE" sz="1400" b="1" spc="200" dirty="0">
                <a:solidFill>
                  <a:srgbClr val="C1002A"/>
                </a:solidFill>
              </a:rPr>
              <a:t>BACHELORARBEIT</a:t>
            </a:r>
          </a:p>
          <a:p>
            <a:pPr algn="l">
              <a:spcAft>
                <a:spcPts val="1200"/>
              </a:spcAft>
            </a:pPr>
            <a:r>
              <a:rPr lang="de-DE" sz="2000" b="1" dirty="0">
                <a:solidFill>
                  <a:srgbClr val="262626"/>
                </a:solidFill>
              </a:rPr>
              <a:t>Anas Tahiri</a:t>
            </a:r>
          </a:p>
          <a:p>
            <a:pPr algn="l">
              <a:spcAft>
                <a:spcPts val="200"/>
              </a:spcAft>
            </a:pPr>
            <a:r>
              <a:rPr lang="de-DE" sz="1500" dirty="0">
                <a:solidFill>
                  <a:srgbClr val="595959"/>
                </a:solidFill>
              </a:rPr>
              <a:t>Johannes Gutenberg-Universität Mainz</a:t>
            </a:r>
          </a:p>
          <a:p>
            <a:pPr algn="l">
              <a:spcAft>
                <a:spcPts val="1200"/>
              </a:spcAft>
            </a:pPr>
            <a:r>
              <a:rPr lang="de-DE" sz="1500" dirty="0">
                <a:solidFill>
                  <a:srgbClr val="595959"/>
                </a:solidFill>
              </a:rPr>
              <a:t>Gutachter: Prof. Dr. Sarah Neuwirth und Prof. Dr. Nicolai Kuntze</a:t>
            </a:r>
          </a:p>
          <a:p>
            <a:pPr algn="l">
              <a:spcAft>
                <a:spcPts val="1200"/>
              </a:spcAft>
            </a:pPr>
            <a:r>
              <a:rPr lang="de-DE" sz="1500" dirty="0">
                <a:solidFill>
                  <a:srgbClr val="595959"/>
                </a:solidFill>
              </a:rPr>
              <a:t>Betreuung: Niklas </a:t>
            </a:r>
            <a:r>
              <a:rPr lang="de-DE" sz="1500" dirty="0" err="1">
                <a:solidFill>
                  <a:srgbClr val="595959"/>
                </a:solidFill>
              </a:rPr>
              <a:t>Bartelheimer</a:t>
            </a:r>
            <a:r>
              <a:rPr lang="de-DE" sz="1500" dirty="0">
                <a:solidFill>
                  <a:srgbClr val="595959"/>
                </a:solidFill>
              </a:rPr>
              <a:t> und </a:t>
            </a:r>
            <a:r>
              <a:rPr lang="de-DE" sz="1500" dirty="0" err="1">
                <a:solidFill>
                  <a:srgbClr val="595959"/>
                </a:solidFill>
              </a:rPr>
              <a:t>Zhaobin</a:t>
            </a:r>
            <a:r>
              <a:rPr lang="de-DE" sz="1500" dirty="0">
                <a:solidFill>
                  <a:srgbClr val="595959"/>
                </a:solidFill>
              </a:rPr>
              <a:t> Zhu</a:t>
            </a:r>
          </a:p>
          <a:p>
            <a:pPr algn="l"/>
            <a:r>
              <a:rPr lang="de-DE" sz="1400" dirty="0">
                <a:solidFill>
                  <a:srgbClr val="595959"/>
                </a:solidFill>
              </a:rPr>
              <a:t>Kolloquium · 10. September 2026</a:t>
            </a:r>
          </a:p>
        </p:txBody>
      </p:sp>
      <p:sp>
        <p:nvSpPr>
          <p:cNvPr id="10" name="Akzentlinie"/>
          <p:cNvSpPr/>
          <p:nvPr/>
        </p:nvSpPr>
        <p:spPr>
          <a:xfrm>
            <a:off x="914400" y="1498600"/>
            <a:ext cx="50800" cy="16764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C2D479A3-CE8F-8A83-CA37-9FB301976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1656" y="366713"/>
            <a:ext cx="1131887" cy="1131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440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6040461-A3F5-6DBD-101D-778F129C5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812800"/>
            <a:ext cx="10058400" cy="78740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de-DE" sz="2600" b="1" dirty="0">
                <a:solidFill>
                  <a:srgbClr val="262626"/>
                </a:solidFill>
              </a:rPr>
              <a:t>Überblick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8F2FD3-36AE-D29F-70A5-FC217FC82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159000"/>
            <a:ext cx="8890000" cy="3683000"/>
          </a:xfrm>
        </p:spPr>
        <p:txBody>
          <a:bodyPr wrap="square" lIns="0" tIns="0" rIns="0" bIns="0" anchor="t">
            <a:normAutofit/>
          </a:bodyPr>
          <a:lstStyle/>
          <a:p>
            <a:pPr marL="711200" indent="-711200" algn="l">
              <a:spcAft>
                <a:spcPts val="2400"/>
              </a:spcAft>
              <a:buNone/>
            </a:pPr>
            <a:r>
              <a:rPr lang="de-DE" sz="2000" b="1" dirty="0">
                <a:solidFill>
                  <a:srgbClr val="C1002A"/>
                </a:solidFill>
              </a:rPr>
              <a:t>01</a:t>
            </a:r>
            <a:r>
              <a:rPr lang="de-DE" sz="2000" dirty="0">
                <a:solidFill>
                  <a:srgbClr val="262626"/>
                </a:solidFill>
              </a:rPr>
              <a:t>	Motivation und Fragestellung</a:t>
            </a:r>
          </a:p>
          <a:p>
            <a:pPr marL="711200" indent="-711200" algn="l">
              <a:spcAft>
                <a:spcPts val="2400"/>
              </a:spcAft>
              <a:buNone/>
            </a:pPr>
            <a:r>
              <a:rPr lang="de-DE" sz="2000" b="1" dirty="0">
                <a:solidFill>
                  <a:srgbClr val="C1002A"/>
                </a:solidFill>
              </a:rPr>
              <a:t>02</a:t>
            </a:r>
            <a:r>
              <a:rPr lang="de-DE" sz="2000" dirty="0">
                <a:solidFill>
                  <a:srgbClr val="262626"/>
                </a:solidFill>
              </a:rPr>
              <a:t>	Methodik</a:t>
            </a:r>
          </a:p>
          <a:p>
            <a:pPr marL="711200" indent="-711200" algn="l">
              <a:spcAft>
                <a:spcPts val="2400"/>
              </a:spcAft>
              <a:buNone/>
            </a:pPr>
            <a:r>
              <a:rPr lang="de-DE" sz="2000" b="1" dirty="0">
                <a:solidFill>
                  <a:srgbClr val="C1002A"/>
                </a:solidFill>
              </a:rPr>
              <a:t>03</a:t>
            </a:r>
            <a:r>
              <a:rPr lang="de-DE" sz="2000" dirty="0">
                <a:solidFill>
                  <a:srgbClr val="262626"/>
                </a:solidFill>
              </a:rPr>
              <a:t>	Modellierung und Ausführung der WMS</a:t>
            </a:r>
          </a:p>
          <a:p>
            <a:pPr marL="711200" indent="-711200" algn="l">
              <a:spcAft>
                <a:spcPts val="2400"/>
              </a:spcAft>
              <a:buNone/>
            </a:pPr>
            <a:r>
              <a:rPr lang="de-DE" sz="2000" b="1" dirty="0">
                <a:solidFill>
                  <a:srgbClr val="C1002A"/>
                </a:solidFill>
              </a:rPr>
              <a:t>04</a:t>
            </a:r>
            <a:r>
              <a:rPr lang="de-DE" sz="2000" dirty="0">
                <a:solidFill>
                  <a:srgbClr val="262626"/>
                </a:solidFill>
              </a:rPr>
              <a:t>	Praktische Untersuchung und Ergebnisse</a:t>
            </a:r>
          </a:p>
          <a:p>
            <a:pPr marL="711200" indent="-711200" algn="l">
              <a:spcAft>
                <a:spcPts val="2400"/>
              </a:spcAft>
              <a:buNone/>
            </a:pPr>
            <a:r>
              <a:rPr lang="de-DE" sz="2000" b="1" dirty="0">
                <a:solidFill>
                  <a:srgbClr val="C1002A"/>
                </a:solidFill>
              </a:rPr>
              <a:t>05</a:t>
            </a:r>
            <a:r>
              <a:rPr lang="de-DE" sz="2000" dirty="0">
                <a:solidFill>
                  <a:srgbClr val="262626"/>
                </a:solidFill>
              </a:rPr>
              <a:t>	Forschungsfragen und Fazit</a:t>
            </a:r>
          </a:p>
        </p:txBody>
      </p:sp>
      <p:sp>
        <p:nvSpPr>
          <p:cNvPr id="20" name="Akzentlinie"/>
          <p:cNvSpPr/>
          <p:nvPr/>
        </p:nvSpPr>
        <p:spPr>
          <a:xfrm>
            <a:off x="914400" y="812800"/>
            <a:ext cx="50800" cy="4318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" name="Foliennummer"/>
          <p:cNvSpPr txBox="1"/>
          <p:nvPr/>
        </p:nvSpPr>
        <p:spPr>
          <a:xfrm>
            <a:off x="10769600" y="6197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de-DE" sz="1200" dirty="0">
                <a:solidFill>
                  <a:srgbClr val="8C8C8C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73996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D9A5A4-C2C6-495D-3A92-E3411F52F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812800"/>
            <a:ext cx="10058400" cy="1016000"/>
          </a:xfrm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de-DE" sz="2600" b="1" dirty="0">
                <a:solidFill>
                  <a:srgbClr val="262626"/>
                </a:solidFill>
              </a:rPr>
              <a:t>Ein wissenschaftlicher Workflow verbindet mehrere Rechenschritte zu einem gemeinsamen Ablauf.</a:t>
            </a:r>
          </a:p>
        </p:txBody>
      </p:sp>
      <p:sp>
        <p:nvSpPr>
          <p:cNvPr id="20" name="Shape 20"/>
          <p:cNvSpPr/>
          <p:nvPr/>
        </p:nvSpPr>
        <p:spPr>
          <a:xfrm>
            <a:off x="914400" y="812800"/>
            <a:ext cx="50800" cy="7874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 wrap="square" lIns="0" tIns="0" rIns="0" bIns="0" anchor="ctr"/>
          <a:lstStyle/>
          <a:p>
            <a:endParaRPr lang="de-DE"/>
          </a:p>
        </p:txBody>
      </p:sp>
      <p:cxnSp>
        <p:nvCxnSpPr>
          <p:cNvPr id="21" name="Arrow 21"/>
          <p:cNvCxnSpPr/>
          <p:nvPr/>
        </p:nvCxnSpPr>
        <p:spPr>
          <a:xfrm>
            <a:off x="1219200" y="3581400"/>
            <a:ext cx="812800" cy="0"/>
          </a:xfrm>
          <a:prstGeom prst="straightConnector1">
            <a:avLst/>
          </a:prstGeom>
          <a:ln w="15875">
            <a:solidFill>
              <a:srgbClr val="262626"/>
            </a:solidFill>
            <a:tailEnd type="triangle" w="med" len="med"/>
          </a:ln>
        </p:spPr>
      </p:cxnSp>
      <p:sp>
        <p:nvSpPr>
          <p:cNvPr id="22" name="Label 22"/>
          <p:cNvSpPr txBox="1"/>
          <p:nvPr/>
        </p:nvSpPr>
        <p:spPr>
          <a:xfrm>
            <a:off x="1143000" y="2971800"/>
            <a:ext cx="9652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de-DE" sz="1400" dirty="0">
                <a:solidFill>
                  <a:srgbClr val="595959"/>
                </a:solidFill>
              </a:rPr>
              <a:t>Eingabe</a:t>
            </a:r>
          </a:p>
        </p:txBody>
      </p:sp>
      <p:sp>
        <p:nvSpPr>
          <p:cNvPr id="23" name="Shape 23"/>
          <p:cNvSpPr/>
          <p:nvPr/>
        </p:nvSpPr>
        <p:spPr>
          <a:xfrm>
            <a:off x="2032000" y="3302000"/>
            <a:ext cx="1524000" cy="55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626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de-DE" sz="1400" dirty="0">
                <a:solidFill>
                  <a:srgbClr val="262626"/>
                </a:solidFill>
              </a:rPr>
              <a:t>Rechenschritt</a:t>
            </a:r>
          </a:p>
        </p:txBody>
      </p:sp>
      <p:cxnSp>
        <p:nvCxnSpPr>
          <p:cNvPr id="24" name="Arrow 24"/>
          <p:cNvCxnSpPr/>
          <p:nvPr/>
        </p:nvCxnSpPr>
        <p:spPr>
          <a:xfrm>
            <a:off x="3556000" y="3581400"/>
            <a:ext cx="812800" cy="0"/>
          </a:xfrm>
          <a:prstGeom prst="straightConnector1">
            <a:avLst/>
          </a:prstGeom>
          <a:ln w="15875">
            <a:solidFill>
              <a:srgbClr val="262626"/>
            </a:solidFill>
            <a:tailEnd type="triangle" w="med" len="med"/>
          </a:ln>
        </p:spPr>
      </p:cxnSp>
      <p:sp>
        <p:nvSpPr>
          <p:cNvPr id="25" name="Label 25"/>
          <p:cNvSpPr txBox="1"/>
          <p:nvPr/>
        </p:nvSpPr>
        <p:spPr>
          <a:xfrm>
            <a:off x="3479800" y="2971800"/>
            <a:ext cx="9652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de-DE" sz="1400" dirty="0">
                <a:solidFill>
                  <a:srgbClr val="595959"/>
                </a:solidFill>
              </a:rPr>
              <a:t>Ausgabe</a:t>
            </a:r>
          </a:p>
        </p:txBody>
      </p:sp>
      <p:sp>
        <p:nvSpPr>
          <p:cNvPr id="26" name="Label 26"/>
          <p:cNvSpPr txBox="1"/>
          <p:nvPr/>
        </p:nvSpPr>
        <p:spPr>
          <a:xfrm>
            <a:off x="1219200" y="4318000"/>
            <a:ext cx="3302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r>
              <a:rPr lang="de-DE" sz="1400" dirty="0">
                <a:solidFill>
                  <a:srgbClr val="595959"/>
                </a:solidFill>
              </a:rPr>
              <a:t>Baustein: ein einzelner Rechenschritt</a:t>
            </a:r>
          </a:p>
        </p:txBody>
      </p:sp>
      <p:sp>
        <p:nvSpPr>
          <p:cNvPr id="27" name="Shape 27"/>
          <p:cNvSpPr/>
          <p:nvPr/>
        </p:nvSpPr>
        <p:spPr>
          <a:xfrm>
            <a:off x="5943600" y="3302000"/>
            <a:ext cx="762000" cy="55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626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de-DE" sz="1600" b="1" dirty="0">
                <a:solidFill>
                  <a:srgbClr val="262626"/>
                </a:solidFill>
              </a:rPr>
              <a:t>A</a:t>
            </a:r>
          </a:p>
        </p:txBody>
      </p:sp>
      <p:sp>
        <p:nvSpPr>
          <p:cNvPr id="28" name="Shape 28"/>
          <p:cNvSpPr/>
          <p:nvPr/>
        </p:nvSpPr>
        <p:spPr>
          <a:xfrm>
            <a:off x="7467600" y="2311400"/>
            <a:ext cx="762000" cy="55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626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de-DE" sz="1600" b="1" dirty="0">
                <a:solidFill>
                  <a:srgbClr val="262626"/>
                </a:solidFill>
              </a:rPr>
              <a:t>B</a:t>
            </a:r>
          </a:p>
        </p:txBody>
      </p:sp>
      <p:sp>
        <p:nvSpPr>
          <p:cNvPr id="29" name="Shape 29"/>
          <p:cNvSpPr/>
          <p:nvPr/>
        </p:nvSpPr>
        <p:spPr>
          <a:xfrm>
            <a:off x="8991600" y="3302000"/>
            <a:ext cx="762000" cy="55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626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de-DE" sz="1600" b="1" dirty="0">
                <a:solidFill>
                  <a:srgbClr val="262626"/>
                </a:solidFill>
              </a:rPr>
              <a:t>C</a:t>
            </a:r>
          </a:p>
        </p:txBody>
      </p:sp>
      <p:sp>
        <p:nvSpPr>
          <p:cNvPr id="30" name="Shape 30"/>
          <p:cNvSpPr/>
          <p:nvPr/>
        </p:nvSpPr>
        <p:spPr>
          <a:xfrm>
            <a:off x="10515600" y="3302000"/>
            <a:ext cx="762000" cy="55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62626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de-DE" sz="1600" b="1" dirty="0">
                <a:solidFill>
                  <a:srgbClr val="262626"/>
                </a:solidFill>
              </a:rPr>
              <a:t>D</a:t>
            </a:r>
          </a:p>
        </p:txBody>
      </p:sp>
      <p:cxnSp>
        <p:nvCxnSpPr>
          <p:cNvPr id="31" name="Arrow 31"/>
          <p:cNvCxnSpPr/>
          <p:nvPr/>
        </p:nvCxnSpPr>
        <p:spPr>
          <a:xfrm flipV="1">
            <a:off x="6705600" y="2590800"/>
            <a:ext cx="762000" cy="990600"/>
          </a:xfrm>
          <a:prstGeom prst="straightConnector1">
            <a:avLst/>
          </a:prstGeom>
          <a:ln w="15875">
            <a:solidFill>
              <a:srgbClr val="262626"/>
            </a:solidFill>
            <a:tailEnd type="triangle" w="med" len="med"/>
          </a:ln>
        </p:spPr>
      </p:cxnSp>
      <p:cxnSp>
        <p:nvCxnSpPr>
          <p:cNvPr id="32" name="Arrow 32"/>
          <p:cNvCxnSpPr/>
          <p:nvPr/>
        </p:nvCxnSpPr>
        <p:spPr>
          <a:xfrm>
            <a:off x="8229600" y="2590800"/>
            <a:ext cx="762000" cy="990600"/>
          </a:xfrm>
          <a:prstGeom prst="straightConnector1">
            <a:avLst/>
          </a:prstGeom>
          <a:ln w="15875">
            <a:solidFill>
              <a:srgbClr val="262626"/>
            </a:solidFill>
            <a:tailEnd type="triangle" w="med" len="med"/>
          </a:ln>
        </p:spPr>
      </p:cxnSp>
      <p:cxnSp>
        <p:nvCxnSpPr>
          <p:cNvPr id="33" name="Arrow 33"/>
          <p:cNvCxnSpPr/>
          <p:nvPr/>
        </p:nvCxnSpPr>
        <p:spPr>
          <a:xfrm>
            <a:off x="6705600" y="3581400"/>
            <a:ext cx="2286000" cy="0"/>
          </a:xfrm>
          <a:prstGeom prst="straightConnector1">
            <a:avLst/>
          </a:prstGeom>
          <a:ln w="15875">
            <a:solidFill>
              <a:srgbClr val="262626"/>
            </a:solidFill>
            <a:tailEnd type="triangle" w="med" len="med"/>
          </a:ln>
        </p:spPr>
      </p:cxnSp>
      <p:cxnSp>
        <p:nvCxnSpPr>
          <p:cNvPr id="34" name="Arrow 34"/>
          <p:cNvCxnSpPr/>
          <p:nvPr/>
        </p:nvCxnSpPr>
        <p:spPr>
          <a:xfrm>
            <a:off x="9753600" y="3581400"/>
            <a:ext cx="762000" cy="0"/>
          </a:xfrm>
          <a:prstGeom prst="straightConnector1">
            <a:avLst/>
          </a:prstGeom>
          <a:ln w="15875">
            <a:solidFill>
              <a:srgbClr val="262626"/>
            </a:solidFill>
            <a:tailEnd type="triangle" w="med" len="med"/>
          </a:ln>
        </p:spPr>
      </p:cxnSp>
      <p:sp>
        <p:nvSpPr>
          <p:cNvPr id="35" name="Shape 35"/>
          <p:cNvSpPr/>
          <p:nvPr/>
        </p:nvSpPr>
        <p:spPr>
          <a:xfrm>
            <a:off x="6985000" y="2959100"/>
            <a:ext cx="203200" cy="254000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C1002A"/>
            </a:solidFill>
          </a:ln>
        </p:spPr>
        <p:txBody>
          <a:bodyPr wrap="square" lIns="0" tIns="0" rIns="0" bIns="0" anchor="ctr"/>
          <a:lstStyle/>
          <a:p>
            <a:endParaRPr lang="de-DE"/>
          </a:p>
        </p:txBody>
      </p:sp>
      <p:sp>
        <p:nvSpPr>
          <p:cNvPr id="36" name="Shape 36"/>
          <p:cNvSpPr/>
          <p:nvPr/>
        </p:nvSpPr>
        <p:spPr>
          <a:xfrm>
            <a:off x="8509000" y="2959100"/>
            <a:ext cx="203200" cy="254000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C1002A"/>
            </a:solidFill>
          </a:ln>
        </p:spPr>
        <p:txBody>
          <a:bodyPr wrap="square" lIns="0" tIns="0" rIns="0" bIns="0" anchor="ctr"/>
          <a:lstStyle/>
          <a:p>
            <a:endParaRPr lang="de-DE"/>
          </a:p>
        </p:txBody>
      </p:sp>
      <p:sp>
        <p:nvSpPr>
          <p:cNvPr id="37" name="Shape 37"/>
          <p:cNvSpPr/>
          <p:nvPr/>
        </p:nvSpPr>
        <p:spPr>
          <a:xfrm>
            <a:off x="7747000" y="3454400"/>
            <a:ext cx="203200" cy="254000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C1002A"/>
            </a:solidFill>
          </a:ln>
        </p:spPr>
        <p:txBody>
          <a:bodyPr wrap="square" lIns="0" tIns="0" rIns="0" bIns="0" anchor="ctr"/>
          <a:lstStyle/>
          <a:p>
            <a:endParaRPr lang="de-DE"/>
          </a:p>
        </p:txBody>
      </p:sp>
      <p:sp>
        <p:nvSpPr>
          <p:cNvPr id="38" name="Shape 38"/>
          <p:cNvSpPr/>
          <p:nvPr/>
        </p:nvSpPr>
        <p:spPr>
          <a:xfrm>
            <a:off x="10033000" y="3454400"/>
            <a:ext cx="203200" cy="254000"/>
          </a:xfrm>
          <a:prstGeom prst="foldedCorner">
            <a:avLst/>
          </a:prstGeom>
          <a:solidFill>
            <a:srgbClr val="FFFFFF"/>
          </a:solidFill>
          <a:ln w="19050">
            <a:solidFill>
              <a:srgbClr val="C1002A"/>
            </a:solidFill>
          </a:ln>
        </p:spPr>
        <p:txBody>
          <a:bodyPr wrap="square" lIns="0" tIns="0" rIns="0" bIns="0" anchor="ctr"/>
          <a:lstStyle/>
          <a:p>
            <a:endParaRPr lang="de-DE"/>
          </a:p>
        </p:txBody>
      </p:sp>
      <p:sp>
        <p:nvSpPr>
          <p:cNvPr id="39" name="Label 39"/>
          <p:cNvSpPr txBox="1"/>
          <p:nvPr/>
        </p:nvSpPr>
        <p:spPr>
          <a:xfrm>
            <a:off x="5943600" y="4318000"/>
            <a:ext cx="533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de-DE" sz="1400" dirty="0">
                <a:solidFill>
                  <a:srgbClr val="595959"/>
                </a:solidFill>
              </a:rPr>
              <a:t>Mehrere verbundene Rechenschritte bilden einen Workflow</a:t>
            </a:r>
          </a:p>
        </p:txBody>
      </p:sp>
      <p:sp>
        <p:nvSpPr>
          <p:cNvPr id="40" name="Foliennummer"/>
          <p:cNvSpPr txBox="1"/>
          <p:nvPr/>
        </p:nvSpPr>
        <p:spPr>
          <a:xfrm>
            <a:off x="10769600" y="6197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de-DE" sz="1200" dirty="0">
                <a:solidFill>
                  <a:srgbClr val="8C8C8C"/>
                </a:solidFill>
              </a:rPr>
              <a:t>3</a:t>
            </a:r>
          </a:p>
        </p:txBody>
      </p:sp>
      <p:cxnSp>
        <p:nvCxnSpPr>
          <p:cNvPr id="50" name="Fortschritt Linie"/>
          <p:cNvCxnSpPr/>
          <p:nvPr/>
        </p:nvCxnSpPr>
        <p:spPr>
          <a:xfrm>
            <a:off x="1219200" y="6172200"/>
            <a:ext cx="5080000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51" name="Marker Motivation"/>
          <p:cNvSpPr/>
          <p:nvPr/>
        </p:nvSpPr>
        <p:spPr>
          <a:xfrm>
            <a:off x="1174750" y="6127750"/>
            <a:ext cx="88900" cy="88900"/>
          </a:xfrm>
          <a:prstGeom prst="ellipse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2" name="Label Motivation"/>
          <p:cNvSpPr txBox="1"/>
          <p:nvPr/>
        </p:nvSpPr>
        <p:spPr>
          <a:xfrm>
            <a:off x="1219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lang="de-DE" sz="1000" b="1" dirty="0">
                <a:solidFill>
                  <a:srgbClr val="C1002A"/>
                </a:solidFill>
              </a:rPr>
              <a:t>Motivation</a:t>
            </a:r>
          </a:p>
        </p:txBody>
      </p:sp>
      <p:sp>
        <p:nvSpPr>
          <p:cNvPr id="53" name="Marker Methodik"/>
          <p:cNvSpPr/>
          <p:nvPr/>
        </p:nvSpPr>
        <p:spPr>
          <a:xfrm>
            <a:off x="245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4" name="Label Methodik"/>
          <p:cNvSpPr txBox="1"/>
          <p:nvPr/>
        </p:nvSpPr>
        <p:spPr>
          <a:xfrm>
            <a:off x="185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Methodik</a:t>
            </a:r>
          </a:p>
        </p:txBody>
      </p:sp>
      <p:sp>
        <p:nvSpPr>
          <p:cNvPr id="55" name="Marker Systeme"/>
          <p:cNvSpPr/>
          <p:nvPr/>
        </p:nvSpPr>
        <p:spPr>
          <a:xfrm>
            <a:off x="372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6" name="Label Systeme"/>
          <p:cNvSpPr txBox="1"/>
          <p:nvPr/>
        </p:nvSpPr>
        <p:spPr>
          <a:xfrm>
            <a:off x="312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Systeme</a:t>
            </a:r>
          </a:p>
        </p:txBody>
      </p:sp>
      <p:sp>
        <p:nvSpPr>
          <p:cNvPr id="57" name="Marker Untersuchung"/>
          <p:cNvSpPr/>
          <p:nvPr/>
        </p:nvSpPr>
        <p:spPr>
          <a:xfrm>
            <a:off x="499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8" name="Label Untersuchung"/>
          <p:cNvSpPr txBox="1"/>
          <p:nvPr/>
        </p:nvSpPr>
        <p:spPr>
          <a:xfrm>
            <a:off x="439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Untersuchung</a:t>
            </a:r>
          </a:p>
        </p:txBody>
      </p:sp>
      <p:sp>
        <p:nvSpPr>
          <p:cNvPr id="59" name="Marker Fazit"/>
          <p:cNvSpPr/>
          <p:nvPr/>
        </p:nvSpPr>
        <p:spPr>
          <a:xfrm>
            <a:off x="626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0" name="Label Fazit"/>
          <p:cNvSpPr txBox="1"/>
          <p:nvPr/>
        </p:nvSpPr>
        <p:spPr>
          <a:xfrm>
            <a:off x="5029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r"/>
            <a:r>
              <a:rPr lang="de-DE" sz="1000" dirty="0">
                <a:solidFill>
                  <a:srgbClr val="A6A6A6"/>
                </a:solidFill>
              </a:rPr>
              <a:t>Fazit</a:t>
            </a:r>
          </a:p>
        </p:txBody>
      </p:sp>
      <p:sp>
        <p:nvSpPr>
          <p:cNvPr id="70" name="Stichpunkte"/>
          <p:cNvSpPr txBox="1"/>
          <p:nvPr/>
        </p:nvSpPr>
        <p:spPr>
          <a:xfrm>
            <a:off x="1219200" y="4927600"/>
            <a:ext cx="9854692" cy="762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203200" indent="-203200" algn="l">
              <a:spcAft>
                <a:spcPts val="8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600" dirty="0">
                <a:solidFill>
                  <a:srgbClr val="262626"/>
                </a:solidFill>
              </a:rPr>
              <a:t>Wissenschaftlicher Workflow: verbindet Rechenschritte mit gemeinsamem Forschungsziel</a:t>
            </a:r>
          </a:p>
          <a:p>
            <a:pPr marL="203200" indent="-203200" algn="l">
              <a:spcAft>
                <a:spcPts val="8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600" dirty="0">
                <a:solidFill>
                  <a:srgbClr val="262626"/>
                </a:solidFill>
              </a:rPr>
              <a:t>Mehr Schritte und Abhängigkeiten → höherer Koordinationsaufwand → Workflow-Management-Systeme</a:t>
            </a:r>
          </a:p>
        </p:txBody>
      </p:sp>
    </p:spTree>
    <p:extLst>
      <p:ext uri="{BB962C8B-B14F-4D97-AF65-F5344CB8AC3E}">
        <p14:creationId xmlns:p14="http://schemas.microsoft.com/office/powerpoint/2010/main" val="2996142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0F9664-B06B-1E69-0E37-E3D6CFDB7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812800"/>
            <a:ext cx="10058400" cy="78740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de-DE" sz="2600" b="1" dirty="0">
                <a:solidFill>
                  <a:srgbClr val="262626"/>
                </a:solidFill>
              </a:rPr>
              <a:t>Warum Workflow-Management-Systeme im HPC?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D155994-4CBC-162B-520F-83B3A198D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905000"/>
            <a:ext cx="4318000" cy="2794000"/>
          </a:xfrm>
        </p:spPr>
        <p:txBody>
          <a:bodyPr wrap="square" lIns="0" tIns="0" rIns="0" bIns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de-DE" sz="2000" b="1" dirty="0">
                <a:solidFill>
                  <a:srgbClr val="262626"/>
                </a:solidFill>
              </a:rPr>
              <a:t>Workflow-Management-System</a:t>
            </a:r>
          </a:p>
          <a:p>
            <a:pPr marL="0" indent="0" algn="l">
              <a:spcAft>
                <a:spcPts val="1800"/>
              </a:spcAft>
              <a:buNone/>
            </a:pPr>
            <a:r>
              <a:rPr lang="de-DE" sz="1600" dirty="0">
                <a:solidFill>
                  <a:srgbClr val="595959"/>
                </a:solidFill>
              </a:rPr>
              <a:t>Orchestriert die Ausführung des Workflows</a:t>
            </a:r>
          </a:p>
          <a:p>
            <a:pPr marL="203200" indent="-203200" algn="l">
              <a:spcAft>
                <a:spcPts val="6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600" dirty="0">
                <a:solidFill>
                  <a:srgbClr val="262626"/>
                </a:solidFill>
              </a:rPr>
              <a:t>Planung</a:t>
            </a:r>
          </a:p>
          <a:p>
            <a:pPr marL="203200" indent="-203200" algn="l">
              <a:spcAft>
                <a:spcPts val="6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600" dirty="0">
                <a:solidFill>
                  <a:srgbClr val="262626"/>
                </a:solidFill>
              </a:rPr>
              <a:t>Koordination</a:t>
            </a:r>
          </a:p>
          <a:p>
            <a:pPr marL="203200" indent="-203200" algn="l">
              <a:spcAft>
                <a:spcPts val="6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600" dirty="0">
                <a:solidFill>
                  <a:srgbClr val="262626"/>
                </a:solidFill>
              </a:rPr>
              <a:t>Datenübertragung</a:t>
            </a:r>
          </a:p>
          <a:p>
            <a:pPr marL="203200" indent="-203200" algn="l">
              <a:spcAft>
                <a:spcPts val="6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600" dirty="0">
                <a:solidFill>
                  <a:srgbClr val="262626"/>
                </a:solidFill>
              </a:rPr>
              <a:t>Überwachung</a:t>
            </a:r>
          </a:p>
        </p:txBody>
      </p:sp>
      <p:sp>
        <p:nvSpPr>
          <p:cNvPr id="20" name="Akzentlinie"/>
          <p:cNvSpPr/>
          <p:nvPr/>
        </p:nvSpPr>
        <p:spPr>
          <a:xfrm>
            <a:off x="914400" y="812800"/>
            <a:ext cx="50800" cy="4318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" name="Rechts"/>
          <p:cNvSpPr txBox="1"/>
          <p:nvPr/>
        </p:nvSpPr>
        <p:spPr>
          <a:xfrm>
            <a:off x="6959600" y="1905000"/>
            <a:ext cx="4318000" cy="317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lang="de-DE" sz="2000" b="1" dirty="0">
                <a:solidFill>
                  <a:srgbClr val="262626"/>
                </a:solidFill>
              </a:rPr>
              <a:t>HPC-Umgebung</a:t>
            </a:r>
          </a:p>
          <a:p>
            <a:pPr algn="l">
              <a:spcAft>
                <a:spcPts val="800"/>
              </a:spcAft>
            </a:pPr>
            <a:r>
              <a:rPr lang="de-DE" sz="1600" dirty="0">
                <a:solidFill>
                  <a:srgbClr val="595959"/>
                </a:solidFill>
              </a:rPr>
              <a:t>Rechen- und datenintensive wissenschaftliche Workflows können von HPC-Ressourcen profitieren.</a:t>
            </a:r>
          </a:p>
          <a:p>
            <a:pPr algn="l">
              <a:spcAft>
                <a:spcPts val="1600"/>
              </a:spcAft>
            </a:pPr>
            <a:r>
              <a:rPr lang="de-DE" sz="1400" dirty="0">
                <a:solidFill>
                  <a:srgbClr val="595959"/>
                </a:solidFill>
              </a:rPr>
              <a:t>Beispiele: </a:t>
            </a:r>
            <a:r>
              <a:rPr lang="de-DE" sz="1400" dirty="0">
                <a:solidFill>
                  <a:srgbClr val="262626"/>
                </a:solidFill>
              </a:rPr>
              <a:t>Simulationen · </a:t>
            </a:r>
            <a:r>
              <a:rPr lang="de-DE" sz="1400" dirty="0" err="1">
                <a:solidFill>
                  <a:srgbClr val="262626"/>
                </a:solidFill>
              </a:rPr>
              <a:t>Machine</a:t>
            </a:r>
            <a:r>
              <a:rPr lang="de-DE" sz="1400" dirty="0">
                <a:solidFill>
                  <a:srgbClr val="262626"/>
                </a:solidFill>
              </a:rPr>
              <a:t> Learning · Bioinformatik</a:t>
            </a:r>
          </a:p>
          <a:p>
            <a:pPr marL="203200" indent="-203200" algn="l">
              <a:spcAft>
                <a:spcPts val="2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600" dirty="0">
                <a:solidFill>
                  <a:srgbClr val="262626"/>
                </a:solidFill>
              </a:rPr>
              <a:t>Ressourcenverwaltung</a:t>
            </a:r>
          </a:p>
          <a:p>
            <a:pPr marL="203200" algn="l">
              <a:spcAft>
                <a:spcPts val="1600"/>
              </a:spcAft>
            </a:pPr>
            <a:r>
              <a:rPr lang="de-DE" sz="1400" dirty="0">
                <a:solidFill>
                  <a:srgbClr val="595959"/>
                </a:solidFill>
              </a:rPr>
              <a:t>z. B. durch Slurm</a:t>
            </a:r>
          </a:p>
          <a:p>
            <a:pPr algn="l"/>
            <a:r>
              <a:rPr lang="de-DE" sz="1600" b="1" dirty="0">
                <a:solidFill>
                  <a:srgbClr val="262626"/>
                </a:solidFill>
              </a:rPr>
              <a:t>WMS müssen in diese Ausführungsumgebung integriert werden.</a:t>
            </a:r>
          </a:p>
        </p:txBody>
      </p:sp>
      <p:cxnSp>
        <p:nvCxnSpPr>
          <p:cNvPr id="22" name="Verbindung"/>
          <p:cNvCxnSpPr/>
          <p:nvPr/>
        </p:nvCxnSpPr>
        <p:spPr>
          <a:xfrm>
            <a:off x="5867400" y="3073400"/>
            <a:ext cx="762000" cy="0"/>
          </a:xfrm>
          <a:prstGeom prst="straightConnector1">
            <a:avLst/>
          </a:prstGeom>
          <a:ln w="12700">
            <a:solidFill>
              <a:srgbClr val="A6A6A6"/>
            </a:solidFill>
            <a:tailEnd type="triangle" w="med" len="med"/>
          </a:ln>
        </p:spPr>
      </p:cxnSp>
      <p:sp>
        <p:nvSpPr>
          <p:cNvPr id="24" name="Motivation"/>
          <p:cNvSpPr txBox="1"/>
          <p:nvPr/>
        </p:nvSpPr>
        <p:spPr>
          <a:xfrm>
            <a:off x="1219200" y="5207000"/>
            <a:ext cx="100584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300" dirty="0">
                <a:solidFill>
                  <a:srgbClr val="262626"/>
                </a:solidFill>
              </a:rPr>
              <a:t>Kein einzelnes WMS eignet sich gleichermaßen für alle Workflows und Ausführungsumgebungen.</a:t>
            </a:r>
          </a:p>
        </p:txBody>
      </p:sp>
      <p:sp>
        <p:nvSpPr>
          <p:cNvPr id="23" name="Überleitung"/>
          <p:cNvSpPr txBox="1"/>
          <p:nvPr/>
        </p:nvSpPr>
        <p:spPr>
          <a:xfrm>
            <a:off x="1219200" y="5562600"/>
            <a:ext cx="10058400" cy="330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600" b="1" dirty="0">
                <a:solidFill>
                  <a:srgbClr val="C1002A"/>
                </a:solidFill>
              </a:rPr>
              <a:t>Wie unterscheiden sich WMS in Modellierung, Laufzeitverhalten und HPC-Einsatz?</a:t>
            </a:r>
          </a:p>
        </p:txBody>
      </p:sp>
      <p:sp>
        <p:nvSpPr>
          <p:cNvPr id="40" name="Foliennummer"/>
          <p:cNvSpPr txBox="1"/>
          <p:nvPr/>
        </p:nvSpPr>
        <p:spPr>
          <a:xfrm>
            <a:off x="10769600" y="6197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de-DE" sz="1200" dirty="0">
                <a:solidFill>
                  <a:srgbClr val="8C8C8C"/>
                </a:solidFill>
              </a:rPr>
              <a:t>4</a:t>
            </a:r>
          </a:p>
        </p:txBody>
      </p:sp>
      <p:cxnSp>
        <p:nvCxnSpPr>
          <p:cNvPr id="50" name="Fortschritt Linie"/>
          <p:cNvCxnSpPr/>
          <p:nvPr/>
        </p:nvCxnSpPr>
        <p:spPr>
          <a:xfrm>
            <a:off x="1219200" y="6172200"/>
            <a:ext cx="5080000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51" name="Marker Motivation"/>
          <p:cNvSpPr/>
          <p:nvPr/>
        </p:nvSpPr>
        <p:spPr>
          <a:xfrm>
            <a:off x="1174750" y="6127750"/>
            <a:ext cx="88900" cy="88900"/>
          </a:xfrm>
          <a:prstGeom prst="ellipse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2" name="Label Motivation"/>
          <p:cNvSpPr txBox="1"/>
          <p:nvPr/>
        </p:nvSpPr>
        <p:spPr>
          <a:xfrm>
            <a:off x="1219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lang="de-DE" sz="1000" b="1" dirty="0">
                <a:solidFill>
                  <a:srgbClr val="C1002A"/>
                </a:solidFill>
              </a:rPr>
              <a:t>Motivation</a:t>
            </a:r>
          </a:p>
        </p:txBody>
      </p:sp>
      <p:sp>
        <p:nvSpPr>
          <p:cNvPr id="53" name="Marker Methodik"/>
          <p:cNvSpPr/>
          <p:nvPr/>
        </p:nvSpPr>
        <p:spPr>
          <a:xfrm>
            <a:off x="245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4" name="Label Methodik"/>
          <p:cNvSpPr txBox="1"/>
          <p:nvPr/>
        </p:nvSpPr>
        <p:spPr>
          <a:xfrm>
            <a:off x="185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Methodik</a:t>
            </a:r>
          </a:p>
        </p:txBody>
      </p:sp>
      <p:sp>
        <p:nvSpPr>
          <p:cNvPr id="55" name="Marker Systeme"/>
          <p:cNvSpPr/>
          <p:nvPr/>
        </p:nvSpPr>
        <p:spPr>
          <a:xfrm>
            <a:off x="372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6" name="Label Systeme"/>
          <p:cNvSpPr txBox="1"/>
          <p:nvPr/>
        </p:nvSpPr>
        <p:spPr>
          <a:xfrm>
            <a:off x="312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Systeme</a:t>
            </a:r>
          </a:p>
        </p:txBody>
      </p:sp>
      <p:sp>
        <p:nvSpPr>
          <p:cNvPr id="57" name="Marker Untersuchung"/>
          <p:cNvSpPr/>
          <p:nvPr/>
        </p:nvSpPr>
        <p:spPr>
          <a:xfrm>
            <a:off x="499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8" name="Label Untersuchung"/>
          <p:cNvSpPr txBox="1"/>
          <p:nvPr/>
        </p:nvSpPr>
        <p:spPr>
          <a:xfrm>
            <a:off x="439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Untersuchung</a:t>
            </a:r>
          </a:p>
        </p:txBody>
      </p:sp>
      <p:sp>
        <p:nvSpPr>
          <p:cNvPr id="59" name="Marker Fazit"/>
          <p:cNvSpPr/>
          <p:nvPr/>
        </p:nvSpPr>
        <p:spPr>
          <a:xfrm>
            <a:off x="626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0" name="Label Fazit"/>
          <p:cNvSpPr txBox="1"/>
          <p:nvPr/>
        </p:nvSpPr>
        <p:spPr>
          <a:xfrm>
            <a:off x="5029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r"/>
            <a:r>
              <a:rPr lang="de-DE" sz="1000" dirty="0">
                <a:solidFill>
                  <a:srgbClr val="A6A6A6"/>
                </a:solidFill>
              </a:rPr>
              <a:t>Fazit</a:t>
            </a:r>
          </a:p>
        </p:txBody>
      </p:sp>
    </p:spTree>
    <p:extLst>
      <p:ext uri="{BB962C8B-B14F-4D97-AF65-F5344CB8AC3E}">
        <p14:creationId xmlns:p14="http://schemas.microsoft.com/office/powerpoint/2010/main" val="3806169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9EFA8F-6F04-1A12-DE30-7DEE733FC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812800"/>
            <a:ext cx="10058400" cy="78740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de-DE" sz="2600" b="1" dirty="0">
                <a:solidFill>
                  <a:srgbClr val="262626"/>
                </a:solidFill>
              </a:rPr>
              <a:t>Ziel und Forschungsfragen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66CCFD-4293-3292-23B9-7587705DF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78000"/>
            <a:ext cx="10058400" cy="762000"/>
          </a:xfrm>
        </p:spPr>
        <p:txBody>
          <a:bodyPr wrap="square" lIns="0" tIns="0" rIns="0" bIns="0" anchor="t">
            <a:normAutofit lnSpcReduction="10000"/>
          </a:bodyPr>
          <a:lstStyle/>
          <a:p>
            <a:pPr marL="0" indent="0" algn="l">
              <a:spcAft>
                <a:spcPts val="400"/>
              </a:spcAft>
              <a:buNone/>
            </a:pPr>
            <a:r>
              <a:rPr lang="de-DE" sz="1200" b="1" spc="150" dirty="0">
                <a:solidFill>
                  <a:srgbClr val="C1002A"/>
                </a:solidFill>
              </a:rPr>
              <a:t>ZIEL DER ARBEIT</a:t>
            </a:r>
          </a:p>
          <a:p>
            <a:pPr marL="0" indent="0" algn="l">
              <a:buNone/>
            </a:pPr>
            <a:r>
              <a:rPr lang="de-DE" sz="1600" dirty="0">
                <a:solidFill>
                  <a:srgbClr val="262626"/>
                </a:solidFill>
              </a:rPr>
              <a:t>Systematischer Vergleich ausgewählter Workflow-Management-Systeme hinsichtlich Modellierung, Laufzeitverhalten und Einsatz in einer HPC-Umgebung</a:t>
            </a:r>
          </a:p>
        </p:txBody>
      </p:sp>
      <p:sp>
        <p:nvSpPr>
          <p:cNvPr id="20" name="Akzentlinie"/>
          <p:cNvSpPr/>
          <p:nvPr/>
        </p:nvSpPr>
        <p:spPr>
          <a:xfrm>
            <a:off x="914400" y="812800"/>
            <a:ext cx="50800" cy="4318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cxnSp>
        <p:nvCxnSpPr>
          <p:cNvPr id="24" name="Trenner"/>
          <p:cNvCxnSpPr/>
          <p:nvPr/>
        </p:nvCxnSpPr>
        <p:spPr>
          <a:xfrm>
            <a:off x="1219200" y="2717800"/>
            <a:ext cx="10058400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30" name="Frage F1"/>
          <p:cNvSpPr txBox="1"/>
          <p:nvPr/>
        </p:nvSpPr>
        <p:spPr>
          <a:xfrm>
            <a:off x="1219200" y="2946400"/>
            <a:ext cx="4724400" cy="1219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lang="de-DE" sz="1300" b="1" spc="100" dirty="0">
                <a:solidFill>
                  <a:srgbClr val="C1002A"/>
                </a:solidFill>
              </a:rPr>
              <a:t>F1 · MODELLIERUNG</a:t>
            </a:r>
          </a:p>
          <a:p>
            <a:pPr algn="l">
              <a:spcAft>
                <a:spcPts val="300"/>
              </a:spcAft>
            </a:pPr>
            <a:r>
              <a:rPr lang="de-DE" sz="1400" dirty="0">
                <a:solidFill>
                  <a:srgbClr val="262626"/>
                </a:solidFill>
              </a:rPr>
              <a:t>Wie unterscheiden sich die Systeme bei der Umsetzung eines Pipeline und </a:t>
            </a:r>
            <a:r>
              <a:rPr lang="de-DE" sz="1400" dirty="0" err="1">
                <a:solidFill>
                  <a:srgbClr val="262626"/>
                </a:solidFill>
              </a:rPr>
              <a:t>Scatter</a:t>
            </a:r>
            <a:r>
              <a:rPr lang="de-DE" sz="1400" dirty="0">
                <a:solidFill>
                  <a:srgbClr val="262626"/>
                </a:solidFill>
              </a:rPr>
              <a:t>-Gather Musters?</a:t>
            </a:r>
          </a:p>
        </p:txBody>
      </p:sp>
      <p:sp>
        <p:nvSpPr>
          <p:cNvPr id="31" name="Frage F2"/>
          <p:cNvSpPr txBox="1"/>
          <p:nvPr/>
        </p:nvSpPr>
        <p:spPr>
          <a:xfrm>
            <a:off x="6451600" y="2946400"/>
            <a:ext cx="4724400" cy="1219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lang="de-DE" sz="1300" b="1" spc="100" dirty="0">
                <a:solidFill>
                  <a:srgbClr val="C1002A"/>
                </a:solidFill>
              </a:rPr>
              <a:t>F2 · LAUFZEITVERHALTEN</a:t>
            </a:r>
          </a:p>
          <a:p>
            <a:pPr algn="l">
              <a:spcAft>
                <a:spcPts val="300"/>
              </a:spcAft>
            </a:pPr>
            <a:r>
              <a:rPr lang="de-DE" sz="1400" dirty="0">
                <a:solidFill>
                  <a:srgbClr val="262626"/>
                </a:solidFill>
              </a:rPr>
              <a:t>Welches Laufzeitverhalten zeigen die Systeme bei der Ausführung dieser Workflows?</a:t>
            </a:r>
          </a:p>
          <a:p>
            <a:pPr algn="l"/>
            <a:r>
              <a:rPr lang="de-DE" sz="1200" dirty="0">
                <a:solidFill>
                  <a:srgbClr val="595959"/>
                </a:solidFill>
              </a:rPr>
              <a:t>Makespan · Overhead · Übergangslatenz · Startspreizung</a:t>
            </a:r>
          </a:p>
        </p:txBody>
      </p:sp>
      <p:sp>
        <p:nvSpPr>
          <p:cNvPr id="32" name="Frage F3"/>
          <p:cNvSpPr txBox="1"/>
          <p:nvPr/>
        </p:nvSpPr>
        <p:spPr>
          <a:xfrm>
            <a:off x="1219200" y="4292600"/>
            <a:ext cx="4724400" cy="1219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lang="de-DE" sz="1300" b="1" spc="100" dirty="0">
                <a:solidFill>
                  <a:srgbClr val="C1002A"/>
                </a:solidFill>
              </a:rPr>
              <a:t>F3 · HPC-EINSATZ</a:t>
            </a:r>
          </a:p>
          <a:p>
            <a:pPr algn="l">
              <a:spcAft>
                <a:spcPts val="300"/>
              </a:spcAft>
            </a:pPr>
            <a:r>
              <a:rPr lang="de-DE" sz="1400" dirty="0">
                <a:solidFill>
                  <a:srgbClr val="262626"/>
                </a:solidFill>
              </a:rPr>
              <a:t>Wie lassen sich die Systeme auf einem Slurm-basierten HPC-System betreiben und wie setzen sich dort die Laufzeiten zusammen?</a:t>
            </a:r>
          </a:p>
        </p:txBody>
      </p:sp>
      <p:sp>
        <p:nvSpPr>
          <p:cNvPr id="33" name="Frage F4"/>
          <p:cNvSpPr txBox="1"/>
          <p:nvPr/>
        </p:nvSpPr>
        <p:spPr>
          <a:xfrm>
            <a:off x="6451600" y="4292600"/>
            <a:ext cx="4724400" cy="1219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400"/>
              </a:spcAft>
            </a:pPr>
            <a:r>
              <a:rPr lang="de-DE" sz="1300" b="1" spc="100" dirty="0">
                <a:solidFill>
                  <a:srgbClr val="C1002A"/>
                </a:solidFill>
              </a:rPr>
              <a:t>F4 · EINORDNUNG</a:t>
            </a:r>
          </a:p>
          <a:p>
            <a:pPr algn="l">
              <a:spcAft>
                <a:spcPts val="300"/>
              </a:spcAft>
            </a:pPr>
            <a:r>
              <a:rPr lang="de-DE" sz="1400" dirty="0">
                <a:solidFill>
                  <a:srgbClr val="262626"/>
                </a:solidFill>
              </a:rPr>
              <a:t>Für welche Arten von Workflows und Anwendungsfällen erscheinen die einzelnen Systeme besonders geeignet?</a:t>
            </a:r>
          </a:p>
        </p:txBody>
      </p:sp>
      <p:sp>
        <p:nvSpPr>
          <p:cNvPr id="40" name="Foliennummer"/>
          <p:cNvSpPr txBox="1"/>
          <p:nvPr/>
        </p:nvSpPr>
        <p:spPr>
          <a:xfrm>
            <a:off x="10769600" y="6197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de-DE" sz="1200" dirty="0">
                <a:solidFill>
                  <a:srgbClr val="8C8C8C"/>
                </a:solidFill>
              </a:rPr>
              <a:t>5</a:t>
            </a:r>
          </a:p>
        </p:txBody>
      </p:sp>
      <p:cxnSp>
        <p:nvCxnSpPr>
          <p:cNvPr id="50" name="Fortschritt Linie"/>
          <p:cNvCxnSpPr/>
          <p:nvPr/>
        </p:nvCxnSpPr>
        <p:spPr>
          <a:xfrm>
            <a:off x="1219200" y="6172200"/>
            <a:ext cx="5080000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51" name="Marker Motivation"/>
          <p:cNvSpPr/>
          <p:nvPr/>
        </p:nvSpPr>
        <p:spPr>
          <a:xfrm>
            <a:off x="1174750" y="6127750"/>
            <a:ext cx="88900" cy="88900"/>
          </a:xfrm>
          <a:prstGeom prst="ellipse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2" name="Label Motivation"/>
          <p:cNvSpPr txBox="1"/>
          <p:nvPr/>
        </p:nvSpPr>
        <p:spPr>
          <a:xfrm>
            <a:off x="1219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lang="de-DE" sz="1000" b="1" dirty="0">
                <a:solidFill>
                  <a:srgbClr val="C1002A"/>
                </a:solidFill>
              </a:rPr>
              <a:t>Motivation</a:t>
            </a:r>
          </a:p>
        </p:txBody>
      </p:sp>
      <p:sp>
        <p:nvSpPr>
          <p:cNvPr id="53" name="Marker Methodik"/>
          <p:cNvSpPr/>
          <p:nvPr/>
        </p:nvSpPr>
        <p:spPr>
          <a:xfrm>
            <a:off x="245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4" name="Label Methodik"/>
          <p:cNvSpPr txBox="1"/>
          <p:nvPr/>
        </p:nvSpPr>
        <p:spPr>
          <a:xfrm>
            <a:off x="185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Methodik</a:t>
            </a:r>
          </a:p>
        </p:txBody>
      </p:sp>
      <p:sp>
        <p:nvSpPr>
          <p:cNvPr id="55" name="Marker Systeme"/>
          <p:cNvSpPr/>
          <p:nvPr/>
        </p:nvSpPr>
        <p:spPr>
          <a:xfrm>
            <a:off x="372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6" name="Label Systeme"/>
          <p:cNvSpPr txBox="1"/>
          <p:nvPr/>
        </p:nvSpPr>
        <p:spPr>
          <a:xfrm>
            <a:off x="312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Systeme</a:t>
            </a:r>
          </a:p>
        </p:txBody>
      </p:sp>
      <p:sp>
        <p:nvSpPr>
          <p:cNvPr id="57" name="Marker Untersuchung"/>
          <p:cNvSpPr/>
          <p:nvPr/>
        </p:nvSpPr>
        <p:spPr>
          <a:xfrm>
            <a:off x="499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8" name="Label Untersuchung"/>
          <p:cNvSpPr txBox="1"/>
          <p:nvPr/>
        </p:nvSpPr>
        <p:spPr>
          <a:xfrm>
            <a:off x="439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Untersuchung</a:t>
            </a:r>
          </a:p>
        </p:txBody>
      </p:sp>
      <p:sp>
        <p:nvSpPr>
          <p:cNvPr id="59" name="Marker Fazit"/>
          <p:cNvSpPr/>
          <p:nvPr/>
        </p:nvSpPr>
        <p:spPr>
          <a:xfrm>
            <a:off x="626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0" name="Label Fazit"/>
          <p:cNvSpPr txBox="1"/>
          <p:nvPr/>
        </p:nvSpPr>
        <p:spPr>
          <a:xfrm>
            <a:off x="5029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r"/>
            <a:r>
              <a:rPr lang="de-DE" sz="1000" dirty="0">
                <a:solidFill>
                  <a:srgbClr val="A6A6A6"/>
                </a:solidFill>
              </a:rPr>
              <a:t>Fazit</a:t>
            </a:r>
          </a:p>
        </p:txBody>
      </p:sp>
    </p:spTree>
    <p:extLst>
      <p:ext uri="{BB962C8B-B14F-4D97-AF65-F5344CB8AC3E}">
        <p14:creationId xmlns:p14="http://schemas.microsoft.com/office/powerpoint/2010/main" val="1496952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E26FD6-D96A-4610-4054-2346AC3DA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812800"/>
            <a:ext cx="10058400" cy="78740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de-DE" sz="2600" b="1" dirty="0">
                <a:solidFill>
                  <a:srgbClr val="262626"/>
                </a:solidFill>
              </a:rPr>
              <a:t>Betrachtete Workflow-Management-Systeme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3186123-53BF-979A-60CA-7202DD242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4648200"/>
            <a:ext cx="10058400" cy="381000"/>
          </a:xfrm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buNone/>
            </a:pPr>
            <a:r>
              <a:rPr lang="de-DE" sz="1600" dirty="0">
                <a:solidFill>
                  <a:srgbClr val="595959"/>
                </a:solidFill>
              </a:rPr>
              <a:t>Unterschiedliche Ansätze in Anwendungskontext, Workflow-Beschreibung und Systemarchitektur</a:t>
            </a:r>
          </a:p>
        </p:txBody>
      </p:sp>
      <p:sp>
        <p:nvSpPr>
          <p:cNvPr id="20" name="Akzentlinie"/>
          <p:cNvSpPr/>
          <p:nvPr/>
        </p:nvSpPr>
        <p:spPr>
          <a:xfrm>
            <a:off x="914400" y="812800"/>
            <a:ext cx="50800" cy="4318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" name="Marke Nextflow"/>
          <p:cNvSpPr/>
          <p:nvPr/>
        </p:nvSpPr>
        <p:spPr>
          <a:xfrm>
            <a:off x="2047239" y="2997200"/>
            <a:ext cx="355600" cy="381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0" name="System Nextflow"/>
          <p:cNvSpPr txBox="1"/>
          <p:nvPr/>
        </p:nvSpPr>
        <p:spPr>
          <a:xfrm>
            <a:off x="1219200" y="3200400"/>
            <a:ext cx="201168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2200" b="1" dirty="0">
                <a:solidFill>
                  <a:srgbClr val="262626"/>
                </a:solidFill>
              </a:rPr>
              <a:t>Nextflow</a:t>
            </a:r>
          </a:p>
        </p:txBody>
      </p:sp>
      <p:sp>
        <p:nvSpPr>
          <p:cNvPr id="22" name="Marke StreamFlow"/>
          <p:cNvSpPr/>
          <p:nvPr/>
        </p:nvSpPr>
        <p:spPr>
          <a:xfrm>
            <a:off x="4058920" y="2997200"/>
            <a:ext cx="355600" cy="381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1" name="System StreamFlow"/>
          <p:cNvSpPr txBox="1"/>
          <p:nvPr/>
        </p:nvSpPr>
        <p:spPr>
          <a:xfrm>
            <a:off x="3230880" y="3200400"/>
            <a:ext cx="201168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2200" b="1" dirty="0">
                <a:solidFill>
                  <a:srgbClr val="262626"/>
                </a:solidFill>
              </a:rPr>
              <a:t>StreamFlow</a:t>
            </a:r>
          </a:p>
        </p:txBody>
      </p:sp>
      <p:sp>
        <p:nvSpPr>
          <p:cNvPr id="23" name="Marke Pegasus"/>
          <p:cNvSpPr/>
          <p:nvPr/>
        </p:nvSpPr>
        <p:spPr>
          <a:xfrm>
            <a:off x="8082280" y="2997200"/>
            <a:ext cx="355600" cy="381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2" name="System Pegasus"/>
          <p:cNvSpPr txBox="1"/>
          <p:nvPr/>
        </p:nvSpPr>
        <p:spPr>
          <a:xfrm>
            <a:off x="7254240" y="3200400"/>
            <a:ext cx="201168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2200" b="1" dirty="0">
                <a:solidFill>
                  <a:srgbClr val="262626"/>
                </a:solidFill>
              </a:rPr>
              <a:t>Pegasus</a:t>
            </a:r>
          </a:p>
        </p:txBody>
      </p:sp>
      <p:sp>
        <p:nvSpPr>
          <p:cNvPr id="24" name="Marke Merlin"/>
          <p:cNvSpPr/>
          <p:nvPr/>
        </p:nvSpPr>
        <p:spPr>
          <a:xfrm>
            <a:off x="6070600" y="2997200"/>
            <a:ext cx="355600" cy="381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3" name="System Merlin"/>
          <p:cNvSpPr txBox="1"/>
          <p:nvPr/>
        </p:nvSpPr>
        <p:spPr>
          <a:xfrm>
            <a:off x="5242560" y="3200400"/>
            <a:ext cx="201168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2200" b="1" dirty="0">
                <a:solidFill>
                  <a:srgbClr val="262626"/>
                </a:solidFill>
              </a:rPr>
              <a:t>Merlin</a:t>
            </a:r>
          </a:p>
        </p:txBody>
      </p:sp>
      <p:sp>
        <p:nvSpPr>
          <p:cNvPr id="25" name="Marke AiiDA"/>
          <p:cNvSpPr/>
          <p:nvPr/>
        </p:nvSpPr>
        <p:spPr>
          <a:xfrm>
            <a:off x="10093960" y="2997200"/>
            <a:ext cx="355600" cy="381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4" name="System AiiDA"/>
          <p:cNvSpPr txBox="1"/>
          <p:nvPr/>
        </p:nvSpPr>
        <p:spPr>
          <a:xfrm>
            <a:off x="9265920" y="3200400"/>
            <a:ext cx="201168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2200" b="1" dirty="0">
                <a:solidFill>
                  <a:srgbClr val="262626"/>
                </a:solidFill>
              </a:rPr>
              <a:t>AiiDA</a:t>
            </a:r>
          </a:p>
        </p:txBody>
      </p:sp>
      <p:cxnSp>
        <p:nvCxnSpPr>
          <p:cNvPr id="36" name="Trenner"/>
          <p:cNvCxnSpPr/>
          <p:nvPr/>
        </p:nvCxnSpPr>
        <p:spPr>
          <a:xfrm>
            <a:off x="1219200" y="4241800"/>
            <a:ext cx="10058400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40" name="Foliennummer"/>
          <p:cNvSpPr txBox="1"/>
          <p:nvPr/>
        </p:nvSpPr>
        <p:spPr>
          <a:xfrm>
            <a:off x="10769600" y="6197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de-DE" sz="1200" dirty="0">
                <a:solidFill>
                  <a:srgbClr val="8C8C8C"/>
                </a:solidFill>
              </a:rPr>
              <a:t>6</a:t>
            </a:r>
          </a:p>
        </p:txBody>
      </p:sp>
      <p:cxnSp>
        <p:nvCxnSpPr>
          <p:cNvPr id="50" name="Fortschritt Linie"/>
          <p:cNvCxnSpPr/>
          <p:nvPr/>
        </p:nvCxnSpPr>
        <p:spPr>
          <a:xfrm>
            <a:off x="1219200" y="6172200"/>
            <a:ext cx="5080000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51" name="Marker Motivation"/>
          <p:cNvSpPr/>
          <p:nvPr/>
        </p:nvSpPr>
        <p:spPr>
          <a:xfrm>
            <a:off x="118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2" name="Label Motivation"/>
          <p:cNvSpPr txBox="1"/>
          <p:nvPr/>
        </p:nvSpPr>
        <p:spPr>
          <a:xfrm>
            <a:off x="1219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lang="de-DE" sz="1000" dirty="0">
                <a:solidFill>
                  <a:srgbClr val="A6A6A6"/>
                </a:solidFill>
              </a:rPr>
              <a:t>Motivation</a:t>
            </a:r>
          </a:p>
        </p:txBody>
      </p:sp>
      <p:sp>
        <p:nvSpPr>
          <p:cNvPr id="53" name="Marker Methodik"/>
          <p:cNvSpPr/>
          <p:nvPr/>
        </p:nvSpPr>
        <p:spPr>
          <a:xfrm>
            <a:off x="2444750" y="6127750"/>
            <a:ext cx="88900" cy="88900"/>
          </a:xfrm>
          <a:prstGeom prst="ellipse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4" name="Label Methodik"/>
          <p:cNvSpPr txBox="1"/>
          <p:nvPr/>
        </p:nvSpPr>
        <p:spPr>
          <a:xfrm>
            <a:off x="185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b="1" dirty="0">
                <a:solidFill>
                  <a:srgbClr val="C1002A"/>
                </a:solidFill>
              </a:rPr>
              <a:t>Methodik</a:t>
            </a:r>
          </a:p>
        </p:txBody>
      </p:sp>
      <p:sp>
        <p:nvSpPr>
          <p:cNvPr id="55" name="Marker Systeme"/>
          <p:cNvSpPr/>
          <p:nvPr/>
        </p:nvSpPr>
        <p:spPr>
          <a:xfrm>
            <a:off x="372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6" name="Label Systeme"/>
          <p:cNvSpPr txBox="1"/>
          <p:nvPr/>
        </p:nvSpPr>
        <p:spPr>
          <a:xfrm>
            <a:off x="312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Systeme</a:t>
            </a:r>
          </a:p>
        </p:txBody>
      </p:sp>
      <p:sp>
        <p:nvSpPr>
          <p:cNvPr id="57" name="Marker Untersuchung"/>
          <p:cNvSpPr/>
          <p:nvPr/>
        </p:nvSpPr>
        <p:spPr>
          <a:xfrm>
            <a:off x="499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8" name="Label Untersuchung"/>
          <p:cNvSpPr txBox="1"/>
          <p:nvPr/>
        </p:nvSpPr>
        <p:spPr>
          <a:xfrm>
            <a:off x="439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Untersuchung</a:t>
            </a:r>
          </a:p>
        </p:txBody>
      </p:sp>
      <p:sp>
        <p:nvSpPr>
          <p:cNvPr id="59" name="Marker Fazit"/>
          <p:cNvSpPr/>
          <p:nvPr/>
        </p:nvSpPr>
        <p:spPr>
          <a:xfrm>
            <a:off x="626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0" name="Label Fazit"/>
          <p:cNvSpPr txBox="1"/>
          <p:nvPr/>
        </p:nvSpPr>
        <p:spPr>
          <a:xfrm>
            <a:off x="5029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r"/>
            <a:r>
              <a:rPr lang="de-DE" sz="1000" dirty="0">
                <a:solidFill>
                  <a:srgbClr val="A6A6A6"/>
                </a:solidFill>
              </a:rPr>
              <a:t>Fazit</a:t>
            </a: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D3E33774-80CE-598E-9215-58D1F38F7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039" y="1803400"/>
            <a:ext cx="1016000" cy="101600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AE676D52-19CF-8D62-9EE2-58154F08E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8720" y="1803400"/>
            <a:ext cx="1016000" cy="1016000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DAE37E44-F187-07E0-8E86-D341414581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2080" y="1803400"/>
            <a:ext cx="1016000" cy="1016000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BB86D7B3-0AAD-B032-FEDE-AB51B4F394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4565" y="1803400"/>
            <a:ext cx="847668" cy="1016000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EEE2CFA3-5394-B97C-1E6A-B856243077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63760" y="1803400"/>
            <a:ext cx="1016000" cy="1016000"/>
          </a:xfrm>
          <a:prstGeom prst="rect">
            <a:avLst/>
          </a:prstGeom>
        </p:spPr>
      </p:pic>
      <p:sp>
        <p:nvSpPr>
          <p:cNvPr id="35" name="Hinweis Logoquellen">
            <a:extLst>
              <a:ext uri="{FF2B5EF4-FFF2-40B4-BE49-F238E27FC236}">
                <a16:creationId xmlns:a16="http://schemas.microsoft.com/office/drawing/2014/main" id="{0F13586A-123C-614B-94EE-A2E96AA06623}"/>
              </a:ext>
            </a:extLst>
          </p:cNvPr>
          <p:cNvSpPr txBox="1"/>
          <p:nvPr/>
        </p:nvSpPr>
        <p:spPr>
          <a:xfrm>
            <a:off x="1219200" y="5588000"/>
            <a:ext cx="38100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900">
                <a:solidFill>
                  <a:srgbClr val="8C8C8C"/>
                </a:solidFill>
              </a:rPr>
              <a:t>Logoquellen: siehe Quellenverzeichnis</a:t>
            </a:r>
          </a:p>
        </p:txBody>
      </p:sp>
    </p:spTree>
    <p:extLst>
      <p:ext uri="{BB962C8B-B14F-4D97-AF65-F5344CB8AC3E}">
        <p14:creationId xmlns:p14="http://schemas.microsoft.com/office/powerpoint/2010/main" val="881142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B421FD-2FF5-4BBE-DCB7-955136455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812800"/>
            <a:ext cx="10058400" cy="78740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de-DE" sz="2600" b="1" dirty="0">
                <a:solidFill>
                  <a:srgbClr val="262626"/>
                </a:solidFill>
              </a:rPr>
              <a:t>Zweistufiges Untersuchungsdesign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1E8772-EFF4-5F07-0094-2D6A9C28B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032000"/>
            <a:ext cx="4318000" cy="3175000"/>
          </a:xfrm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de-DE" sz="1300" b="1" spc="150" dirty="0">
                <a:solidFill>
                  <a:srgbClr val="C1002A"/>
                </a:solidFill>
              </a:rPr>
              <a:t>LOKALE UNTERSUCHUNG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None/>
            </a:pPr>
            <a:r>
              <a:rPr lang="de-DE" sz="2000" b="1" dirty="0">
                <a:solidFill>
                  <a:srgbClr val="262626"/>
                </a:solidFill>
              </a:rPr>
              <a:t>Alle fünf Systeme</a:t>
            </a:r>
          </a:p>
          <a:p>
            <a:pPr marL="203200" indent="-2032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600" dirty="0">
                <a:solidFill>
                  <a:srgbClr val="262626"/>
                </a:solidFill>
              </a:rPr>
              <a:t>Qualitativer Vergleich</a:t>
            </a:r>
          </a:p>
          <a:p>
            <a:pPr marL="203200" indent="-20320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600" dirty="0">
                <a:solidFill>
                  <a:srgbClr val="262626"/>
                </a:solidFill>
              </a:rPr>
              <a:t>Quantitative Messungen</a:t>
            </a:r>
          </a:p>
        </p:txBody>
      </p:sp>
      <p:sp>
        <p:nvSpPr>
          <p:cNvPr id="20" name="Akzentlinie"/>
          <p:cNvSpPr/>
          <p:nvPr/>
        </p:nvSpPr>
        <p:spPr>
          <a:xfrm>
            <a:off x="914400" y="812800"/>
            <a:ext cx="50800" cy="4318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" name="Rechts"/>
          <p:cNvSpPr txBox="1"/>
          <p:nvPr/>
        </p:nvSpPr>
        <p:spPr>
          <a:xfrm>
            <a:off x="6959600" y="2032000"/>
            <a:ext cx="4318000" cy="3175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de-DE" sz="1300" b="1" spc="150" dirty="0">
                <a:solidFill>
                  <a:srgbClr val="C1002A"/>
                </a:solidFill>
              </a:rPr>
              <a:t>MOGON / HPC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de-DE" sz="2000" b="1" dirty="0">
                <a:solidFill>
                  <a:srgbClr val="262626"/>
                </a:solidFill>
              </a:rPr>
              <a:t>Vier Systeme</a:t>
            </a:r>
          </a:p>
          <a:p>
            <a:pPr marL="0" indent="0" algn="l">
              <a:spcAft>
                <a:spcPts val="1600"/>
              </a:spcAft>
              <a:buNone/>
            </a:pPr>
            <a:r>
              <a:rPr lang="de-DE" sz="1400" dirty="0">
                <a:solidFill>
                  <a:srgbClr val="595959"/>
                </a:solidFill>
              </a:rPr>
              <a:t>Nextflow · StreamFlow · Merlin · AiiDA</a:t>
            </a:r>
          </a:p>
          <a:p>
            <a:pPr marL="203200" indent="-203200" algn="l">
              <a:spcAft>
                <a:spcPts val="8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600" dirty="0">
                <a:solidFill>
                  <a:srgbClr val="262626"/>
                </a:solidFill>
              </a:rPr>
              <a:t>Bereitstellung und Betrieb unter Slurm</a:t>
            </a:r>
          </a:p>
          <a:p>
            <a:pPr marL="203200" indent="-203200" algn="l">
              <a:spcAft>
                <a:spcPts val="8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600" dirty="0">
                <a:solidFill>
                  <a:srgbClr val="262626"/>
                </a:solidFill>
              </a:rPr>
              <a:t>Untersuchung des regulären Slurm-Betriebs</a:t>
            </a:r>
          </a:p>
          <a:p>
            <a:pPr marL="203200" indent="-203200" algn="l">
              <a:spcAft>
                <a:spcPts val="8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600" dirty="0">
                <a:solidFill>
                  <a:srgbClr val="262626"/>
                </a:solidFill>
              </a:rPr>
              <a:t>Quantitative Messungen auf dedizierter Ressource</a:t>
            </a:r>
          </a:p>
        </p:txBody>
      </p:sp>
      <p:cxnSp>
        <p:nvCxnSpPr>
          <p:cNvPr id="22" name="Trenner"/>
          <p:cNvCxnSpPr/>
          <p:nvPr/>
        </p:nvCxnSpPr>
        <p:spPr>
          <a:xfrm>
            <a:off x="6248400" y="2032000"/>
            <a:ext cx="0" cy="3175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40" name="Foliennummer"/>
          <p:cNvSpPr txBox="1"/>
          <p:nvPr/>
        </p:nvSpPr>
        <p:spPr>
          <a:xfrm>
            <a:off x="10769600" y="6197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de-DE" sz="1200" dirty="0">
                <a:solidFill>
                  <a:srgbClr val="8C8C8C"/>
                </a:solidFill>
              </a:rPr>
              <a:t>7</a:t>
            </a:r>
          </a:p>
        </p:txBody>
      </p:sp>
      <p:cxnSp>
        <p:nvCxnSpPr>
          <p:cNvPr id="50" name="Fortschritt Linie"/>
          <p:cNvCxnSpPr/>
          <p:nvPr/>
        </p:nvCxnSpPr>
        <p:spPr>
          <a:xfrm>
            <a:off x="1219200" y="6172200"/>
            <a:ext cx="5080000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51" name="Marker Motivation"/>
          <p:cNvSpPr/>
          <p:nvPr/>
        </p:nvSpPr>
        <p:spPr>
          <a:xfrm>
            <a:off x="118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2" name="Label Motivation"/>
          <p:cNvSpPr txBox="1"/>
          <p:nvPr/>
        </p:nvSpPr>
        <p:spPr>
          <a:xfrm>
            <a:off x="1219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lang="de-DE" sz="1000" dirty="0">
                <a:solidFill>
                  <a:srgbClr val="A6A6A6"/>
                </a:solidFill>
              </a:rPr>
              <a:t>Motivation</a:t>
            </a:r>
          </a:p>
        </p:txBody>
      </p:sp>
      <p:sp>
        <p:nvSpPr>
          <p:cNvPr id="53" name="Marker Methodik"/>
          <p:cNvSpPr/>
          <p:nvPr/>
        </p:nvSpPr>
        <p:spPr>
          <a:xfrm>
            <a:off x="2444750" y="6127750"/>
            <a:ext cx="88900" cy="88900"/>
          </a:xfrm>
          <a:prstGeom prst="ellipse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4" name="Label Methodik"/>
          <p:cNvSpPr txBox="1"/>
          <p:nvPr/>
        </p:nvSpPr>
        <p:spPr>
          <a:xfrm>
            <a:off x="185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b="1" dirty="0">
                <a:solidFill>
                  <a:srgbClr val="C1002A"/>
                </a:solidFill>
              </a:rPr>
              <a:t>Methodik</a:t>
            </a:r>
          </a:p>
        </p:txBody>
      </p:sp>
      <p:sp>
        <p:nvSpPr>
          <p:cNvPr id="55" name="Marker Systeme"/>
          <p:cNvSpPr/>
          <p:nvPr/>
        </p:nvSpPr>
        <p:spPr>
          <a:xfrm>
            <a:off x="372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6" name="Label Systeme"/>
          <p:cNvSpPr txBox="1"/>
          <p:nvPr/>
        </p:nvSpPr>
        <p:spPr>
          <a:xfrm>
            <a:off x="312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Systeme</a:t>
            </a:r>
          </a:p>
        </p:txBody>
      </p:sp>
      <p:sp>
        <p:nvSpPr>
          <p:cNvPr id="57" name="Marker Untersuchung"/>
          <p:cNvSpPr/>
          <p:nvPr/>
        </p:nvSpPr>
        <p:spPr>
          <a:xfrm>
            <a:off x="499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8" name="Label Untersuchung"/>
          <p:cNvSpPr txBox="1"/>
          <p:nvPr/>
        </p:nvSpPr>
        <p:spPr>
          <a:xfrm>
            <a:off x="439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Untersuchung</a:t>
            </a:r>
          </a:p>
        </p:txBody>
      </p:sp>
      <p:sp>
        <p:nvSpPr>
          <p:cNvPr id="59" name="Marker Fazit"/>
          <p:cNvSpPr/>
          <p:nvPr/>
        </p:nvSpPr>
        <p:spPr>
          <a:xfrm>
            <a:off x="626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0" name="Label Fazit"/>
          <p:cNvSpPr txBox="1"/>
          <p:nvPr/>
        </p:nvSpPr>
        <p:spPr>
          <a:xfrm>
            <a:off x="5029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r"/>
            <a:r>
              <a:rPr lang="de-DE" sz="1000" dirty="0">
                <a:solidFill>
                  <a:srgbClr val="A6A6A6"/>
                </a:solidFill>
              </a:rPr>
              <a:t>Fazit</a:t>
            </a:r>
          </a:p>
        </p:txBody>
      </p:sp>
    </p:spTree>
    <p:extLst>
      <p:ext uri="{BB962C8B-B14F-4D97-AF65-F5344CB8AC3E}">
        <p14:creationId xmlns:p14="http://schemas.microsoft.com/office/powerpoint/2010/main" val="2085791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C76724-1455-81ED-7162-313B1F722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812800"/>
            <a:ext cx="10058400" cy="78740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de-DE" sz="2600" b="1" dirty="0">
                <a:solidFill>
                  <a:srgbClr val="262626"/>
                </a:solidFill>
              </a:rPr>
              <a:t>Gemeinsame Benchmark-Workflows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6064824-A3CB-89A9-5D41-A13FD12F8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01800"/>
            <a:ext cx="4318000" cy="228600"/>
          </a:xfrm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lang="de-DE" sz="1300" b="1" spc="150" dirty="0">
                <a:solidFill>
                  <a:srgbClr val="C1002A"/>
                </a:solidFill>
              </a:rPr>
              <a:t>PIPELINE</a:t>
            </a:r>
          </a:p>
        </p:txBody>
      </p:sp>
      <p:sp>
        <p:nvSpPr>
          <p:cNvPr id="20" name="Akzentlinie"/>
          <p:cNvSpPr/>
          <p:nvPr/>
        </p:nvSpPr>
        <p:spPr>
          <a:xfrm>
            <a:off x="914400" y="812800"/>
            <a:ext cx="50800" cy="4318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" name="Label rechts"/>
          <p:cNvSpPr txBox="1"/>
          <p:nvPr/>
        </p:nvSpPr>
        <p:spPr>
          <a:xfrm>
            <a:off x="6959600" y="170180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300" b="1" spc="150" dirty="0">
                <a:solidFill>
                  <a:srgbClr val="C1002A"/>
                </a:solidFill>
              </a:rPr>
              <a:t>SCATTER-GATHER</a:t>
            </a:r>
          </a:p>
        </p:txBody>
      </p:sp>
      <p:sp>
        <p:nvSpPr>
          <p:cNvPr id="22" name="Node generate_input"/>
          <p:cNvSpPr/>
          <p:nvPr/>
        </p:nvSpPr>
        <p:spPr>
          <a:xfrm>
            <a:off x="2616200" y="2082800"/>
            <a:ext cx="1524000" cy="279400"/>
          </a:xfrm>
          <a:prstGeom prst="roundRect">
            <a:avLst>
              <a:gd name="adj" fmla="val 18000"/>
            </a:avLst>
          </a:prstGeom>
          <a:noFill/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de-DE" sz="1300" dirty="0">
                <a:solidFill>
                  <a:srgbClr val="262626"/>
                </a:solidFill>
              </a:rPr>
              <a:t>generate_input</a:t>
            </a:r>
          </a:p>
        </p:txBody>
      </p:sp>
      <p:sp>
        <p:nvSpPr>
          <p:cNvPr id="23" name="Node preprocess"/>
          <p:cNvSpPr/>
          <p:nvPr/>
        </p:nvSpPr>
        <p:spPr>
          <a:xfrm>
            <a:off x="2616200" y="2514600"/>
            <a:ext cx="1524000" cy="279400"/>
          </a:xfrm>
          <a:prstGeom prst="roundRect">
            <a:avLst>
              <a:gd name="adj" fmla="val 18000"/>
            </a:avLst>
          </a:prstGeom>
          <a:noFill/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de-DE" sz="1300" dirty="0">
                <a:solidFill>
                  <a:srgbClr val="262626"/>
                </a:solidFill>
              </a:rPr>
              <a:t>preprocess</a:t>
            </a:r>
          </a:p>
        </p:txBody>
      </p:sp>
      <p:cxnSp>
        <p:nvCxnSpPr>
          <p:cNvPr id="24" name="Pfeil"/>
          <p:cNvCxnSpPr/>
          <p:nvPr/>
        </p:nvCxnSpPr>
        <p:spPr>
          <a:xfrm>
            <a:off x="3378200" y="2362200"/>
            <a:ext cx="0" cy="152400"/>
          </a:xfrm>
          <a:prstGeom prst="straightConnector1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25" name="Node compute"/>
          <p:cNvSpPr/>
          <p:nvPr/>
        </p:nvSpPr>
        <p:spPr>
          <a:xfrm>
            <a:off x="2616200" y="2946400"/>
            <a:ext cx="1524000" cy="279400"/>
          </a:xfrm>
          <a:prstGeom prst="roundRect">
            <a:avLst>
              <a:gd name="adj" fmla="val 18000"/>
            </a:avLst>
          </a:prstGeom>
          <a:noFill/>
          <a:ln w="9525">
            <a:solidFill>
              <a:srgbClr val="C1002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de-DE" sz="1300" dirty="0">
                <a:solidFill>
                  <a:srgbClr val="C1002A"/>
                </a:solidFill>
              </a:rPr>
              <a:t>compute</a:t>
            </a:r>
          </a:p>
        </p:txBody>
      </p:sp>
      <p:cxnSp>
        <p:nvCxnSpPr>
          <p:cNvPr id="26" name="Pfeil"/>
          <p:cNvCxnSpPr/>
          <p:nvPr/>
        </p:nvCxnSpPr>
        <p:spPr>
          <a:xfrm>
            <a:off x="3378200" y="2794000"/>
            <a:ext cx="0" cy="152400"/>
          </a:xfrm>
          <a:prstGeom prst="straightConnector1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27" name="Node postprocess"/>
          <p:cNvSpPr/>
          <p:nvPr/>
        </p:nvSpPr>
        <p:spPr>
          <a:xfrm>
            <a:off x="2616200" y="3378200"/>
            <a:ext cx="1524000" cy="279400"/>
          </a:xfrm>
          <a:prstGeom prst="roundRect">
            <a:avLst>
              <a:gd name="adj" fmla="val 18000"/>
            </a:avLst>
          </a:prstGeom>
          <a:noFill/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de-DE" sz="1300" dirty="0">
                <a:solidFill>
                  <a:srgbClr val="262626"/>
                </a:solidFill>
              </a:rPr>
              <a:t>postprocess</a:t>
            </a:r>
          </a:p>
        </p:txBody>
      </p:sp>
      <p:cxnSp>
        <p:nvCxnSpPr>
          <p:cNvPr id="28" name="Pfeil"/>
          <p:cNvCxnSpPr/>
          <p:nvPr/>
        </p:nvCxnSpPr>
        <p:spPr>
          <a:xfrm>
            <a:off x="3378200" y="3225800"/>
            <a:ext cx="0" cy="152400"/>
          </a:xfrm>
          <a:prstGeom prst="straightConnector1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29" name="Node generate_input"/>
          <p:cNvSpPr/>
          <p:nvPr/>
        </p:nvSpPr>
        <p:spPr>
          <a:xfrm>
            <a:off x="8356600" y="2082800"/>
            <a:ext cx="1524000" cy="279400"/>
          </a:xfrm>
          <a:prstGeom prst="roundRect">
            <a:avLst>
              <a:gd name="adj" fmla="val 18000"/>
            </a:avLst>
          </a:prstGeom>
          <a:noFill/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de-DE" sz="1300" dirty="0">
                <a:solidFill>
                  <a:srgbClr val="262626"/>
                </a:solidFill>
              </a:rPr>
              <a:t>generate_input</a:t>
            </a:r>
          </a:p>
        </p:txBody>
      </p:sp>
      <p:cxnSp>
        <p:nvCxnSpPr>
          <p:cNvPr id="30" name="Pfeil"/>
          <p:cNvCxnSpPr/>
          <p:nvPr/>
        </p:nvCxnSpPr>
        <p:spPr>
          <a:xfrm>
            <a:off x="9118600" y="2362200"/>
            <a:ext cx="0" cy="152400"/>
          </a:xfrm>
          <a:prstGeom prst="straightConnector1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31" name="Node preprocess"/>
          <p:cNvSpPr/>
          <p:nvPr/>
        </p:nvSpPr>
        <p:spPr>
          <a:xfrm>
            <a:off x="8356600" y="2514600"/>
            <a:ext cx="1524000" cy="279400"/>
          </a:xfrm>
          <a:prstGeom prst="roundRect">
            <a:avLst>
              <a:gd name="adj" fmla="val 18000"/>
            </a:avLst>
          </a:prstGeom>
          <a:noFill/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de-DE" sz="1300" dirty="0">
                <a:solidFill>
                  <a:srgbClr val="262626"/>
                </a:solidFill>
              </a:rPr>
              <a:t>preprocess</a:t>
            </a:r>
          </a:p>
        </p:txBody>
      </p:sp>
      <p:cxnSp>
        <p:nvCxnSpPr>
          <p:cNvPr id="32" name="Pfeil"/>
          <p:cNvCxnSpPr/>
          <p:nvPr/>
        </p:nvCxnSpPr>
        <p:spPr>
          <a:xfrm>
            <a:off x="9118600" y="2794000"/>
            <a:ext cx="0" cy="152400"/>
          </a:xfrm>
          <a:prstGeom prst="straightConnector1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33" name="Node split"/>
          <p:cNvSpPr/>
          <p:nvPr/>
        </p:nvSpPr>
        <p:spPr>
          <a:xfrm>
            <a:off x="8356600" y="2946400"/>
            <a:ext cx="1524000" cy="279400"/>
          </a:xfrm>
          <a:prstGeom prst="roundRect">
            <a:avLst>
              <a:gd name="adj" fmla="val 18000"/>
            </a:avLst>
          </a:prstGeom>
          <a:noFill/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de-DE" sz="1300" dirty="0">
                <a:solidFill>
                  <a:srgbClr val="262626"/>
                </a:solidFill>
              </a:rPr>
              <a:t>split</a:t>
            </a:r>
          </a:p>
        </p:txBody>
      </p:sp>
      <p:sp>
        <p:nvSpPr>
          <p:cNvPr id="34" name="Node compute"/>
          <p:cNvSpPr/>
          <p:nvPr/>
        </p:nvSpPr>
        <p:spPr>
          <a:xfrm>
            <a:off x="7086600" y="3378200"/>
            <a:ext cx="1066800" cy="279400"/>
          </a:xfrm>
          <a:prstGeom prst="roundRect">
            <a:avLst>
              <a:gd name="adj" fmla="val 18000"/>
            </a:avLst>
          </a:prstGeom>
          <a:noFill/>
          <a:ln w="9525">
            <a:solidFill>
              <a:srgbClr val="C1002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de-DE" sz="1300" dirty="0">
                <a:solidFill>
                  <a:srgbClr val="C1002A"/>
                </a:solidFill>
              </a:rPr>
              <a:t>compute</a:t>
            </a:r>
            <a:r>
              <a:rPr lang="de-DE" sz="1300" baseline="-25000" dirty="0">
                <a:solidFill>
                  <a:srgbClr val="C1002A"/>
                </a:solidFill>
              </a:rPr>
              <a:t>1</a:t>
            </a:r>
          </a:p>
        </p:txBody>
      </p:sp>
      <p:cxnSp>
        <p:nvCxnSpPr>
          <p:cNvPr id="35" name="Pfeil"/>
          <p:cNvCxnSpPr/>
          <p:nvPr/>
        </p:nvCxnSpPr>
        <p:spPr>
          <a:xfrm flipH="1">
            <a:off x="7620000" y="3225800"/>
            <a:ext cx="1498600" cy="152400"/>
          </a:xfrm>
          <a:prstGeom prst="straightConnector1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cxnSp>
        <p:nvCxnSpPr>
          <p:cNvPr id="36" name="Pfeil"/>
          <p:cNvCxnSpPr/>
          <p:nvPr/>
        </p:nvCxnSpPr>
        <p:spPr>
          <a:xfrm>
            <a:off x="7620000" y="3657600"/>
            <a:ext cx="1498600" cy="152400"/>
          </a:xfrm>
          <a:prstGeom prst="straightConnector1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37" name="Node compute"/>
          <p:cNvSpPr/>
          <p:nvPr/>
        </p:nvSpPr>
        <p:spPr>
          <a:xfrm>
            <a:off x="8585200" y="3378200"/>
            <a:ext cx="1066800" cy="279400"/>
          </a:xfrm>
          <a:prstGeom prst="roundRect">
            <a:avLst>
              <a:gd name="adj" fmla="val 18000"/>
            </a:avLst>
          </a:prstGeom>
          <a:noFill/>
          <a:ln w="9525">
            <a:solidFill>
              <a:srgbClr val="C1002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de-DE" sz="1300" dirty="0">
                <a:solidFill>
                  <a:srgbClr val="C1002A"/>
                </a:solidFill>
              </a:rPr>
              <a:t>compute</a:t>
            </a:r>
            <a:r>
              <a:rPr lang="de-DE" sz="1300" baseline="-25000" dirty="0">
                <a:solidFill>
                  <a:srgbClr val="C1002A"/>
                </a:solidFill>
              </a:rPr>
              <a:t>2</a:t>
            </a:r>
          </a:p>
        </p:txBody>
      </p:sp>
      <p:cxnSp>
        <p:nvCxnSpPr>
          <p:cNvPr id="38" name="Pfeil"/>
          <p:cNvCxnSpPr/>
          <p:nvPr/>
        </p:nvCxnSpPr>
        <p:spPr>
          <a:xfrm>
            <a:off x="9118600" y="3225800"/>
            <a:ext cx="0" cy="152400"/>
          </a:xfrm>
          <a:prstGeom prst="straightConnector1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cxnSp>
        <p:nvCxnSpPr>
          <p:cNvPr id="39" name="Pfeil"/>
          <p:cNvCxnSpPr/>
          <p:nvPr/>
        </p:nvCxnSpPr>
        <p:spPr>
          <a:xfrm>
            <a:off x="9118600" y="3657600"/>
            <a:ext cx="0" cy="152400"/>
          </a:xfrm>
          <a:prstGeom prst="straightConnector1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40" name="Node compute"/>
          <p:cNvSpPr/>
          <p:nvPr/>
        </p:nvSpPr>
        <p:spPr>
          <a:xfrm>
            <a:off x="10083800" y="3378200"/>
            <a:ext cx="1066800" cy="279400"/>
          </a:xfrm>
          <a:prstGeom prst="roundRect">
            <a:avLst>
              <a:gd name="adj" fmla="val 18000"/>
            </a:avLst>
          </a:prstGeom>
          <a:noFill/>
          <a:ln w="9525">
            <a:solidFill>
              <a:srgbClr val="C1002A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de-DE" sz="1300" dirty="0">
                <a:solidFill>
                  <a:srgbClr val="C1002A"/>
                </a:solidFill>
              </a:rPr>
              <a:t>compute</a:t>
            </a:r>
            <a:r>
              <a:rPr lang="de-DE" sz="1300" baseline="-25000" dirty="0">
                <a:solidFill>
                  <a:srgbClr val="C1002A"/>
                </a:solidFill>
              </a:rPr>
              <a:t>n</a:t>
            </a:r>
          </a:p>
        </p:txBody>
      </p:sp>
      <p:cxnSp>
        <p:nvCxnSpPr>
          <p:cNvPr id="41" name="Pfeil"/>
          <p:cNvCxnSpPr/>
          <p:nvPr/>
        </p:nvCxnSpPr>
        <p:spPr>
          <a:xfrm>
            <a:off x="9118600" y="3225800"/>
            <a:ext cx="1498600" cy="152400"/>
          </a:xfrm>
          <a:prstGeom prst="straightConnector1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cxnSp>
        <p:nvCxnSpPr>
          <p:cNvPr id="42" name="Pfeil"/>
          <p:cNvCxnSpPr/>
          <p:nvPr/>
        </p:nvCxnSpPr>
        <p:spPr>
          <a:xfrm flipH="1">
            <a:off x="9118600" y="3657600"/>
            <a:ext cx="1498600" cy="152400"/>
          </a:xfrm>
          <a:prstGeom prst="straightConnector1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43" name="Ellipsis"/>
          <p:cNvSpPr txBox="1"/>
          <p:nvPr/>
        </p:nvSpPr>
        <p:spPr>
          <a:xfrm>
            <a:off x="9867900" y="3378200"/>
            <a:ext cx="215900" cy="2794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/>
            <a:r>
              <a:rPr lang="de-DE" sz="1300" dirty="0">
                <a:solidFill>
                  <a:srgbClr val="A6A6A6"/>
                </a:solidFill>
              </a:rPr>
              <a:t>···</a:t>
            </a:r>
          </a:p>
        </p:txBody>
      </p:sp>
      <p:sp>
        <p:nvSpPr>
          <p:cNvPr id="44" name="Node aggregate"/>
          <p:cNvSpPr/>
          <p:nvPr/>
        </p:nvSpPr>
        <p:spPr>
          <a:xfrm>
            <a:off x="8356600" y="3810000"/>
            <a:ext cx="1524000" cy="279400"/>
          </a:xfrm>
          <a:prstGeom prst="roundRect">
            <a:avLst>
              <a:gd name="adj" fmla="val 18000"/>
            </a:avLst>
          </a:prstGeom>
          <a:noFill/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de-DE" sz="1300" dirty="0">
                <a:solidFill>
                  <a:srgbClr val="262626"/>
                </a:solidFill>
              </a:rPr>
              <a:t>aggregate</a:t>
            </a:r>
          </a:p>
        </p:txBody>
      </p:sp>
      <p:cxnSp>
        <p:nvCxnSpPr>
          <p:cNvPr id="45" name="Pfeil"/>
          <p:cNvCxnSpPr/>
          <p:nvPr/>
        </p:nvCxnSpPr>
        <p:spPr>
          <a:xfrm>
            <a:off x="9118600" y="4089400"/>
            <a:ext cx="0" cy="152400"/>
          </a:xfrm>
          <a:prstGeom prst="straightConnector1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46" name="Node postprocess"/>
          <p:cNvSpPr/>
          <p:nvPr/>
        </p:nvSpPr>
        <p:spPr>
          <a:xfrm>
            <a:off x="8356600" y="4241800"/>
            <a:ext cx="1524000" cy="279400"/>
          </a:xfrm>
          <a:prstGeom prst="roundRect">
            <a:avLst>
              <a:gd name="adj" fmla="val 18000"/>
            </a:avLst>
          </a:prstGeom>
          <a:noFill/>
          <a:ln w="9525">
            <a:solidFill>
              <a:srgbClr val="BFBFBF"/>
            </a:solidFill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de-DE" sz="1300" dirty="0">
                <a:solidFill>
                  <a:srgbClr val="262626"/>
                </a:solidFill>
              </a:rPr>
              <a:t>postprocess</a:t>
            </a:r>
          </a:p>
        </p:txBody>
      </p:sp>
      <p:sp>
        <p:nvSpPr>
          <p:cNvPr id="47" name="Caption links"/>
          <p:cNvSpPr txBox="1"/>
          <p:nvPr/>
        </p:nvSpPr>
        <p:spPr>
          <a:xfrm>
            <a:off x="1219200" y="459740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200" i="1" dirty="0">
                <a:solidFill>
                  <a:srgbClr val="595959"/>
                </a:solidFill>
              </a:rPr>
              <a:t>Sequenzielle Verarbeitung</a:t>
            </a:r>
          </a:p>
        </p:txBody>
      </p:sp>
      <p:sp>
        <p:nvSpPr>
          <p:cNvPr id="48" name="Caption rechts"/>
          <p:cNvSpPr txBox="1"/>
          <p:nvPr/>
        </p:nvSpPr>
        <p:spPr>
          <a:xfrm>
            <a:off x="6959600" y="459740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200" i="1" dirty="0">
                <a:solidFill>
                  <a:srgbClr val="595959"/>
                </a:solidFill>
              </a:rPr>
              <a:t>Parallele Verarbeitung mit anschließender Zusammenführung</a:t>
            </a:r>
          </a:p>
        </p:txBody>
      </p:sp>
      <p:sp>
        <p:nvSpPr>
          <p:cNvPr id="4" name="Foliennummer"/>
          <p:cNvSpPr txBox="1"/>
          <p:nvPr/>
        </p:nvSpPr>
        <p:spPr>
          <a:xfrm>
            <a:off x="10769600" y="6197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de-DE" sz="1200" dirty="0">
                <a:solidFill>
                  <a:srgbClr val="8C8C8C"/>
                </a:solidFill>
              </a:rPr>
              <a:t>8</a:t>
            </a:r>
          </a:p>
        </p:txBody>
      </p:sp>
      <p:cxnSp>
        <p:nvCxnSpPr>
          <p:cNvPr id="5" name="Fortschritt Linie"/>
          <p:cNvCxnSpPr/>
          <p:nvPr/>
        </p:nvCxnSpPr>
        <p:spPr>
          <a:xfrm>
            <a:off x="1219200" y="6172200"/>
            <a:ext cx="5080000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6" name="Marker Motivation"/>
          <p:cNvSpPr/>
          <p:nvPr/>
        </p:nvSpPr>
        <p:spPr>
          <a:xfrm>
            <a:off x="118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2" name="Label Motivation"/>
          <p:cNvSpPr txBox="1"/>
          <p:nvPr/>
        </p:nvSpPr>
        <p:spPr>
          <a:xfrm>
            <a:off x="1219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lang="de-DE" sz="1000" dirty="0">
                <a:solidFill>
                  <a:srgbClr val="A6A6A6"/>
                </a:solidFill>
              </a:rPr>
              <a:t>Motivation</a:t>
            </a:r>
          </a:p>
        </p:txBody>
      </p:sp>
      <p:sp>
        <p:nvSpPr>
          <p:cNvPr id="53" name="Marker Methodik"/>
          <p:cNvSpPr/>
          <p:nvPr/>
        </p:nvSpPr>
        <p:spPr>
          <a:xfrm>
            <a:off x="2444750" y="6127750"/>
            <a:ext cx="88900" cy="88900"/>
          </a:xfrm>
          <a:prstGeom prst="ellipse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4" name="Label Methodik"/>
          <p:cNvSpPr txBox="1"/>
          <p:nvPr/>
        </p:nvSpPr>
        <p:spPr>
          <a:xfrm>
            <a:off x="185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b="1" dirty="0">
                <a:solidFill>
                  <a:srgbClr val="C1002A"/>
                </a:solidFill>
              </a:rPr>
              <a:t>Methodik</a:t>
            </a:r>
          </a:p>
        </p:txBody>
      </p:sp>
      <p:sp>
        <p:nvSpPr>
          <p:cNvPr id="55" name="Marker Systeme"/>
          <p:cNvSpPr/>
          <p:nvPr/>
        </p:nvSpPr>
        <p:spPr>
          <a:xfrm>
            <a:off x="372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6" name="Label Systeme"/>
          <p:cNvSpPr txBox="1"/>
          <p:nvPr/>
        </p:nvSpPr>
        <p:spPr>
          <a:xfrm>
            <a:off x="312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Systeme</a:t>
            </a:r>
          </a:p>
        </p:txBody>
      </p:sp>
      <p:sp>
        <p:nvSpPr>
          <p:cNvPr id="57" name="Marker Untersuchung"/>
          <p:cNvSpPr/>
          <p:nvPr/>
        </p:nvSpPr>
        <p:spPr>
          <a:xfrm>
            <a:off x="499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8" name="Label Untersuchung"/>
          <p:cNvSpPr txBox="1"/>
          <p:nvPr/>
        </p:nvSpPr>
        <p:spPr>
          <a:xfrm>
            <a:off x="439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Untersuchung</a:t>
            </a:r>
          </a:p>
        </p:txBody>
      </p:sp>
      <p:sp>
        <p:nvSpPr>
          <p:cNvPr id="59" name="Marker Fazit"/>
          <p:cNvSpPr/>
          <p:nvPr/>
        </p:nvSpPr>
        <p:spPr>
          <a:xfrm>
            <a:off x="626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0" name="Label Fazit"/>
          <p:cNvSpPr txBox="1"/>
          <p:nvPr/>
        </p:nvSpPr>
        <p:spPr>
          <a:xfrm>
            <a:off x="5029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r"/>
            <a:r>
              <a:rPr lang="de-DE" sz="1000" dirty="0">
                <a:solidFill>
                  <a:srgbClr val="A6A6A6"/>
                </a:solidFill>
              </a:rPr>
              <a:t>Fazit</a:t>
            </a:r>
          </a:p>
        </p:txBody>
      </p:sp>
      <p:sp>
        <p:nvSpPr>
          <p:cNvPr id="70" name="Parameter links"/>
          <p:cNvSpPr txBox="1"/>
          <p:nvPr/>
        </p:nvSpPr>
        <p:spPr>
          <a:xfrm>
            <a:off x="1219200" y="4838700"/>
            <a:ext cx="4318000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200" dirty="0">
                <a:solidFill>
                  <a:srgbClr val="595959"/>
                </a:solidFill>
              </a:rPr>
              <a:t>Rechenlast: </a:t>
            </a:r>
            <a:r>
              <a:rPr lang="de-DE" sz="1200" b="1" dirty="0">
                <a:solidFill>
                  <a:srgbClr val="262626"/>
                </a:solidFill>
              </a:rPr>
              <a:t>kurz · mittel · lang</a:t>
            </a:r>
          </a:p>
        </p:txBody>
      </p:sp>
      <p:sp>
        <p:nvSpPr>
          <p:cNvPr id="71" name="Parameter rechts"/>
          <p:cNvSpPr txBox="1"/>
          <p:nvPr/>
        </p:nvSpPr>
        <p:spPr>
          <a:xfrm>
            <a:off x="6959600" y="4838700"/>
            <a:ext cx="43180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spcAft>
                <a:spcPts val="200"/>
              </a:spcAft>
            </a:pPr>
            <a:r>
              <a:rPr lang="de-DE" sz="1200" dirty="0">
                <a:solidFill>
                  <a:srgbClr val="595959"/>
                </a:solidFill>
              </a:rPr>
              <a:t>Rechenlast: </a:t>
            </a:r>
            <a:r>
              <a:rPr lang="de-DE" sz="1200" b="1" dirty="0">
                <a:solidFill>
                  <a:srgbClr val="262626"/>
                </a:solidFill>
              </a:rPr>
              <a:t>kurz· mittel · lang</a:t>
            </a:r>
          </a:p>
          <a:p>
            <a:pPr algn="ctr"/>
            <a:r>
              <a:rPr lang="de-DE" sz="1200" dirty="0">
                <a:solidFill>
                  <a:srgbClr val="595959"/>
                </a:solidFill>
              </a:rPr>
              <a:t>Teilstücke: </a:t>
            </a:r>
            <a:r>
              <a:rPr lang="de-DE" sz="1200" b="1" dirty="0">
                <a:solidFill>
                  <a:srgbClr val="262626"/>
                </a:solidFill>
              </a:rPr>
              <a:t>1 · 2 · 4</a:t>
            </a:r>
          </a:p>
        </p:txBody>
      </p:sp>
      <p:cxnSp>
        <p:nvCxnSpPr>
          <p:cNvPr id="72" name="Trennlinie"/>
          <p:cNvCxnSpPr/>
          <p:nvPr/>
        </p:nvCxnSpPr>
        <p:spPr>
          <a:xfrm>
            <a:off x="1219200" y="5359400"/>
            <a:ext cx="10058400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73" name="Kernaussage"/>
          <p:cNvSpPr txBox="1"/>
          <p:nvPr/>
        </p:nvSpPr>
        <p:spPr>
          <a:xfrm>
            <a:off x="1219200" y="5511800"/>
            <a:ext cx="100584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400" b="1" dirty="0">
                <a:solidFill>
                  <a:srgbClr val="262626"/>
                </a:solidFill>
              </a:rPr>
              <a:t>Gleiche Rechenlogik in allen fünf Systemen</a:t>
            </a:r>
          </a:p>
        </p:txBody>
      </p:sp>
    </p:spTree>
    <p:extLst>
      <p:ext uri="{BB962C8B-B14F-4D97-AF65-F5344CB8AC3E}">
        <p14:creationId xmlns:p14="http://schemas.microsoft.com/office/powerpoint/2010/main" val="2600877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855EF-998F-9ED7-38F1-4399375D9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812800"/>
            <a:ext cx="10058400" cy="78740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de-DE" sz="2600" b="1" dirty="0">
                <a:solidFill>
                  <a:srgbClr val="262626"/>
                </a:solidFill>
              </a:rPr>
              <a:t>Messmethodik</a:t>
            </a:r>
          </a:p>
        </p:txBody>
      </p:sp>
      <p:sp>
        <p:nvSpPr>
          <p:cNvPr id="20" name="Akzentlinie"/>
          <p:cNvSpPr/>
          <p:nvPr/>
        </p:nvSpPr>
        <p:spPr>
          <a:xfrm>
            <a:off x="914400" y="812800"/>
            <a:ext cx="50800" cy="4318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cxnSp>
        <p:nvCxnSpPr>
          <p:cNvPr id="21" name="Trenner vertikal"/>
          <p:cNvCxnSpPr/>
          <p:nvPr/>
        </p:nvCxnSpPr>
        <p:spPr>
          <a:xfrm>
            <a:off x="6248400" y="1524000"/>
            <a:ext cx="0" cy="3937000"/>
          </a:xfrm>
          <a:prstGeom prst="straightConnector1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22" name="Trenner horizontal"/>
          <p:cNvCxnSpPr/>
          <p:nvPr/>
        </p:nvCxnSpPr>
        <p:spPr>
          <a:xfrm>
            <a:off x="1219200" y="3543300"/>
            <a:ext cx="10058400" cy="0"/>
          </a:xfrm>
          <a:prstGeom prst="straightConnector1">
            <a:avLst/>
          </a:prstGeom>
          <a:ln w="6350">
            <a:solidFill>
              <a:srgbClr val="D9D9D9"/>
            </a:solidFill>
          </a:ln>
        </p:spPr>
      </p:cxnSp>
      <p:sp>
        <p:nvSpPr>
          <p:cNvPr id="23" name="Überschrift WORKFLOW-MAKESPAN"/>
          <p:cNvSpPr txBox="1"/>
          <p:nvPr/>
        </p:nvSpPr>
        <p:spPr>
          <a:xfrm>
            <a:off x="1219200" y="1498600"/>
            <a:ext cx="46228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200" b="1" spc="150" dirty="0">
                <a:solidFill>
                  <a:srgbClr val="C1002A"/>
                </a:solidFill>
              </a:rPr>
              <a:t>WORKFLOW-MAKESPAN</a:t>
            </a:r>
          </a:p>
        </p:txBody>
      </p:sp>
      <p:cxnSp>
        <p:nvCxnSpPr>
          <p:cNvPr id="24" name="Zeitachse"/>
          <p:cNvCxnSpPr/>
          <p:nvPr/>
        </p:nvCxnSpPr>
        <p:spPr>
          <a:xfrm>
            <a:off x="1270000" y="2540000"/>
            <a:ext cx="4470400" cy="0"/>
          </a:xfrm>
          <a:prstGeom prst="straightConnector1">
            <a:avLst/>
          </a:prstGeom>
          <a:ln w="9525">
            <a:solidFill>
              <a:srgbClr val="A6A6A6"/>
            </a:solidFill>
            <a:tailEnd type="triangle" w="sm" len="sm"/>
          </a:ln>
        </p:spPr>
      </p:cxnSp>
      <p:sp>
        <p:nvSpPr>
          <p:cNvPr id="25" name="Makespan Balken"/>
          <p:cNvSpPr/>
          <p:nvPr/>
        </p:nvSpPr>
        <p:spPr>
          <a:xfrm>
            <a:off x="1422400" y="2362200"/>
            <a:ext cx="4165600" cy="1778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endParaRPr lang="de-DE"/>
          </a:p>
        </p:txBody>
      </p:sp>
      <p:cxnSp>
        <p:nvCxnSpPr>
          <p:cNvPr id="29" name="Tick"/>
          <p:cNvCxnSpPr/>
          <p:nvPr/>
        </p:nvCxnSpPr>
        <p:spPr>
          <a:xfrm>
            <a:off x="1422400" y="2235200"/>
            <a:ext cx="0" cy="533400"/>
          </a:xfrm>
          <a:prstGeom prst="straightConnector1">
            <a:avLst/>
          </a:prstGeom>
          <a:ln w="6350">
            <a:solidFill>
              <a:srgbClr val="C1002A"/>
            </a:solidFill>
            <a:prstDash val="dash"/>
          </a:ln>
        </p:spPr>
      </p:cxnSp>
      <p:cxnSp>
        <p:nvCxnSpPr>
          <p:cNvPr id="30" name="Tick"/>
          <p:cNvCxnSpPr/>
          <p:nvPr/>
        </p:nvCxnSpPr>
        <p:spPr>
          <a:xfrm>
            <a:off x="5588000" y="2235200"/>
            <a:ext cx="0" cy="533400"/>
          </a:xfrm>
          <a:prstGeom prst="straightConnector1">
            <a:avLst/>
          </a:prstGeom>
          <a:ln w="6350">
            <a:solidFill>
              <a:srgbClr val="C1002A"/>
            </a:solidFill>
            <a:prstDash val="dash"/>
          </a:ln>
        </p:spPr>
      </p:cxnSp>
      <p:cxnSp>
        <p:nvCxnSpPr>
          <p:cNvPr id="31" name="Messspanne Makespan"/>
          <p:cNvCxnSpPr/>
          <p:nvPr/>
        </p:nvCxnSpPr>
        <p:spPr>
          <a:xfrm>
            <a:off x="1422400" y="2717800"/>
            <a:ext cx="4165600" cy="0"/>
          </a:xfrm>
          <a:prstGeom prst="straightConnector1">
            <a:avLst/>
          </a:prstGeom>
          <a:ln w="12700">
            <a:solidFill>
              <a:srgbClr val="C1002A"/>
            </a:solidFill>
            <a:headEnd type="triangle" w="sm" len="sm"/>
            <a:tailEnd type="triangle" w="sm" len="sm"/>
          </a:ln>
        </p:spPr>
      </p:cxnSp>
      <p:sp>
        <p:nvSpPr>
          <p:cNvPr id="32" name="Label Makespan"/>
          <p:cNvSpPr txBox="1"/>
          <p:nvPr/>
        </p:nvSpPr>
        <p:spPr>
          <a:xfrm>
            <a:off x="2679700" y="2781300"/>
            <a:ext cx="1651000" cy="1778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200" b="1" dirty="0">
                <a:solidFill>
                  <a:srgbClr val="C1002A"/>
                </a:solidFill>
              </a:rPr>
              <a:t>Makespan</a:t>
            </a:r>
          </a:p>
        </p:txBody>
      </p:sp>
      <p:sp>
        <p:nvSpPr>
          <p:cNvPr id="33" name="Stichpunkte"/>
          <p:cNvSpPr txBox="1"/>
          <p:nvPr/>
        </p:nvSpPr>
        <p:spPr>
          <a:xfrm>
            <a:off x="1219200" y="3048000"/>
            <a:ext cx="46228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 algn="l">
              <a:spcAft>
                <a:spcPts val="3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300" dirty="0">
                <a:solidFill>
                  <a:srgbClr val="262626"/>
                </a:solidFill>
              </a:rPr>
              <a:t>Gesamtlaufzeit des Workflows</a:t>
            </a:r>
          </a:p>
        </p:txBody>
      </p:sp>
      <p:sp>
        <p:nvSpPr>
          <p:cNvPr id="34" name="Überschrift WMS-OVERHEAD"/>
          <p:cNvSpPr txBox="1"/>
          <p:nvPr/>
        </p:nvSpPr>
        <p:spPr>
          <a:xfrm>
            <a:off x="6654800" y="1498600"/>
            <a:ext cx="46228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200" b="1" spc="150" dirty="0">
                <a:solidFill>
                  <a:srgbClr val="C1002A"/>
                </a:solidFill>
              </a:rPr>
              <a:t>WMS-OVERHEAD</a:t>
            </a:r>
          </a:p>
        </p:txBody>
      </p:sp>
      <p:cxnSp>
        <p:nvCxnSpPr>
          <p:cNvPr id="35" name="Zeitachse"/>
          <p:cNvCxnSpPr/>
          <p:nvPr/>
        </p:nvCxnSpPr>
        <p:spPr>
          <a:xfrm>
            <a:off x="6705600" y="2540000"/>
            <a:ext cx="4470400" cy="0"/>
          </a:xfrm>
          <a:prstGeom prst="straightConnector1">
            <a:avLst/>
          </a:prstGeom>
          <a:ln w="9525">
            <a:solidFill>
              <a:srgbClr val="A6A6A6"/>
            </a:solidFill>
            <a:tailEnd type="triangle" w="sm" len="sm"/>
          </a:ln>
        </p:spPr>
      </p:cxnSp>
      <p:sp>
        <p:nvSpPr>
          <p:cNvPr id="36" name="Zeile Referenz"/>
          <p:cNvSpPr txBox="1"/>
          <p:nvPr/>
        </p:nvSpPr>
        <p:spPr>
          <a:xfrm>
            <a:off x="6654800" y="2032000"/>
            <a:ext cx="965200" cy="177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de-DE" sz="1100" dirty="0">
                <a:solidFill>
                  <a:srgbClr val="595959"/>
                </a:solidFill>
              </a:rPr>
              <a:t>ohne WMS</a:t>
            </a:r>
          </a:p>
        </p:txBody>
      </p:sp>
      <p:sp>
        <p:nvSpPr>
          <p:cNvPr id="37" name="Zeile WMS"/>
          <p:cNvSpPr txBox="1"/>
          <p:nvPr/>
        </p:nvSpPr>
        <p:spPr>
          <a:xfrm>
            <a:off x="6654800" y="2362200"/>
            <a:ext cx="965200" cy="1778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de-DE" sz="1100" dirty="0">
                <a:solidFill>
                  <a:srgbClr val="595959"/>
                </a:solidFill>
              </a:rPr>
              <a:t>mit WMS</a:t>
            </a:r>
          </a:p>
        </p:txBody>
      </p:sp>
      <p:sp>
        <p:nvSpPr>
          <p:cNvPr id="38" name="Referenz Schritt"/>
          <p:cNvSpPr/>
          <p:nvPr/>
        </p:nvSpPr>
        <p:spPr>
          <a:xfrm>
            <a:off x="7696200" y="2032000"/>
            <a:ext cx="2120900" cy="177800"/>
          </a:xfrm>
          <a:prstGeom prst="rect">
            <a:avLst/>
          </a:prstGeom>
          <a:solidFill>
            <a:srgbClr val="8C8C8C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endParaRPr lang="de-DE"/>
          </a:p>
        </p:txBody>
      </p:sp>
      <p:sp>
        <p:nvSpPr>
          <p:cNvPr id="42" name="WMS Schritt"/>
          <p:cNvSpPr/>
          <p:nvPr/>
        </p:nvSpPr>
        <p:spPr>
          <a:xfrm>
            <a:off x="7696200" y="2362200"/>
            <a:ext cx="2679700" cy="1778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endParaRPr lang="de-DE"/>
          </a:p>
        </p:txBody>
      </p:sp>
      <p:cxnSp>
        <p:nvCxnSpPr>
          <p:cNvPr id="46" name="Tick"/>
          <p:cNvCxnSpPr/>
          <p:nvPr/>
        </p:nvCxnSpPr>
        <p:spPr>
          <a:xfrm>
            <a:off x="9817100" y="1955800"/>
            <a:ext cx="0" cy="812800"/>
          </a:xfrm>
          <a:prstGeom prst="straightConnector1">
            <a:avLst/>
          </a:prstGeom>
          <a:ln w="6350">
            <a:solidFill>
              <a:srgbClr val="C1002A"/>
            </a:solidFill>
            <a:prstDash val="dash"/>
          </a:ln>
        </p:spPr>
      </p:cxnSp>
      <p:cxnSp>
        <p:nvCxnSpPr>
          <p:cNvPr id="47" name="Tick"/>
          <p:cNvCxnSpPr/>
          <p:nvPr/>
        </p:nvCxnSpPr>
        <p:spPr>
          <a:xfrm>
            <a:off x="10375900" y="1955800"/>
            <a:ext cx="0" cy="812800"/>
          </a:xfrm>
          <a:prstGeom prst="straightConnector1">
            <a:avLst/>
          </a:prstGeom>
          <a:ln w="6350">
            <a:solidFill>
              <a:srgbClr val="C1002A"/>
            </a:solidFill>
            <a:prstDash val="dash"/>
          </a:ln>
        </p:spPr>
      </p:cxnSp>
      <p:cxnSp>
        <p:nvCxnSpPr>
          <p:cNvPr id="48" name="Messspanne Overhead"/>
          <p:cNvCxnSpPr/>
          <p:nvPr/>
        </p:nvCxnSpPr>
        <p:spPr>
          <a:xfrm>
            <a:off x="9817100" y="2717800"/>
            <a:ext cx="558800" cy="0"/>
          </a:xfrm>
          <a:prstGeom prst="straightConnector1">
            <a:avLst/>
          </a:prstGeom>
          <a:ln w="12700">
            <a:solidFill>
              <a:srgbClr val="C1002A"/>
            </a:solidFill>
            <a:headEnd type="triangle" w="sm" len="sm"/>
            <a:tailEnd type="triangle" w="sm" len="sm"/>
          </a:ln>
        </p:spPr>
      </p:cxnSp>
      <p:sp>
        <p:nvSpPr>
          <p:cNvPr id="49" name="Label Overhead"/>
          <p:cNvSpPr txBox="1"/>
          <p:nvPr/>
        </p:nvSpPr>
        <p:spPr>
          <a:xfrm>
            <a:off x="9461500" y="2781300"/>
            <a:ext cx="1270000" cy="1778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200" b="1" dirty="0">
                <a:solidFill>
                  <a:srgbClr val="C1002A"/>
                </a:solidFill>
              </a:rPr>
              <a:t>Overhead</a:t>
            </a:r>
          </a:p>
        </p:txBody>
      </p:sp>
      <p:sp>
        <p:nvSpPr>
          <p:cNvPr id="50" name="Stichpunkte"/>
          <p:cNvSpPr txBox="1"/>
          <p:nvPr/>
        </p:nvSpPr>
        <p:spPr>
          <a:xfrm>
            <a:off x="6654800" y="3048000"/>
            <a:ext cx="462280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 algn="l">
              <a:spcAft>
                <a:spcPts val="3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300" dirty="0">
                <a:solidFill>
                  <a:srgbClr val="262626"/>
                </a:solidFill>
              </a:rPr>
              <a:t>Vergleich mit Referenz ohne WMS</a:t>
            </a:r>
          </a:p>
          <a:p>
            <a:pPr marL="177800" indent="-177800" algn="l">
              <a:spcAft>
                <a:spcPts val="3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300" dirty="0">
                <a:solidFill>
                  <a:srgbClr val="262626"/>
                </a:solidFill>
              </a:rPr>
              <a:t>Zusätzliche Laufzeit durch WMS-Ausführung</a:t>
            </a:r>
          </a:p>
        </p:txBody>
      </p:sp>
      <p:sp>
        <p:nvSpPr>
          <p:cNvPr id="51" name="Überschrift ÜBERGANGSLATENZ"/>
          <p:cNvSpPr txBox="1"/>
          <p:nvPr/>
        </p:nvSpPr>
        <p:spPr>
          <a:xfrm>
            <a:off x="1219200" y="3657600"/>
            <a:ext cx="46228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200" b="1" spc="150" dirty="0">
                <a:solidFill>
                  <a:srgbClr val="C1002A"/>
                </a:solidFill>
              </a:rPr>
              <a:t>ÜBERGANGSLATENZ</a:t>
            </a:r>
          </a:p>
        </p:txBody>
      </p:sp>
      <p:cxnSp>
        <p:nvCxnSpPr>
          <p:cNvPr id="52" name="Zeitachse"/>
          <p:cNvCxnSpPr/>
          <p:nvPr/>
        </p:nvCxnSpPr>
        <p:spPr>
          <a:xfrm>
            <a:off x="1270000" y="4699000"/>
            <a:ext cx="4470400" cy="0"/>
          </a:xfrm>
          <a:prstGeom prst="straightConnector1">
            <a:avLst/>
          </a:prstGeom>
          <a:ln w="9525">
            <a:solidFill>
              <a:srgbClr val="A6A6A6"/>
            </a:solidFill>
            <a:tailEnd type="triangle" w="sm" len="sm"/>
          </a:ln>
        </p:spPr>
      </p:cxnSp>
      <p:sp>
        <p:nvSpPr>
          <p:cNvPr id="53" name="Schritt A"/>
          <p:cNvSpPr/>
          <p:nvPr/>
        </p:nvSpPr>
        <p:spPr>
          <a:xfrm>
            <a:off x="1905000" y="4521200"/>
            <a:ext cx="1397000" cy="1778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1200" b="1" dirty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54" name="Schritt B"/>
          <p:cNvSpPr/>
          <p:nvPr/>
        </p:nvSpPr>
        <p:spPr>
          <a:xfrm>
            <a:off x="3835400" y="4521200"/>
            <a:ext cx="1397000" cy="1778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r>
              <a:rPr lang="de-DE" sz="1200" b="1" dirty="0">
                <a:solidFill>
                  <a:srgbClr val="FFFFFF"/>
                </a:solidFill>
              </a:rPr>
              <a:t>B</a:t>
            </a:r>
          </a:p>
        </p:txBody>
      </p:sp>
      <p:cxnSp>
        <p:nvCxnSpPr>
          <p:cNvPr id="55" name="Tick"/>
          <p:cNvCxnSpPr/>
          <p:nvPr/>
        </p:nvCxnSpPr>
        <p:spPr>
          <a:xfrm>
            <a:off x="3302000" y="4445000"/>
            <a:ext cx="0" cy="482600"/>
          </a:xfrm>
          <a:prstGeom prst="straightConnector1">
            <a:avLst/>
          </a:prstGeom>
          <a:ln w="6350">
            <a:solidFill>
              <a:srgbClr val="C1002A"/>
            </a:solidFill>
            <a:prstDash val="dash"/>
          </a:ln>
        </p:spPr>
      </p:cxnSp>
      <p:cxnSp>
        <p:nvCxnSpPr>
          <p:cNvPr id="56" name="Tick"/>
          <p:cNvCxnSpPr/>
          <p:nvPr/>
        </p:nvCxnSpPr>
        <p:spPr>
          <a:xfrm>
            <a:off x="3835400" y="4445000"/>
            <a:ext cx="0" cy="482600"/>
          </a:xfrm>
          <a:prstGeom prst="straightConnector1">
            <a:avLst/>
          </a:prstGeom>
          <a:ln w="6350">
            <a:solidFill>
              <a:srgbClr val="C1002A"/>
            </a:solidFill>
            <a:prstDash val="dash"/>
          </a:ln>
        </p:spPr>
      </p:cxnSp>
      <p:cxnSp>
        <p:nvCxnSpPr>
          <p:cNvPr id="57" name="Messspanne Übergangslatenz"/>
          <p:cNvCxnSpPr/>
          <p:nvPr/>
        </p:nvCxnSpPr>
        <p:spPr>
          <a:xfrm>
            <a:off x="3302000" y="4876800"/>
            <a:ext cx="533400" cy="0"/>
          </a:xfrm>
          <a:prstGeom prst="straightConnector1">
            <a:avLst/>
          </a:prstGeom>
          <a:ln w="12700">
            <a:solidFill>
              <a:srgbClr val="C1002A"/>
            </a:solidFill>
            <a:headEnd type="triangle" w="sm" len="sm"/>
            <a:tailEnd type="triangle" w="sm" len="sm"/>
          </a:ln>
        </p:spPr>
      </p:cxnSp>
      <p:sp>
        <p:nvSpPr>
          <p:cNvPr id="58" name="Label Übergangslatenz"/>
          <p:cNvSpPr txBox="1"/>
          <p:nvPr/>
        </p:nvSpPr>
        <p:spPr>
          <a:xfrm>
            <a:off x="2743200" y="4940300"/>
            <a:ext cx="1651000" cy="1778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200" b="1" dirty="0">
                <a:solidFill>
                  <a:srgbClr val="C1002A"/>
                </a:solidFill>
              </a:rPr>
              <a:t>Übergangslatenz</a:t>
            </a:r>
          </a:p>
        </p:txBody>
      </p:sp>
      <p:sp>
        <p:nvSpPr>
          <p:cNvPr id="59" name="Stichpunkte"/>
          <p:cNvSpPr txBox="1"/>
          <p:nvPr/>
        </p:nvSpPr>
        <p:spPr>
          <a:xfrm>
            <a:off x="1219200" y="5207000"/>
            <a:ext cx="46228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 algn="l">
              <a:spcAft>
                <a:spcPts val="3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300" dirty="0">
                <a:solidFill>
                  <a:srgbClr val="262626"/>
                </a:solidFill>
              </a:rPr>
              <a:t>Ende eines Schritts → Start des nächsten</a:t>
            </a:r>
          </a:p>
        </p:txBody>
      </p:sp>
      <p:sp>
        <p:nvSpPr>
          <p:cNvPr id="60" name="Überschrift STARTSPREIZUNG"/>
          <p:cNvSpPr txBox="1"/>
          <p:nvPr/>
        </p:nvSpPr>
        <p:spPr>
          <a:xfrm>
            <a:off x="6654800" y="3657600"/>
            <a:ext cx="46228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200" b="1" spc="150" dirty="0">
                <a:solidFill>
                  <a:srgbClr val="C1002A"/>
                </a:solidFill>
              </a:rPr>
              <a:t>STARTSPREIZUNG</a:t>
            </a:r>
          </a:p>
        </p:txBody>
      </p:sp>
      <p:cxnSp>
        <p:nvCxnSpPr>
          <p:cNvPr id="61" name="Zeitachse"/>
          <p:cNvCxnSpPr/>
          <p:nvPr/>
        </p:nvCxnSpPr>
        <p:spPr>
          <a:xfrm>
            <a:off x="6705600" y="4699000"/>
            <a:ext cx="4470400" cy="0"/>
          </a:xfrm>
          <a:prstGeom prst="straightConnector1">
            <a:avLst/>
          </a:prstGeom>
          <a:ln w="9525">
            <a:solidFill>
              <a:srgbClr val="A6A6A6"/>
            </a:solidFill>
            <a:tailEnd type="triangle" w="sm" len="sm"/>
          </a:ln>
        </p:spPr>
      </p:cxnSp>
      <p:sp>
        <p:nvSpPr>
          <p:cNvPr id="62" name="compute 1"/>
          <p:cNvSpPr/>
          <p:nvPr/>
        </p:nvSpPr>
        <p:spPr>
          <a:xfrm>
            <a:off x="7772400" y="4102100"/>
            <a:ext cx="2032000" cy="1143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endParaRPr lang="de-DE"/>
          </a:p>
        </p:txBody>
      </p:sp>
      <p:sp>
        <p:nvSpPr>
          <p:cNvPr id="63" name="compute 2"/>
          <p:cNvSpPr/>
          <p:nvPr/>
        </p:nvSpPr>
        <p:spPr>
          <a:xfrm>
            <a:off x="7975600" y="4254500"/>
            <a:ext cx="2032000" cy="1143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endParaRPr lang="de-DE"/>
          </a:p>
        </p:txBody>
      </p:sp>
      <p:sp>
        <p:nvSpPr>
          <p:cNvPr id="64" name="compute 3"/>
          <p:cNvSpPr/>
          <p:nvPr/>
        </p:nvSpPr>
        <p:spPr>
          <a:xfrm>
            <a:off x="8178800" y="4406900"/>
            <a:ext cx="2032000" cy="1143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endParaRPr lang="de-DE"/>
          </a:p>
        </p:txBody>
      </p:sp>
      <p:sp>
        <p:nvSpPr>
          <p:cNvPr id="65" name="compute 4"/>
          <p:cNvSpPr/>
          <p:nvPr/>
        </p:nvSpPr>
        <p:spPr>
          <a:xfrm>
            <a:off x="8382000" y="4559300"/>
            <a:ext cx="2032000" cy="11430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wrap="none" lIns="0" tIns="0" rIns="0" bIns="0" anchor="ctr"/>
          <a:lstStyle/>
          <a:p>
            <a:pPr algn="ctr"/>
            <a:endParaRPr lang="de-DE"/>
          </a:p>
        </p:txBody>
      </p:sp>
      <p:sp>
        <p:nvSpPr>
          <p:cNvPr id="66" name="Instanzen Label"/>
          <p:cNvSpPr txBox="1"/>
          <p:nvPr/>
        </p:nvSpPr>
        <p:spPr>
          <a:xfrm>
            <a:off x="6654800" y="4102100"/>
            <a:ext cx="1016000" cy="57150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de-DE" sz="1100" dirty="0">
                <a:solidFill>
                  <a:srgbClr val="595959"/>
                </a:solidFill>
              </a:rPr>
              <a:t>compute</a:t>
            </a:r>
            <a:r>
              <a:rPr lang="de-DE" sz="1100" baseline="-25000" dirty="0">
                <a:solidFill>
                  <a:srgbClr val="595959"/>
                </a:solidFill>
              </a:rPr>
              <a:t>1–4</a:t>
            </a:r>
          </a:p>
        </p:txBody>
      </p:sp>
      <p:cxnSp>
        <p:nvCxnSpPr>
          <p:cNvPr id="67" name="Tick"/>
          <p:cNvCxnSpPr/>
          <p:nvPr/>
        </p:nvCxnSpPr>
        <p:spPr>
          <a:xfrm>
            <a:off x="7772400" y="4025900"/>
            <a:ext cx="0" cy="901700"/>
          </a:xfrm>
          <a:prstGeom prst="straightConnector1">
            <a:avLst/>
          </a:prstGeom>
          <a:ln w="6350">
            <a:solidFill>
              <a:srgbClr val="C1002A"/>
            </a:solidFill>
            <a:prstDash val="dash"/>
          </a:ln>
        </p:spPr>
      </p:cxnSp>
      <p:cxnSp>
        <p:nvCxnSpPr>
          <p:cNvPr id="68" name="Tick"/>
          <p:cNvCxnSpPr/>
          <p:nvPr/>
        </p:nvCxnSpPr>
        <p:spPr>
          <a:xfrm>
            <a:off x="8382000" y="4025900"/>
            <a:ext cx="0" cy="901700"/>
          </a:xfrm>
          <a:prstGeom prst="straightConnector1">
            <a:avLst/>
          </a:prstGeom>
          <a:ln w="6350">
            <a:solidFill>
              <a:srgbClr val="C1002A"/>
            </a:solidFill>
            <a:prstDash val="dash"/>
          </a:ln>
        </p:spPr>
      </p:cxnSp>
      <p:cxnSp>
        <p:nvCxnSpPr>
          <p:cNvPr id="69" name="Messspanne Startspreizung"/>
          <p:cNvCxnSpPr/>
          <p:nvPr/>
        </p:nvCxnSpPr>
        <p:spPr>
          <a:xfrm>
            <a:off x="7772400" y="4876800"/>
            <a:ext cx="609600" cy="0"/>
          </a:xfrm>
          <a:prstGeom prst="straightConnector1">
            <a:avLst/>
          </a:prstGeom>
          <a:ln w="12700">
            <a:solidFill>
              <a:srgbClr val="C1002A"/>
            </a:solidFill>
            <a:headEnd type="triangle" w="sm" len="sm"/>
            <a:tailEnd type="triangle" w="sm" len="sm"/>
          </a:ln>
        </p:spPr>
      </p:cxnSp>
      <p:sp>
        <p:nvSpPr>
          <p:cNvPr id="70" name="Label Startspreizung"/>
          <p:cNvSpPr txBox="1"/>
          <p:nvPr/>
        </p:nvSpPr>
        <p:spPr>
          <a:xfrm>
            <a:off x="7315200" y="4940300"/>
            <a:ext cx="1524000" cy="1778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200" b="1" dirty="0">
                <a:solidFill>
                  <a:srgbClr val="C1002A"/>
                </a:solidFill>
              </a:rPr>
              <a:t>Startspreizung</a:t>
            </a:r>
          </a:p>
        </p:txBody>
      </p:sp>
      <p:sp>
        <p:nvSpPr>
          <p:cNvPr id="71" name="Stichpunkte"/>
          <p:cNvSpPr txBox="1"/>
          <p:nvPr/>
        </p:nvSpPr>
        <p:spPr>
          <a:xfrm>
            <a:off x="6654800" y="5207000"/>
            <a:ext cx="46228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7800" indent="-177800" algn="l">
              <a:spcAft>
                <a:spcPts val="3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300" dirty="0">
                <a:solidFill>
                  <a:srgbClr val="262626"/>
                </a:solidFill>
              </a:rPr>
              <a:t>Erster → letzter Start paralleler Instanzen</a:t>
            </a:r>
          </a:p>
        </p:txBody>
      </p:sp>
      <p:sp>
        <p:nvSpPr>
          <p:cNvPr id="3" name="Foliennummer"/>
          <p:cNvSpPr txBox="1"/>
          <p:nvPr/>
        </p:nvSpPr>
        <p:spPr>
          <a:xfrm>
            <a:off x="10769600" y="6197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de-DE" sz="1200" dirty="0">
                <a:solidFill>
                  <a:srgbClr val="8C8C8C"/>
                </a:solidFill>
              </a:rPr>
              <a:t>9</a:t>
            </a:r>
          </a:p>
        </p:txBody>
      </p:sp>
      <p:cxnSp>
        <p:nvCxnSpPr>
          <p:cNvPr id="4" name="Fortschritt Linie"/>
          <p:cNvCxnSpPr/>
          <p:nvPr/>
        </p:nvCxnSpPr>
        <p:spPr>
          <a:xfrm>
            <a:off x="1219200" y="6172200"/>
            <a:ext cx="5080000" cy="0"/>
          </a:xfrm>
          <a:prstGeom prst="straightConnector1">
            <a:avLst/>
          </a:prstGeom>
          <a:ln w="6350">
            <a:solidFill>
              <a:srgbClr val="D9D9D9"/>
            </a:solidFill>
          </a:ln>
        </p:spPr>
      </p:cxnSp>
      <p:sp>
        <p:nvSpPr>
          <p:cNvPr id="5" name="Marker Motivation"/>
          <p:cNvSpPr/>
          <p:nvPr/>
        </p:nvSpPr>
        <p:spPr>
          <a:xfrm>
            <a:off x="118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" name="Label Motivation"/>
          <p:cNvSpPr txBox="1"/>
          <p:nvPr/>
        </p:nvSpPr>
        <p:spPr>
          <a:xfrm>
            <a:off x="1219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/>
            <a:r>
              <a:rPr lang="de-DE" sz="1000" dirty="0">
                <a:solidFill>
                  <a:srgbClr val="A6A6A6"/>
                </a:solidFill>
              </a:rPr>
              <a:t>Motivation</a:t>
            </a:r>
          </a:p>
        </p:txBody>
      </p:sp>
      <p:sp>
        <p:nvSpPr>
          <p:cNvPr id="7" name="Marker Methodik"/>
          <p:cNvSpPr/>
          <p:nvPr/>
        </p:nvSpPr>
        <p:spPr>
          <a:xfrm>
            <a:off x="2444750" y="6127750"/>
            <a:ext cx="88900" cy="88900"/>
          </a:xfrm>
          <a:prstGeom prst="ellipse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8" name="Label Methodik"/>
          <p:cNvSpPr txBox="1"/>
          <p:nvPr/>
        </p:nvSpPr>
        <p:spPr>
          <a:xfrm>
            <a:off x="185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b="1" dirty="0">
                <a:solidFill>
                  <a:srgbClr val="C1002A"/>
                </a:solidFill>
              </a:rPr>
              <a:t>Methodik</a:t>
            </a:r>
          </a:p>
        </p:txBody>
      </p:sp>
      <p:sp>
        <p:nvSpPr>
          <p:cNvPr id="9" name="Marker Systeme"/>
          <p:cNvSpPr/>
          <p:nvPr/>
        </p:nvSpPr>
        <p:spPr>
          <a:xfrm>
            <a:off x="372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" name="Label Systeme"/>
          <p:cNvSpPr txBox="1"/>
          <p:nvPr/>
        </p:nvSpPr>
        <p:spPr>
          <a:xfrm>
            <a:off x="312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Systeme</a:t>
            </a:r>
          </a:p>
        </p:txBody>
      </p:sp>
      <p:sp>
        <p:nvSpPr>
          <p:cNvPr id="11" name="Marker Untersuchung"/>
          <p:cNvSpPr/>
          <p:nvPr/>
        </p:nvSpPr>
        <p:spPr>
          <a:xfrm>
            <a:off x="499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2" name="Label Untersuchung"/>
          <p:cNvSpPr txBox="1"/>
          <p:nvPr/>
        </p:nvSpPr>
        <p:spPr>
          <a:xfrm>
            <a:off x="4394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Untersuchung</a:t>
            </a:r>
          </a:p>
        </p:txBody>
      </p:sp>
      <p:sp>
        <p:nvSpPr>
          <p:cNvPr id="13" name="Marker Fazit"/>
          <p:cNvSpPr/>
          <p:nvPr/>
        </p:nvSpPr>
        <p:spPr>
          <a:xfrm>
            <a:off x="6267450" y="6140450"/>
            <a:ext cx="63500" cy="63500"/>
          </a:xfrm>
          <a:prstGeom prst="ellipse">
            <a:avLst/>
          </a:prstGeom>
          <a:solidFill>
            <a:srgbClr val="BFBFBF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4" name="Label Fazit"/>
          <p:cNvSpPr txBox="1"/>
          <p:nvPr/>
        </p:nvSpPr>
        <p:spPr>
          <a:xfrm>
            <a:off x="5029200" y="6273800"/>
            <a:ext cx="1270000" cy="20320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r"/>
            <a:r>
              <a:rPr lang="de-DE" sz="1000" dirty="0">
                <a:solidFill>
                  <a:srgbClr val="A6A6A6"/>
                </a:solidFill>
              </a:rPr>
              <a:t>Fazit</a:t>
            </a:r>
          </a:p>
        </p:txBody>
      </p:sp>
      <p:sp>
        <p:nvSpPr>
          <p:cNvPr id="180" name="Label Workflow-Start"/>
          <p:cNvSpPr txBox="1"/>
          <p:nvPr/>
        </p:nvSpPr>
        <p:spPr>
          <a:xfrm>
            <a:off x="1422400" y="2032000"/>
            <a:ext cx="1143000" cy="1778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l"/>
            <a:r>
              <a:rPr lang="de-DE" sz="1100" dirty="0">
                <a:solidFill>
                  <a:srgbClr val="595959"/>
                </a:solidFill>
              </a:rPr>
              <a:t>Workflow-Start</a:t>
            </a:r>
          </a:p>
        </p:txBody>
      </p:sp>
      <p:sp>
        <p:nvSpPr>
          <p:cNvPr id="181" name="Label Workflow-Ende"/>
          <p:cNvSpPr txBox="1"/>
          <p:nvPr/>
        </p:nvSpPr>
        <p:spPr>
          <a:xfrm>
            <a:off x="4445000" y="2032000"/>
            <a:ext cx="1143000" cy="177800"/>
          </a:xfrm>
          <a:prstGeom prst="rect">
            <a:avLst/>
          </a:prstGeom>
          <a:noFill/>
        </p:spPr>
        <p:txBody>
          <a:bodyPr wrap="none" lIns="0" tIns="0" rIns="0" bIns="0" anchor="b"/>
          <a:lstStyle/>
          <a:p>
            <a:pPr algn="r"/>
            <a:r>
              <a:rPr lang="de-DE" sz="1100" dirty="0">
                <a:solidFill>
                  <a:srgbClr val="595959"/>
                </a:solidFill>
              </a:rPr>
              <a:t>Workflow-Ende</a:t>
            </a:r>
          </a:p>
        </p:txBody>
      </p:sp>
      <p:sp>
        <p:nvSpPr>
          <p:cNvPr id="190" name="Methodische Fußzeile"/>
          <p:cNvSpPr txBox="1"/>
          <p:nvPr/>
        </p:nvSpPr>
        <p:spPr>
          <a:xfrm>
            <a:off x="1219200" y="5524500"/>
            <a:ext cx="10058400" cy="355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spcAft>
                <a:spcPts val="200"/>
              </a:spcAft>
            </a:pPr>
            <a:r>
              <a:rPr lang="de-DE" sz="1000" dirty="0">
                <a:solidFill>
                  <a:srgbClr val="595959"/>
                </a:solidFill>
              </a:rPr>
              <a:t>Instrumentierung: Start-/Endzeitstempel in den Payload-Skripten</a:t>
            </a:r>
          </a:p>
          <a:p>
            <a:pPr algn="l">
              <a:spcAft>
                <a:spcPts val="200"/>
              </a:spcAft>
            </a:pPr>
            <a:r>
              <a:rPr lang="de-DE" sz="1000" dirty="0">
                <a:solidFill>
                  <a:srgbClr val="595959"/>
                </a:solidFill>
              </a:rPr>
              <a:t>Wiederholungen: kurz 5× · mittel 5× · lang 3×</a:t>
            </a:r>
          </a:p>
        </p:txBody>
      </p:sp>
    </p:spTree>
    <p:extLst>
      <p:ext uri="{BB962C8B-B14F-4D97-AF65-F5344CB8AC3E}">
        <p14:creationId xmlns:p14="http://schemas.microsoft.com/office/powerpoint/2010/main" val="436942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693EF6-ED28-1BFF-E834-94265AA79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812800"/>
            <a:ext cx="10058400" cy="787400"/>
          </a:xfrm>
        </p:spPr>
        <p:txBody>
          <a:bodyPr wrap="square" lIns="0" tIns="0" rIns="0" bIns="0" anchor="t">
            <a:normAutofit/>
          </a:bodyPr>
          <a:lstStyle/>
          <a:p>
            <a:r>
              <a:rPr lang="de-DE" sz="2600" b="1" dirty="0">
                <a:solidFill>
                  <a:srgbClr val="262626"/>
                </a:solidFill>
              </a:rPr>
              <a:t>Modellierung des </a:t>
            </a:r>
            <a:r>
              <a:rPr lang="de-DE" sz="2600" b="1" dirty="0" err="1">
                <a:solidFill>
                  <a:srgbClr val="262626"/>
                </a:solidFill>
              </a:rPr>
              <a:t>Scatter</a:t>
            </a:r>
            <a:r>
              <a:rPr lang="de-DE" sz="2600" b="1" dirty="0">
                <a:solidFill>
                  <a:srgbClr val="262626"/>
                </a:solidFill>
              </a:rPr>
              <a:t>-Gather-Musters</a:t>
            </a:r>
          </a:p>
        </p:txBody>
      </p:sp>
      <p:sp>
        <p:nvSpPr>
          <p:cNvPr id="20" name="Akzentlinie"/>
          <p:cNvSpPr/>
          <p:nvPr/>
        </p:nvSpPr>
        <p:spPr>
          <a:xfrm>
            <a:off x="914400" y="812800"/>
            <a:ext cx="50800" cy="4318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5" name="split"/>
          <p:cNvSpPr/>
          <p:nvPr/>
        </p:nvSpPr>
        <p:spPr>
          <a:xfrm>
            <a:off x="3708400" y="2260600"/>
            <a:ext cx="1143000" cy="2794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8C8C8C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262626"/>
                </a:solidFill>
              </a:rPr>
              <a:t>split</a:t>
            </a:r>
          </a:p>
        </p:txBody>
      </p:sp>
      <p:sp>
        <p:nvSpPr>
          <p:cNvPr id="21" name="aggregate"/>
          <p:cNvSpPr/>
          <p:nvPr/>
        </p:nvSpPr>
        <p:spPr>
          <a:xfrm>
            <a:off x="7518400" y="2260600"/>
            <a:ext cx="1270000" cy="2794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8C8C8C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262626"/>
                </a:solidFill>
              </a:rPr>
              <a:t>aggregate</a:t>
            </a:r>
          </a:p>
        </p:txBody>
      </p:sp>
      <p:sp>
        <p:nvSpPr>
          <p:cNvPr id="22" name="compute"/>
          <p:cNvSpPr/>
          <p:nvPr/>
        </p:nvSpPr>
        <p:spPr>
          <a:xfrm>
            <a:off x="5676900" y="1879600"/>
            <a:ext cx="1270000" cy="2286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C1002A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C1002A"/>
                </a:solidFill>
              </a:rPr>
              <a:t>compute</a:t>
            </a:r>
            <a:r>
              <a:rPr lang="de-DE" sz="1100" baseline="-25000" dirty="0">
                <a:solidFill>
                  <a:srgbClr val="C1002A"/>
                </a:solidFill>
              </a:rPr>
              <a:t>1</a:t>
            </a:r>
          </a:p>
        </p:txBody>
      </p:sp>
      <p:sp>
        <p:nvSpPr>
          <p:cNvPr id="23" name="compute"/>
          <p:cNvSpPr/>
          <p:nvPr/>
        </p:nvSpPr>
        <p:spPr>
          <a:xfrm>
            <a:off x="5676900" y="2159000"/>
            <a:ext cx="1270000" cy="2286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C1002A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C1002A"/>
                </a:solidFill>
              </a:rPr>
              <a:t>compute</a:t>
            </a:r>
            <a:r>
              <a:rPr lang="de-DE" sz="1100" baseline="-25000" dirty="0">
                <a:solidFill>
                  <a:srgbClr val="C1002A"/>
                </a:solidFill>
              </a:rPr>
              <a:t>2</a:t>
            </a:r>
          </a:p>
        </p:txBody>
      </p:sp>
      <p:sp>
        <p:nvSpPr>
          <p:cNvPr id="24" name="compute"/>
          <p:cNvSpPr/>
          <p:nvPr/>
        </p:nvSpPr>
        <p:spPr>
          <a:xfrm>
            <a:off x="5676900" y="2692400"/>
            <a:ext cx="1270000" cy="2286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C1002A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C1002A"/>
                </a:solidFill>
              </a:rPr>
              <a:t>compute</a:t>
            </a:r>
            <a:r>
              <a:rPr lang="de-DE" sz="1100" baseline="-25000" dirty="0">
                <a:solidFill>
                  <a:srgbClr val="C1002A"/>
                </a:solidFill>
              </a:rPr>
              <a:t>n</a:t>
            </a:r>
          </a:p>
        </p:txBody>
      </p:sp>
      <p:sp>
        <p:nvSpPr>
          <p:cNvPr id="25" name="Punkte"/>
          <p:cNvSpPr txBox="1"/>
          <p:nvPr/>
        </p:nvSpPr>
        <p:spPr>
          <a:xfrm>
            <a:off x="5676900" y="2413000"/>
            <a:ext cx="12700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···</a:t>
            </a:r>
          </a:p>
        </p:txBody>
      </p:sp>
      <p:cxnSp>
        <p:nvCxnSpPr>
          <p:cNvPr id="26" name="Fan-out"/>
          <p:cNvCxnSpPr/>
          <p:nvPr/>
        </p:nvCxnSpPr>
        <p:spPr>
          <a:xfrm flipV="1">
            <a:off x="4851400" y="1993900"/>
            <a:ext cx="825500" cy="40640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cxnSp>
        <p:nvCxnSpPr>
          <p:cNvPr id="27" name="Fan-in"/>
          <p:cNvCxnSpPr/>
          <p:nvPr/>
        </p:nvCxnSpPr>
        <p:spPr>
          <a:xfrm>
            <a:off x="6946900" y="1993900"/>
            <a:ext cx="571500" cy="40640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cxnSp>
        <p:nvCxnSpPr>
          <p:cNvPr id="28" name="Fan-out"/>
          <p:cNvCxnSpPr/>
          <p:nvPr/>
        </p:nvCxnSpPr>
        <p:spPr>
          <a:xfrm flipV="1">
            <a:off x="4851400" y="2273300"/>
            <a:ext cx="825500" cy="12700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cxnSp>
        <p:nvCxnSpPr>
          <p:cNvPr id="29" name="Fan-in"/>
          <p:cNvCxnSpPr/>
          <p:nvPr/>
        </p:nvCxnSpPr>
        <p:spPr>
          <a:xfrm>
            <a:off x="6946900" y="2273300"/>
            <a:ext cx="571500" cy="12700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cxnSp>
        <p:nvCxnSpPr>
          <p:cNvPr id="30" name="Fan-out"/>
          <p:cNvCxnSpPr/>
          <p:nvPr/>
        </p:nvCxnSpPr>
        <p:spPr>
          <a:xfrm>
            <a:off x="4851400" y="2400300"/>
            <a:ext cx="825500" cy="40640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cxnSp>
        <p:nvCxnSpPr>
          <p:cNvPr id="31" name="Fan-in"/>
          <p:cNvCxnSpPr/>
          <p:nvPr/>
        </p:nvCxnSpPr>
        <p:spPr>
          <a:xfrm flipV="1">
            <a:off x="6946900" y="2400300"/>
            <a:ext cx="571500" cy="40640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32" name="Diagramm Label"/>
          <p:cNvSpPr txBox="1"/>
          <p:nvPr/>
        </p:nvSpPr>
        <p:spPr>
          <a:xfrm>
            <a:off x="1219200" y="1651000"/>
            <a:ext cx="5080000" cy="177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de-DE" sz="1000" b="1" spc="200" dirty="0">
                <a:solidFill>
                  <a:srgbClr val="C1002A"/>
                </a:solidFill>
              </a:rPr>
              <a:t>SCATTER-GATHER-AUSSCHNITT</a:t>
            </a:r>
          </a:p>
        </p:txBody>
      </p:sp>
      <p:sp>
        <p:nvSpPr>
          <p:cNvPr id="33" name="Abschnitt"/>
          <p:cNvSpPr txBox="1"/>
          <p:nvPr/>
        </p:nvSpPr>
        <p:spPr>
          <a:xfrm>
            <a:off x="1219200" y="3098800"/>
            <a:ext cx="1005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000" b="1" spc="200" dirty="0">
                <a:solidFill>
                  <a:srgbClr val="C1002A"/>
                </a:solidFill>
              </a:rPr>
              <a:t>PARALLELISIERUNG UND ZUSAMMENFÜHRUNG JE SYSTEM</a:t>
            </a:r>
          </a:p>
        </p:txBody>
      </p:sp>
      <p:cxnSp>
        <p:nvCxnSpPr>
          <p:cNvPr id="54" name="Trennlinie"/>
          <p:cNvCxnSpPr/>
          <p:nvPr/>
        </p:nvCxnSpPr>
        <p:spPr>
          <a:xfrm>
            <a:off x="1219200" y="5283200"/>
            <a:ext cx="100584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55" name="Kernaussage"/>
          <p:cNvSpPr txBox="1"/>
          <p:nvPr/>
        </p:nvSpPr>
        <p:spPr>
          <a:xfrm>
            <a:off x="1219200" y="5461000"/>
            <a:ext cx="10058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de-DE" sz="1400" b="1" dirty="0">
                <a:solidFill>
                  <a:srgbClr val="262626"/>
                </a:solidFill>
              </a:rPr>
              <a:t>Gleicher Workflow, unterschiedliche Mechanismen für Parallelisierung und Zusammenführung</a:t>
            </a:r>
          </a:p>
        </p:txBody>
      </p:sp>
      <p:sp>
        <p:nvSpPr>
          <p:cNvPr id="3" name="Foliennummer"/>
          <p:cNvSpPr txBox="1"/>
          <p:nvPr/>
        </p:nvSpPr>
        <p:spPr>
          <a:xfrm>
            <a:off x="10769600" y="6197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1200" dirty="0">
                <a:solidFill>
                  <a:srgbClr val="8C8C8C"/>
                </a:solidFill>
              </a:rPr>
              <a:t>10</a:t>
            </a:r>
          </a:p>
        </p:txBody>
      </p:sp>
      <p:cxnSp>
        <p:nvCxnSpPr>
          <p:cNvPr id="4" name="Fortschritt Linie"/>
          <p:cNvCxnSpPr/>
          <p:nvPr/>
        </p:nvCxnSpPr>
        <p:spPr>
          <a:xfrm>
            <a:off x="1219200" y="6172200"/>
            <a:ext cx="508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5" name="Marker Motivation"/>
          <p:cNvSpPr/>
          <p:nvPr/>
        </p:nvSpPr>
        <p:spPr>
          <a:xfrm>
            <a:off x="1187450" y="6140450"/>
            <a:ext cx="63500" cy="635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" name="Label Motivation"/>
          <p:cNvSpPr txBox="1"/>
          <p:nvPr/>
        </p:nvSpPr>
        <p:spPr>
          <a:xfrm>
            <a:off x="1219200" y="6273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000" dirty="0">
                <a:solidFill>
                  <a:srgbClr val="A6A6A6"/>
                </a:solidFill>
              </a:rPr>
              <a:t>Motivation</a:t>
            </a:r>
          </a:p>
        </p:txBody>
      </p:sp>
      <p:sp>
        <p:nvSpPr>
          <p:cNvPr id="7" name="Marker Methodik"/>
          <p:cNvSpPr/>
          <p:nvPr/>
        </p:nvSpPr>
        <p:spPr>
          <a:xfrm>
            <a:off x="2457450" y="6140450"/>
            <a:ext cx="63500" cy="635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8" name="Label Methodik"/>
          <p:cNvSpPr txBox="1"/>
          <p:nvPr/>
        </p:nvSpPr>
        <p:spPr>
          <a:xfrm>
            <a:off x="1854200" y="6273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Methodik</a:t>
            </a:r>
          </a:p>
        </p:txBody>
      </p:sp>
      <p:sp>
        <p:nvSpPr>
          <p:cNvPr id="9" name="Marker Systeme"/>
          <p:cNvSpPr/>
          <p:nvPr/>
        </p:nvSpPr>
        <p:spPr>
          <a:xfrm>
            <a:off x="3714750" y="6127750"/>
            <a:ext cx="88900" cy="88900"/>
          </a:xfrm>
          <a:prstGeom prst="ellipse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" name="Label Systeme"/>
          <p:cNvSpPr txBox="1"/>
          <p:nvPr/>
        </p:nvSpPr>
        <p:spPr>
          <a:xfrm>
            <a:off x="3124200" y="6273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000" b="1" dirty="0">
                <a:solidFill>
                  <a:srgbClr val="C1002A"/>
                </a:solidFill>
              </a:rPr>
              <a:t>Systeme</a:t>
            </a:r>
          </a:p>
        </p:txBody>
      </p:sp>
      <p:sp>
        <p:nvSpPr>
          <p:cNvPr id="11" name="Marker Untersuchung"/>
          <p:cNvSpPr/>
          <p:nvPr/>
        </p:nvSpPr>
        <p:spPr>
          <a:xfrm>
            <a:off x="4997450" y="6140450"/>
            <a:ext cx="63500" cy="635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2" name="Label Untersuchung"/>
          <p:cNvSpPr txBox="1"/>
          <p:nvPr/>
        </p:nvSpPr>
        <p:spPr>
          <a:xfrm>
            <a:off x="4394200" y="6273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Untersuchung</a:t>
            </a:r>
          </a:p>
        </p:txBody>
      </p:sp>
      <p:sp>
        <p:nvSpPr>
          <p:cNvPr id="13" name="Marker Fazit"/>
          <p:cNvSpPr/>
          <p:nvPr/>
        </p:nvSpPr>
        <p:spPr>
          <a:xfrm>
            <a:off x="6267450" y="6140450"/>
            <a:ext cx="63500" cy="635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4" name="Label Fazit"/>
          <p:cNvSpPr txBox="1"/>
          <p:nvPr/>
        </p:nvSpPr>
        <p:spPr>
          <a:xfrm>
            <a:off x="5029200" y="6273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1000" dirty="0">
                <a:solidFill>
                  <a:srgbClr val="A6A6A6"/>
                </a:solidFill>
              </a:rPr>
              <a:t>Fazit</a:t>
            </a:r>
          </a:p>
        </p:txBody>
      </p:sp>
      <p:sp>
        <p:nvSpPr>
          <p:cNvPr id="56" name="Marke Nextflow"/>
          <p:cNvSpPr/>
          <p:nvPr/>
        </p:nvSpPr>
        <p:spPr>
          <a:xfrm>
            <a:off x="1219200" y="3378200"/>
            <a:ext cx="228600" cy="381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7" name="System Nextflow"/>
          <p:cNvSpPr txBox="1"/>
          <p:nvPr/>
        </p:nvSpPr>
        <p:spPr>
          <a:xfrm>
            <a:off x="1219200" y="3492500"/>
            <a:ext cx="183388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600" b="1" dirty="0">
                <a:solidFill>
                  <a:srgbClr val="262626"/>
                </a:solidFill>
              </a:rPr>
              <a:t>Nextflow</a:t>
            </a:r>
          </a:p>
        </p:txBody>
      </p:sp>
      <p:sp>
        <p:nvSpPr>
          <p:cNvPr id="58" name="Label Parallelisierung Nextflow"/>
          <p:cNvSpPr txBox="1"/>
          <p:nvPr/>
        </p:nvSpPr>
        <p:spPr>
          <a:xfrm>
            <a:off x="1219200" y="3835400"/>
            <a:ext cx="183388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000" spc="100" dirty="0">
                <a:solidFill>
                  <a:srgbClr val="595959"/>
                </a:solidFill>
              </a:rPr>
              <a:t>PARALLELISIERUNG</a:t>
            </a:r>
          </a:p>
        </p:txBody>
      </p:sp>
      <p:sp>
        <p:nvSpPr>
          <p:cNvPr id="59" name="Parallelisierung Nextflow"/>
          <p:cNvSpPr txBox="1"/>
          <p:nvPr/>
        </p:nvSpPr>
        <p:spPr>
          <a:xfrm>
            <a:off x="1219200" y="4013200"/>
            <a:ext cx="183388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200" dirty="0">
                <a:solidFill>
                  <a:srgbClr val="262626"/>
                </a:solidFill>
              </a:rPr>
              <a:t>Teilstücke über </a:t>
            </a:r>
            <a:r>
              <a:rPr lang="de-DE" sz="1200" b="1" dirty="0">
                <a:solidFill>
                  <a:srgbClr val="262626"/>
                </a:solidFill>
              </a:rPr>
              <a:t>flatten</a:t>
            </a:r>
          </a:p>
        </p:txBody>
      </p:sp>
      <p:sp>
        <p:nvSpPr>
          <p:cNvPr id="60" name="Label Zusammenführung Nextflow"/>
          <p:cNvSpPr txBox="1"/>
          <p:nvPr/>
        </p:nvSpPr>
        <p:spPr>
          <a:xfrm>
            <a:off x="1219200" y="4521200"/>
            <a:ext cx="183388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000" spc="100" dirty="0">
                <a:solidFill>
                  <a:srgbClr val="595959"/>
                </a:solidFill>
              </a:rPr>
              <a:t>ZUSAMMENFÜHRUNG</a:t>
            </a:r>
          </a:p>
        </p:txBody>
      </p:sp>
      <p:sp>
        <p:nvSpPr>
          <p:cNvPr id="61" name="Zusammenführung Nextflow"/>
          <p:cNvSpPr txBox="1"/>
          <p:nvPr/>
        </p:nvSpPr>
        <p:spPr>
          <a:xfrm>
            <a:off x="1219200" y="4699000"/>
            <a:ext cx="183388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200" dirty="0">
                <a:solidFill>
                  <a:srgbClr val="262626"/>
                </a:solidFill>
              </a:rPr>
              <a:t>Ergebnisse über </a:t>
            </a:r>
            <a:r>
              <a:rPr lang="de-DE" sz="1200" b="1" dirty="0">
                <a:solidFill>
                  <a:srgbClr val="262626"/>
                </a:solidFill>
              </a:rPr>
              <a:t>collect</a:t>
            </a:r>
          </a:p>
        </p:txBody>
      </p:sp>
      <p:sp>
        <p:nvSpPr>
          <p:cNvPr id="62" name="Marke StreamFlow"/>
          <p:cNvSpPr/>
          <p:nvPr/>
        </p:nvSpPr>
        <p:spPr>
          <a:xfrm>
            <a:off x="3230880" y="3378200"/>
            <a:ext cx="228600" cy="381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3" name="System StreamFlow"/>
          <p:cNvSpPr txBox="1"/>
          <p:nvPr/>
        </p:nvSpPr>
        <p:spPr>
          <a:xfrm>
            <a:off x="3230880" y="3492500"/>
            <a:ext cx="183388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600" b="1" dirty="0">
                <a:solidFill>
                  <a:srgbClr val="262626"/>
                </a:solidFill>
              </a:rPr>
              <a:t>StreamFlow</a:t>
            </a:r>
          </a:p>
        </p:txBody>
      </p:sp>
      <p:sp>
        <p:nvSpPr>
          <p:cNvPr id="64" name="Label Parallelisierung StreamFlow"/>
          <p:cNvSpPr txBox="1"/>
          <p:nvPr/>
        </p:nvSpPr>
        <p:spPr>
          <a:xfrm>
            <a:off x="3230880" y="3835400"/>
            <a:ext cx="183388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000" spc="100" dirty="0">
                <a:solidFill>
                  <a:srgbClr val="595959"/>
                </a:solidFill>
              </a:rPr>
              <a:t>PARALLELISIERUNG</a:t>
            </a:r>
          </a:p>
        </p:txBody>
      </p:sp>
      <p:sp>
        <p:nvSpPr>
          <p:cNvPr id="65" name="Parallelisierung StreamFlow"/>
          <p:cNvSpPr txBox="1"/>
          <p:nvPr/>
        </p:nvSpPr>
        <p:spPr>
          <a:xfrm>
            <a:off x="3230880" y="4013200"/>
            <a:ext cx="183388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200" dirty="0">
                <a:solidFill>
                  <a:srgbClr val="262626"/>
                </a:solidFill>
              </a:rPr>
              <a:t>CWL </a:t>
            </a:r>
            <a:r>
              <a:rPr lang="de-DE" sz="1200" b="1" dirty="0">
                <a:solidFill>
                  <a:srgbClr val="262626"/>
                </a:solidFill>
              </a:rPr>
              <a:t>scatter</a:t>
            </a:r>
          </a:p>
        </p:txBody>
      </p:sp>
      <p:sp>
        <p:nvSpPr>
          <p:cNvPr id="66" name="Label Zusammenführung StreamFlow"/>
          <p:cNvSpPr txBox="1"/>
          <p:nvPr/>
        </p:nvSpPr>
        <p:spPr>
          <a:xfrm>
            <a:off x="3230880" y="4521200"/>
            <a:ext cx="183388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000" spc="100" dirty="0">
                <a:solidFill>
                  <a:srgbClr val="595959"/>
                </a:solidFill>
              </a:rPr>
              <a:t>ZUSAMMENFÜHRUNG</a:t>
            </a:r>
          </a:p>
        </p:txBody>
      </p:sp>
      <p:sp>
        <p:nvSpPr>
          <p:cNvPr id="67" name="Zusammenführung StreamFlow"/>
          <p:cNvSpPr txBox="1"/>
          <p:nvPr/>
        </p:nvSpPr>
        <p:spPr>
          <a:xfrm>
            <a:off x="3230880" y="4699000"/>
            <a:ext cx="183388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200" dirty="0">
                <a:solidFill>
                  <a:srgbClr val="262626"/>
                </a:solidFill>
              </a:rPr>
              <a:t>Aggregate nach allen Ergebnissen</a:t>
            </a:r>
          </a:p>
        </p:txBody>
      </p:sp>
      <p:sp>
        <p:nvSpPr>
          <p:cNvPr id="68" name="Marke Merlin"/>
          <p:cNvSpPr/>
          <p:nvPr/>
        </p:nvSpPr>
        <p:spPr>
          <a:xfrm>
            <a:off x="5242560" y="3378200"/>
            <a:ext cx="228600" cy="381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9" name="System Merlin"/>
          <p:cNvSpPr txBox="1"/>
          <p:nvPr/>
        </p:nvSpPr>
        <p:spPr>
          <a:xfrm>
            <a:off x="5242560" y="3492500"/>
            <a:ext cx="183388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600" b="1" dirty="0">
                <a:solidFill>
                  <a:srgbClr val="262626"/>
                </a:solidFill>
              </a:rPr>
              <a:t>Merlin</a:t>
            </a:r>
          </a:p>
        </p:txBody>
      </p:sp>
      <p:sp>
        <p:nvSpPr>
          <p:cNvPr id="70" name="Label Parallelisierung Merlin"/>
          <p:cNvSpPr txBox="1"/>
          <p:nvPr/>
        </p:nvSpPr>
        <p:spPr>
          <a:xfrm>
            <a:off x="5242560" y="3835400"/>
            <a:ext cx="183388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000" spc="100" dirty="0">
                <a:solidFill>
                  <a:srgbClr val="595959"/>
                </a:solidFill>
              </a:rPr>
              <a:t>PARALLELISIERUNG</a:t>
            </a:r>
          </a:p>
        </p:txBody>
      </p:sp>
      <p:sp>
        <p:nvSpPr>
          <p:cNvPr id="71" name="Parallelisierung Merlin"/>
          <p:cNvSpPr txBox="1"/>
          <p:nvPr/>
        </p:nvSpPr>
        <p:spPr>
          <a:xfrm>
            <a:off x="5242560" y="4013200"/>
            <a:ext cx="183388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200" dirty="0">
                <a:solidFill>
                  <a:srgbClr val="262626"/>
                </a:solidFill>
              </a:rPr>
              <a:t>Vervielfachung über </a:t>
            </a:r>
            <a:r>
              <a:rPr lang="de-DE" sz="1200" b="1" dirty="0">
                <a:solidFill>
                  <a:srgbClr val="262626"/>
                </a:solidFill>
              </a:rPr>
              <a:t>CHUNK</a:t>
            </a:r>
          </a:p>
        </p:txBody>
      </p:sp>
      <p:sp>
        <p:nvSpPr>
          <p:cNvPr id="72" name="Label Zusammenführung Merlin"/>
          <p:cNvSpPr txBox="1"/>
          <p:nvPr/>
        </p:nvSpPr>
        <p:spPr>
          <a:xfrm>
            <a:off x="5242560" y="4521200"/>
            <a:ext cx="183388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000" spc="100" dirty="0">
                <a:solidFill>
                  <a:srgbClr val="595959"/>
                </a:solidFill>
              </a:rPr>
              <a:t>ZUSAMMENFÜHRUNG</a:t>
            </a:r>
          </a:p>
        </p:txBody>
      </p:sp>
      <p:sp>
        <p:nvSpPr>
          <p:cNvPr id="73" name="Zusammenführung Merlin"/>
          <p:cNvSpPr txBox="1"/>
          <p:nvPr/>
        </p:nvSpPr>
        <p:spPr>
          <a:xfrm>
            <a:off x="5242560" y="4699000"/>
            <a:ext cx="183388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200" dirty="0">
                <a:solidFill>
                  <a:srgbClr val="262626"/>
                </a:solidFill>
              </a:rPr>
              <a:t>Abhängigkeit von allen Compute-Instanzen</a:t>
            </a:r>
          </a:p>
        </p:txBody>
      </p:sp>
      <p:sp>
        <p:nvSpPr>
          <p:cNvPr id="74" name="Marke Pegasus"/>
          <p:cNvSpPr/>
          <p:nvPr/>
        </p:nvSpPr>
        <p:spPr>
          <a:xfrm>
            <a:off x="7254240" y="3378200"/>
            <a:ext cx="228600" cy="381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5" name="System Pegasus"/>
          <p:cNvSpPr txBox="1"/>
          <p:nvPr/>
        </p:nvSpPr>
        <p:spPr>
          <a:xfrm>
            <a:off x="7254240" y="3492500"/>
            <a:ext cx="183388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600" b="1" dirty="0">
                <a:solidFill>
                  <a:srgbClr val="262626"/>
                </a:solidFill>
              </a:rPr>
              <a:t>Pegasus</a:t>
            </a:r>
          </a:p>
        </p:txBody>
      </p:sp>
      <p:sp>
        <p:nvSpPr>
          <p:cNvPr id="76" name="Label Parallelisierung Pegasus"/>
          <p:cNvSpPr txBox="1"/>
          <p:nvPr/>
        </p:nvSpPr>
        <p:spPr>
          <a:xfrm>
            <a:off x="7254240" y="3835400"/>
            <a:ext cx="183388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000" spc="100" dirty="0">
                <a:solidFill>
                  <a:srgbClr val="595959"/>
                </a:solidFill>
              </a:rPr>
              <a:t>PARALLELISIERUNG</a:t>
            </a:r>
          </a:p>
        </p:txBody>
      </p:sp>
      <p:sp>
        <p:nvSpPr>
          <p:cNvPr id="77" name="Parallelisierung Pegasus"/>
          <p:cNvSpPr txBox="1"/>
          <p:nvPr/>
        </p:nvSpPr>
        <p:spPr>
          <a:xfrm>
            <a:off x="7254240" y="4013200"/>
            <a:ext cx="183388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200" dirty="0">
                <a:solidFill>
                  <a:srgbClr val="262626"/>
                </a:solidFill>
              </a:rPr>
              <a:t>Compute-Jobs durch Python-Schleife</a:t>
            </a:r>
          </a:p>
        </p:txBody>
      </p:sp>
      <p:sp>
        <p:nvSpPr>
          <p:cNvPr id="78" name="Label Zusammenführung Pegasus"/>
          <p:cNvSpPr txBox="1"/>
          <p:nvPr/>
        </p:nvSpPr>
        <p:spPr>
          <a:xfrm>
            <a:off x="7254240" y="4521200"/>
            <a:ext cx="183388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000" spc="100" dirty="0">
                <a:solidFill>
                  <a:srgbClr val="595959"/>
                </a:solidFill>
              </a:rPr>
              <a:t>ZUSAMMENFÜHRUNG</a:t>
            </a:r>
          </a:p>
        </p:txBody>
      </p:sp>
      <p:sp>
        <p:nvSpPr>
          <p:cNvPr id="79" name="Zusammenführung Pegasus"/>
          <p:cNvSpPr txBox="1"/>
          <p:nvPr/>
        </p:nvSpPr>
        <p:spPr>
          <a:xfrm>
            <a:off x="7254240" y="4699000"/>
            <a:ext cx="183388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200" dirty="0">
                <a:solidFill>
                  <a:srgbClr val="262626"/>
                </a:solidFill>
              </a:rPr>
              <a:t>Aggregate benötigt alle Ergebnisdateien</a:t>
            </a:r>
          </a:p>
        </p:txBody>
      </p:sp>
      <p:sp>
        <p:nvSpPr>
          <p:cNvPr id="80" name="Marke AiiDA"/>
          <p:cNvSpPr/>
          <p:nvPr/>
        </p:nvSpPr>
        <p:spPr>
          <a:xfrm>
            <a:off x="9265920" y="3378200"/>
            <a:ext cx="228600" cy="381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81" name="System AiiDA"/>
          <p:cNvSpPr txBox="1"/>
          <p:nvPr/>
        </p:nvSpPr>
        <p:spPr>
          <a:xfrm>
            <a:off x="9265920" y="3492500"/>
            <a:ext cx="183388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600" b="1" dirty="0">
                <a:solidFill>
                  <a:srgbClr val="262626"/>
                </a:solidFill>
              </a:rPr>
              <a:t>AiiDA</a:t>
            </a:r>
          </a:p>
        </p:txBody>
      </p:sp>
      <p:sp>
        <p:nvSpPr>
          <p:cNvPr id="82" name="Label Parallelisierung AiiDA"/>
          <p:cNvSpPr txBox="1"/>
          <p:nvPr/>
        </p:nvSpPr>
        <p:spPr>
          <a:xfrm>
            <a:off x="9265920" y="3835400"/>
            <a:ext cx="183388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000" spc="100" dirty="0">
                <a:solidFill>
                  <a:srgbClr val="595959"/>
                </a:solidFill>
              </a:rPr>
              <a:t>PARALLELISIERUNG</a:t>
            </a:r>
          </a:p>
        </p:txBody>
      </p:sp>
      <p:sp>
        <p:nvSpPr>
          <p:cNvPr id="83" name="Parallelisierung AiiDA"/>
          <p:cNvSpPr txBox="1"/>
          <p:nvPr/>
        </p:nvSpPr>
        <p:spPr>
          <a:xfrm>
            <a:off x="9265920" y="4013200"/>
            <a:ext cx="183388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200" dirty="0">
                <a:solidFill>
                  <a:srgbClr val="262626"/>
                </a:solidFill>
              </a:rPr>
              <a:t>Einreichung aus Python-Schleife</a:t>
            </a:r>
          </a:p>
        </p:txBody>
      </p:sp>
      <p:sp>
        <p:nvSpPr>
          <p:cNvPr id="84" name="Label Zusammenführung AiiDA"/>
          <p:cNvSpPr txBox="1"/>
          <p:nvPr/>
        </p:nvSpPr>
        <p:spPr>
          <a:xfrm>
            <a:off x="9265920" y="4521200"/>
            <a:ext cx="183388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000" spc="100" dirty="0">
                <a:solidFill>
                  <a:srgbClr val="595959"/>
                </a:solidFill>
              </a:rPr>
              <a:t>ZUSAMMENFÜHRUNG</a:t>
            </a:r>
          </a:p>
        </p:txBody>
      </p:sp>
      <p:sp>
        <p:nvSpPr>
          <p:cNvPr id="85" name="Zusammenführung AiiDA"/>
          <p:cNvSpPr txBox="1"/>
          <p:nvPr/>
        </p:nvSpPr>
        <p:spPr>
          <a:xfrm>
            <a:off x="9265920" y="4699000"/>
            <a:ext cx="1833880" cy="431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200" dirty="0">
                <a:solidFill>
                  <a:srgbClr val="262626"/>
                </a:solidFill>
              </a:rPr>
              <a:t>Warten auf alle Prozesse mit </a:t>
            </a:r>
            <a:r>
              <a:rPr lang="de-DE" sz="1200" b="1" dirty="0">
                <a:solidFill>
                  <a:srgbClr val="262626"/>
                </a:solidFill>
              </a:rPr>
              <a:t>ToContext</a:t>
            </a:r>
          </a:p>
        </p:txBody>
      </p:sp>
    </p:spTree>
    <p:extLst>
      <p:ext uri="{BB962C8B-B14F-4D97-AF65-F5344CB8AC3E}">
        <p14:creationId xmlns:p14="http://schemas.microsoft.com/office/powerpoint/2010/main" val="33556915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9D2F4F-B195-4B9B-922C-9D19B565B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812800"/>
            <a:ext cx="10058400" cy="78740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de-DE" sz="2600" b="1" dirty="0">
                <a:solidFill>
                  <a:srgbClr val="262626"/>
                </a:solidFill>
              </a:rPr>
              <a:t>Unterschiedliche Ausführungsmodelle</a:t>
            </a:r>
          </a:p>
        </p:txBody>
      </p:sp>
      <p:sp>
        <p:nvSpPr>
          <p:cNvPr id="20" name="Akzentlinie"/>
          <p:cNvSpPr/>
          <p:nvPr/>
        </p:nvSpPr>
        <p:spPr>
          <a:xfrm>
            <a:off x="914400" y="812800"/>
            <a:ext cx="50800" cy="4318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5" name="Marke Nextflow"/>
          <p:cNvSpPr/>
          <p:nvPr/>
        </p:nvSpPr>
        <p:spPr>
          <a:xfrm>
            <a:off x="1219200" y="1930400"/>
            <a:ext cx="228600" cy="381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1" name="System Nextflow"/>
          <p:cNvSpPr txBox="1"/>
          <p:nvPr/>
        </p:nvSpPr>
        <p:spPr>
          <a:xfrm>
            <a:off x="1219200" y="2044700"/>
            <a:ext cx="183388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600" b="1" dirty="0">
                <a:solidFill>
                  <a:srgbClr val="262626"/>
                </a:solidFill>
              </a:rPr>
              <a:t>Nextflow</a:t>
            </a:r>
          </a:p>
        </p:txBody>
      </p:sp>
      <p:sp>
        <p:nvSpPr>
          <p:cNvPr id="22" name="Nextflow Workflow"/>
          <p:cNvSpPr/>
          <p:nvPr/>
        </p:nvSpPr>
        <p:spPr>
          <a:xfrm>
            <a:off x="1399540" y="2540000"/>
            <a:ext cx="1473200" cy="3048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8C8C8C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262626"/>
                </a:solidFill>
              </a:rPr>
              <a:t>Workflow</a:t>
            </a:r>
          </a:p>
        </p:txBody>
      </p:sp>
      <p:cxnSp>
        <p:nvCxnSpPr>
          <p:cNvPr id="23" name="Nextflow Pfeil 0"/>
          <p:cNvCxnSpPr/>
          <p:nvPr/>
        </p:nvCxnSpPr>
        <p:spPr>
          <a:xfrm>
            <a:off x="2136140" y="2844800"/>
            <a:ext cx="0" cy="22860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24" name="Nextflow Nextflow-Laufzeit"/>
          <p:cNvSpPr/>
          <p:nvPr/>
        </p:nvSpPr>
        <p:spPr>
          <a:xfrm>
            <a:off x="1399540" y="3073400"/>
            <a:ext cx="1473200" cy="3048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8C8C8C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262626"/>
                </a:solidFill>
              </a:rPr>
              <a:t>Nextflow-Laufzeit</a:t>
            </a:r>
          </a:p>
        </p:txBody>
      </p:sp>
      <p:cxnSp>
        <p:nvCxnSpPr>
          <p:cNvPr id="25" name="Nextflow Pfeil 1"/>
          <p:cNvCxnSpPr/>
          <p:nvPr/>
        </p:nvCxnSpPr>
        <p:spPr>
          <a:xfrm>
            <a:off x="2136140" y="3378200"/>
            <a:ext cx="0" cy="22860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26" name="Nextflow Task"/>
          <p:cNvSpPr/>
          <p:nvPr/>
        </p:nvSpPr>
        <p:spPr>
          <a:xfrm>
            <a:off x="1399540" y="3606800"/>
            <a:ext cx="1473200" cy="3048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C1002A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C1002A"/>
                </a:solidFill>
              </a:rPr>
              <a:t>Task</a:t>
            </a:r>
          </a:p>
        </p:txBody>
      </p:sp>
      <p:sp>
        <p:nvSpPr>
          <p:cNvPr id="27" name="Beschreibung Nextflow"/>
          <p:cNvSpPr txBox="1"/>
          <p:nvPr/>
        </p:nvSpPr>
        <p:spPr>
          <a:xfrm>
            <a:off x="1219200" y="4749800"/>
            <a:ext cx="183388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200" i="1" dirty="0">
                <a:solidFill>
                  <a:srgbClr val="595959"/>
                </a:solidFill>
              </a:rPr>
              <a:t>Eigene Laufzeit</a:t>
            </a:r>
          </a:p>
        </p:txBody>
      </p:sp>
      <p:sp>
        <p:nvSpPr>
          <p:cNvPr id="28" name="Marke StreamFlow"/>
          <p:cNvSpPr/>
          <p:nvPr/>
        </p:nvSpPr>
        <p:spPr>
          <a:xfrm>
            <a:off x="3230880" y="1930400"/>
            <a:ext cx="228600" cy="381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29" name="System StreamFlow"/>
          <p:cNvSpPr txBox="1"/>
          <p:nvPr/>
        </p:nvSpPr>
        <p:spPr>
          <a:xfrm>
            <a:off x="3230880" y="2044700"/>
            <a:ext cx="183388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600" b="1" dirty="0">
                <a:solidFill>
                  <a:srgbClr val="262626"/>
                </a:solidFill>
              </a:rPr>
              <a:t>StreamFlow</a:t>
            </a:r>
          </a:p>
        </p:txBody>
      </p:sp>
      <p:sp>
        <p:nvSpPr>
          <p:cNvPr id="30" name="StreamFlow Workflow"/>
          <p:cNvSpPr/>
          <p:nvPr/>
        </p:nvSpPr>
        <p:spPr>
          <a:xfrm>
            <a:off x="3411220" y="2540000"/>
            <a:ext cx="1473200" cy="3048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8C8C8C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262626"/>
                </a:solidFill>
              </a:rPr>
              <a:t>Workflow</a:t>
            </a:r>
          </a:p>
        </p:txBody>
      </p:sp>
      <p:cxnSp>
        <p:nvCxnSpPr>
          <p:cNvPr id="31" name="StreamFlow Pfeil 0"/>
          <p:cNvCxnSpPr/>
          <p:nvPr/>
        </p:nvCxnSpPr>
        <p:spPr>
          <a:xfrm>
            <a:off x="4147820" y="2844800"/>
            <a:ext cx="0" cy="22860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32" name="StreamFlow StreamFlow-Laufzeit"/>
          <p:cNvSpPr/>
          <p:nvPr/>
        </p:nvSpPr>
        <p:spPr>
          <a:xfrm>
            <a:off x="3411220" y="3073400"/>
            <a:ext cx="1473200" cy="3048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8C8C8C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262626"/>
                </a:solidFill>
              </a:rPr>
              <a:t>StreamFlow-Laufzeit</a:t>
            </a:r>
          </a:p>
        </p:txBody>
      </p:sp>
      <p:cxnSp>
        <p:nvCxnSpPr>
          <p:cNvPr id="33" name="StreamFlow Pfeil 1"/>
          <p:cNvCxnSpPr/>
          <p:nvPr/>
        </p:nvCxnSpPr>
        <p:spPr>
          <a:xfrm>
            <a:off x="4147820" y="3378200"/>
            <a:ext cx="0" cy="22860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34" name="StreamFlow Task"/>
          <p:cNvSpPr/>
          <p:nvPr/>
        </p:nvSpPr>
        <p:spPr>
          <a:xfrm>
            <a:off x="3411220" y="3606800"/>
            <a:ext cx="1473200" cy="3048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C1002A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C1002A"/>
                </a:solidFill>
              </a:rPr>
              <a:t>Task</a:t>
            </a:r>
          </a:p>
        </p:txBody>
      </p:sp>
      <p:sp>
        <p:nvSpPr>
          <p:cNvPr id="35" name="Beschreibung StreamFlow"/>
          <p:cNvSpPr txBox="1"/>
          <p:nvPr/>
        </p:nvSpPr>
        <p:spPr>
          <a:xfrm>
            <a:off x="3230880" y="4749800"/>
            <a:ext cx="183388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200" i="1" dirty="0">
                <a:solidFill>
                  <a:srgbClr val="595959"/>
                </a:solidFill>
              </a:rPr>
              <a:t>Eigene Laufzeit</a:t>
            </a:r>
          </a:p>
        </p:txBody>
      </p:sp>
      <p:sp>
        <p:nvSpPr>
          <p:cNvPr id="36" name="Marke Merlin"/>
          <p:cNvSpPr/>
          <p:nvPr/>
        </p:nvSpPr>
        <p:spPr>
          <a:xfrm>
            <a:off x="5242560" y="1930400"/>
            <a:ext cx="228600" cy="381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37" name="System Merlin"/>
          <p:cNvSpPr txBox="1"/>
          <p:nvPr/>
        </p:nvSpPr>
        <p:spPr>
          <a:xfrm>
            <a:off x="5242560" y="2044700"/>
            <a:ext cx="183388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600" b="1" dirty="0">
                <a:solidFill>
                  <a:srgbClr val="262626"/>
                </a:solidFill>
              </a:rPr>
              <a:t>Merlin</a:t>
            </a:r>
          </a:p>
        </p:txBody>
      </p:sp>
      <p:sp>
        <p:nvSpPr>
          <p:cNvPr id="38" name="Merlin Workflow"/>
          <p:cNvSpPr/>
          <p:nvPr/>
        </p:nvSpPr>
        <p:spPr>
          <a:xfrm>
            <a:off x="5422900" y="2540000"/>
            <a:ext cx="1473200" cy="3048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8C8C8C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262626"/>
                </a:solidFill>
              </a:rPr>
              <a:t>Workflow</a:t>
            </a:r>
          </a:p>
        </p:txBody>
      </p:sp>
      <p:cxnSp>
        <p:nvCxnSpPr>
          <p:cNvPr id="39" name="Merlin Pfeil 0"/>
          <p:cNvCxnSpPr/>
          <p:nvPr/>
        </p:nvCxnSpPr>
        <p:spPr>
          <a:xfrm>
            <a:off x="6159500" y="2844800"/>
            <a:ext cx="0" cy="22860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40" name="Merlin Redis"/>
          <p:cNvSpPr/>
          <p:nvPr/>
        </p:nvSpPr>
        <p:spPr>
          <a:xfrm>
            <a:off x="5422900" y="3073400"/>
            <a:ext cx="1473200" cy="3048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8C8C8C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262626"/>
                </a:solidFill>
              </a:rPr>
              <a:t>Redis</a:t>
            </a:r>
          </a:p>
        </p:txBody>
      </p:sp>
      <p:cxnSp>
        <p:nvCxnSpPr>
          <p:cNvPr id="41" name="Merlin Pfeil 1"/>
          <p:cNvCxnSpPr/>
          <p:nvPr/>
        </p:nvCxnSpPr>
        <p:spPr>
          <a:xfrm>
            <a:off x="6159500" y="3378200"/>
            <a:ext cx="0" cy="22860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42" name="Merlin Worker"/>
          <p:cNvSpPr/>
          <p:nvPr/>
        </p:nvSpPr>
        <p:spPr>
          <a:xfrm>
            <a:off x="5422900" y="3606800"/>
            <a:ext cx="1473200" cy="3048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8C8C8C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262626"/>
                </a:solidFill>
              </a:rPr>
              <a:t>Worker</a:t>
            </a:r>
          </a:p>
        </p:txBody>
      </p:sp>
      <p:cxnSp>
        <p:nvCxnSpPr>
          <p:cNvPr id="43" name="Merlin Pfeil 2"/>
          <p:cNvCxnSpPr/>
          <p:nvPr/>
        </p:nvCxnSpPr>
        <p:spPr>
          <a:xfrm>
            <a:off x="6159500" y="3911600"/>
            <a:ext cx="0" cy="22860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44" name="Merlin Task"/>
          <p:cNvSpPr/>
          <p:nvPr/>
        </p:nvSpPr>
        <p:spPr>
          <a:xfrm>
            <a:off x="5422900" y="4140200"/>
            <a:ext cx="1473200" cy="3048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C1002A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C1002A"/>
                </a:solidFill>
              </a:rPr>
              <a:t>Task</a:t>
            </a:r>
          </a:p>
        </p:txBody>
      </p:sp>
      <p:sp>
        <p:nvSpPr>
          <p:cNvPr id="45" name="Beschreibung Merlin"/>
          <p:cNvSpPr txBox="1"/>
          <p:nvPr/>
        </p:nvSpPr>
        <p:spPr>
          <a:xfrm>
            <a:off x="5242560" y="4749800"/>
            <a:ext cx="183388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200" i="1" dirty="0">
                <a:solidFill>
                  <a:srgbClr val="595959"/>
                </a:solidFill>
              </a:rPr>
              <a:t>Aufgabenwarteschlange + Worker</a:t>
            </a:r>
          </a:p>
        </p:txBody>
      </p:sp>
      <p:sp>
        <p:nvSpPr>
          <p:cNvPr id="46" name="Marke Pegasus"/>
          <p:cNvSpPr/>
          <p:nvPr/>
        </p:nvSpPr>
        <p:spPr>
          <a:xfrm>
            <a:off x="7254240" y="1930400"/>
            <a:ext cx="228600" cy="381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7" name="System Pegasus"/>
          <p:cNvSpPr txBox="1"/>
          <p:nvPr/>
        </p:nvSpPr>
        <p:spPr>
          <a:xfrm>
            <a:off x="7254240" y="2044700"/>
            <a:ext cx="183388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600" b="1" dirty="0">
                <a:solidFill>
                  <a:srgbClr val="262626"/>
                </a:solidFill>
              </a:rPr>
              <a:t>Pegasus</a:t>
            </a:r>
          </a:p>
        </p:txBody>
      </p:sp>
      <p:sp>
        <p:nvSpPr>
          <p:cNvPr id="48" name="Pegasus Workflow"/>
          <p:cNvSpPr/>
          <p:nvPr/>
        </p:nvSpPr>
        <p:spPr>
          <a:xfrm>
            <a:off x="7434580" y="2540000"/>
            <a:ext cx="1473200" cy="3048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8C8C8C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262626"/>
                </a:solidFill>
              </a:rPr>
              <a:t>Workflow</a:t>
            </a:r>
          </a:p>
        </p:txBody>
      </p:sp>
      <p:cxnSp>
        <p:nvCxnSpPr>
          <p:cNvPr id="49" name="Pegasus Pfeil 0"/>
          <p:cNvCxnSpPr/>
          <p:nvPr/>
        </p:nvCxnSpPr>
        <p:spPr>
          <a:xfrm>
            <a:off x="8171180" y="2844800"/>
            <a:ext cx="0" cy="22860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50" name="Pegasus Planner"/>
          <p:cNvSpPr/>
          <p:nvPr/>
        </p:nvSpPr>
        <p:spPr>
          <a:xfrm>
            <a:off x="7434580" y="3073400"/>
            <a:ext cx="1473200" cy="3048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8C8C8C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262626"/>
                </a:solidFill>
              </a:rPr>
              <a:t>Planner</a:t>
            </a:r>
          </a:p>
        </p:txBody>
      </p:sp>
      <p:cxnSp>
        <p:nvCxnSpPr>
          <p:cNvPr id="51" name="Pegasus Pfeil 1"/>
          <p:cNvCxnSpPr/>
          <p:nvPr/>
        </p:nvCxnSpPr>
        <p:spPr>
          <a:xfrm>
            <a:off x="8171180" y="3378200"/>
            <a:ext cx="0" cy="22860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52" name="Pegasus HTCondor"/>
          <p:cNvSpPr/>
          <p:nvPr/>
        </p:nvSpPr>
        <p:spPr>
          <a:xfrm>
            <a:off x="7434580" y="3606800"/>
            <a:ext cx="1473200" cy="3048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8C8C8C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262626"/>
                </a:solidFill>
              </a:rPr>
              <a:t>HTCondor</a:t>
            </a:r>
          </a:p>
        </p:txBody>
      </p:sp>
      <p:cxnSp>
        <p:nvCxnSpPr>
          <p:cNvPr id="53" name="Pegasus Pfeil 2"/>
          <p:cNvCxnSpPr/>
          <p:nvPr/>
        </p:nvCxnSpPr>
        <p:spPr>
          <a:xfrm>
            <a:off x="8171180" y="3911600"/>
            <a:ext cx="0" cy="22860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54" name="Pegasus Jobs"/>
          <p:cNvSpPr/>
          <p:nvPr/>
        </p:nvSpPr>
        <p:spPr>
          <a:xfrm>
            <a:off x="7434580" y="4140200"/>
            <a:ext cx="1473200" cy="3048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C1002A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C1002A"/>
                </a:solidFill>
              </a:rPr>
              <a:t>Jobs</a:t>
            </a:r>
          </a:p>
        </p:txBody>
      </p:sp>
      <p:sp>
        <p:nvSpPr>
          <p:cNvPr id="55" name="Beschreibung Pegasus"/>
          <p:cNvSpPr txBox="1"/>
          <p:nvPr/>
        </p:nvSpPr>
        <p:spPr>
          <a:xfrm>
            <a:off x="7254240" y="4749800"/>
            <a:ext cx="183388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200" i="1" dirty="0">
                <a:solidFill>
                  <a:srgbClr val="595959"/>
                </a:solidFill>
              </a:rPr>
              <a:t>Planung + Ausführung</a:t>
            </a:r>
          </a:p>
        </p:txBody>
      </p:sp>
      <p:sp>
        <p:nvSpPr>
          <p:cNvPr id="56" name="Marke AiiDA"/>
          <p:cNvSpPr/>
          <p:nvPr/>
        </p:nvSpPr>
        <p:spPr>
          <a:xfrm>
            <a:off x="9265920" y="1930400"/>
            <a:ext cx="228600" cy="381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7" name="System AiiDA"/>
          <p:cNvSpPr txBox="1"/>
          <p:nvPr/>
        </p:nvSpPr>
        <p:spPr>
          <a:xfrm>
            <a:off x="9265920" y="2044700"/>
            <a:ext cx="183388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600" b="1" dirty="0">
                <a:solidFill>
                  <a:srgbClr val="262626"/>
                </a:solidFill>
              </a:rPr>
              <a:t>AiiDA</a:t>
            </a:r>
          </a:p>
        </p:txBody>
      </p:sp>
      <p:sp>
        <p:nvSpPr>
          <p:cNvPr id="58" name="AiiDA WorkChain"/>
          <p:cNvSpPr/>
          <p:nvPr/>
        </p:nvSpPr>
        <p:spPr>
          <a:xfrm>
            <a:off x="9265920" y="2540000"/>
            <a:ext cx="1041400" cy="3048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8C8C8C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262626"/>
                </a:solidFill>
              </a:rPr>
              <a:t>WorkChain</a:t>
            </a:r>
          </a:p>
        </p:txBody>
      </p:sp>
      <p:cxnSp>
        <p:nvCxnSpPr>
          <p:cNvPr id="59" name="AiiDA Pfeil 0"/>
          <p:cNvCxnSpPr/>
          <p:nvPr/>
        </p:nvCxnSpPr>
        <p:spPr>
          <a:xfrm>
            <a:off x="9786620" y="2844800"/>
            <a:ext cx="0" cy="22860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60" name="AiiDA RabbitMQ"/>
          <p:cNvSpPr/>
          <p:nvPr/>
        </p:nvSpPr>
        <p:spPr>
          <a:xfrm>
            <a:off x="9265920" y="3073400"/>
            <a:ext cx="1041400" cy="3048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8C8C8C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262626"/>
                </a:solidFill>
              </a:rPr>
              <a:t>RabbitMQ</a:t>
            </a:r>
          </a:p>
        </p:txBody>
      </p:sp>
      <p:cxnSp>
        <p:nvCxnSpPr>
          <p:cNvPr id="61" name="AiiDA Pfeil 1"/>
          <p:cNvCxnSpPr/>
          <p:nvPr/>
        </p:nvCxnSpPr>
        <p:spPr>
          <a:xfrm>
            <a:off x="9786620" y="3378200"/>
            <a:ext cx="0" cy="22860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62" name="AiiDA Daemon/Runner"/>
          <p:cNvSpPr/>
          <p:nvPr/>
        </p:nvSpPr>
        <p:spPr>
          <a:xfrm>
            <a:off x="9265920" y="3606800"/>
            <a:ext cx="1041400" cy="3048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8C8C8C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000" dirty="0">
                <a:solidFill>
                  <a:srgbClr val="262626"/>
                </a:solidFill>
              </a:rPr>
              <a:t>Daemon/Runner</a:t>
            </a:r>
          </a:p>
        </p:txBody>
      </p:sp>
      <p:cxnSp>
        <p:nvCxnSpPr>
          <p:cNvPr id="63" name="AiiDA Pfeil 2"/>
          <p:cNvCxnSpPr/>
          <p:nvPr/>
        </p:nvCxnSpPr>
        <p:spPr>
          <a:xfrm>
            <a:off x="9786620" y="3911600"/>
            <a:ext cx="0" cy="228600"/>
          </a:xfrm>
          <a:prstGeom prst="line">
            <a:avLst/>
          </a:prstGeom>
          <a:ln w="9525">
            <a:solidFill>
              <a:srgbClr val="8C8C8C"/>
            </a:solidFill>
            <a:tailEnd type="triangle" w="sm" len="sm"/>
          </a:ln>
        </p:spPr>
      </p:cxnSp>
      <p:sp>
        <p:nvSpPr>
          <p:cNvPr id="64" name="AiiDA CalcJobs"/>
          <p:cNvSpPr/>
          <p:nvPr/>
        </p:nvSpPr>
        <p:spPr>
          <a:xfrm>
            <a:off x="9265920" y="4140200"/>
            <a:ext cx="1041400" cy="3048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C1002A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100" dirty="0">
                <a:solidFill>
                  <a:srgbClr val="C1002A"/>
                </a:solidFill>
              </a:rPr>
              <a:t>CalcJobs</a:t>
            </a:r>
          </a:p>
        </p:txBody>
      </p:sp>
      <p:sp>
        <p:nvSpPr>
          <p:cNvPr id="65" name="AiiDA Datenbank"/>
          <p:cNvSpPr/>
          <p:nvPr/>
        </p:nvSpPr>
        <p:spPr>
          <a:xfrm>
            <a:off x="10510520" y="3606800"/>
            <a:ext cx="736600" cy="304800"/>
          </a:xfrm>
          <a:prstGeom prst="roundRect">
            <a:avLst>
              <a:gd name="adj" fmla="val 18000"/>
            </a:avLst>
          </a:prstGeom>
          <a:noFill/>
          <a:ln w="12700">
            <a:solidFill>
              <a:srgbClr val="8C8C8C"/>
            </a:solidFill>
          </a:ln>
        </p:spPr>
        <p:txBody>
          <a:bodyPr lIns="0" tIns="0" rIns="0" bIns="0" anchor="ctr"/>
          <a:lstStyle/>
          <a:p>
            <a:pPr algn="ctr"/>
            <a:r>
              <a:rPr lang="de-DE" sz="1000" dirty="0">
                <a:solidFill>
                  <a:srgbClr val="262626"/>
                </a:solidFill>
              </a:rPr>
              <a:t>Datenbank</a:t>
            </a:r>
          </a:p>
        </p:txBody>
      </p:sp>
      <p:cxnSp>
        <p:nvCxnSpPr>
          <p:cNvPr id="66" name="AiiDA Doppelpfeil"/>
          <p:cNvCxnSpPr/>
          <p:nvPr/>
        </p:nvCxnSpPr>
        <p:spPr>
          <a:xfrm>
            <a:off x="10307320" y="3759200"/>
            <a:ext cx="203200" cy="0"/>
          </a:xfrm>
          <a:prstGeom prst="line">
            <a:avLst/>
          </a:prstGeom>
          <a:ln w="9525">
            <a:solidFill>
              <a:srgbClr val="8C8C8C"/>
            </a:solidFill>
            <a:headEnd type="triangle" w="sm" len="sm"/>
            <a:tailEnd type="triangle" w="sm" len="sm"/>
          </a:ln>
        </p:spPr>
      </p:cxnSp>
      <p:sp>
        <p:nvSpPr>
          <p:cNvPr id="67" name="Beschreibung AiiDA"/>
          <p:cNvSpPr txBox="1"/>
          <p:nvPr/>
        </p:nvSpPr>
        <p:spPr>
          <a:xfrm>
            <a:off x="9265920" y="4749800"/>
            <a:ext cx="1833880" cy="381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200" i="1" dirty="0">
                <a:solidFill>
                  <a:srgbClr val="595959"/>
                </a:solidFill>
              </a:rPr>
              <a:t>Nachrichten + Daemon + Datenbank</a:t>
            </a:r>
          </a:p>
        </p:txBody>
      </p:sp>
      <p:cxnSp>
        <p:nvCxnSpPr>
          <p:cNvPr id="68" name="Trennlinie"/>
          <p:cNvCxnSpPr/>
          <p:nvPr/>
        </p:nvCxnSpPr>
        <p:spPr>
          <a:xfrm>
            <a:off x="1219200" y="5283200"/>
            <a:ext cx="100584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69" name="Kernaussage"/>
          <p:cNvSpPr txBox="1"/>
          <p:nvPr/>
        </p:nvSpPr>
        <p:spPr>
          <a:xfrm>
            <a:off x="1219200" y="5461000"/>
            <a:ext cx="100584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de-DE" sz="1400" b="1" dirty="0">
                <a:solidFill>
                  <a:srgbClr val="262626"/>
                </a:solidFill>
              </a:rPr>
              <a:t>Gleicher Workflow, unterschiedliche Wege zur Ausführung</a:t>
            </a:r>
          </a:p>
        </p:txBody>
      </p:sp>
      <p:sp>
        <p:nvSpPr>
          <p:cNvPr id="3" name="Foliennummer"/>
          <p:cNvSpPr txBox="1"/>
          <p:nvPr/>
        </p:nvSpPr>
        <p:spPr>
          <a:xfrm>
            <a:off x="10769600" y="6197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1200" dirty="0">
                <a:solidFill>
                  <a:srgbClr val="8C8C8C"/>
                </a:solidFill>
              </a:rPr>
              <a:t>11</a:t>
            </a:r>
          </a:p>
        </p:txBody>
      </p:sp>
      <p:cxnSp>
        <p:nvCxnSpPr>
          <p:cNvPr id="4" name="Fortschritt Linie"/>
          <p:cNvCxnSpPr/>
          <p:nvPr/>
        </p:nvCxnSpPr>
        <p:spPr>
          <a:xfrm>
            <a:off x="1219200" y="6172200"/>
            <a:ext cx="508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5" name="Marker Motivation"/>
          <p:cNvSpPr/>
          <p:nvPr/>
        </p:nvSpPr>
        <p:spPr>
          <a:xfrm>
            <a:off x="1187450" y="6140450"/>
            <a:ext cx="63500" cy="635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6" name="Label Motivation"/>
          <p:cNvSpPr txBox="1"/>
          <p:nvPr/>
        </p:nvSpPr>
        <p:spPr>
          <a:xfrm>
            <a:off x="1219200" y="6273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000" dirty="0">
                <a:solidFill>
                  <a:srgbClr val="A6A6A6"/>
                </a:solidFill>
              </a:rPr>
              <a:t>Motivation</a:t>
            </a:r>
          </a:p>
        </p:txBody>
      </p:sp>
      <p:sp>
        <p:nvSpPr>
          <p:cNvPr id="7" name="Marker Methodik"/>
          <p:cNvSpPr/>
          <p:nvPr/>
        </p:nvSpPr>
        <p:spPr>
          <a:xfrm>
            <a:off x="2457450" y="6140450"/>
            <a:ext cx="63500" cy="635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8" name="Label Methodik"/>
          <p:cNvSpPr txBox="1"/>
          <p:nvPr/>
        </p:nvSpPr>
        <p:spPr>
          <a:xfrm>
            <a:off x="1854200" y="6273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Methodik</a:t>
            </a:r>
          </a:p>
        </p:txBody>
      </p:sp>
      <p:sp>
        <p:nvSpPr>
          <p:cNvPr id="9" name="Marker Systeme"/>
          <p:cNvSpPr/>
          <p:nvPr/>
        </p:nvSpPr>
        <p:spPr>
          <a:xfrm>
            <a:off x="3714750" y="6127750"/>
            <a:ext cx="88900" cy="88900"/>
          </a:xfrm>
          <a:prstGeom prst="ellipse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0" name="Label Systeme"/>
          <p:cNvSpPr txBox="1"/>
          <p:nvPr/>
        </p:nvSpPr>
        <p:spPr>
          <a:xfrm>
            <a:off x="3124200" y="6273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000" b="1" dirty="0">
                <a:solidFill>
                  <a:srgbClr val="C1002A"/>
                </a:solidFill>
              </a:rPr>
              <a:t>Systeme</a:t>
            </a:r>
          </a:p>
        </p:txBody>
      </p:sp>
      <p:sp>
        <p:nvSpPr>
          <p:cNvPr id="11" name="Marker Untersuchung"/>
          <p:cNvSpPr/>
          <p:nvPr/>
        </p:nvSpPr>
        <p:spPr>
          <a:xfrm>
            <a:off x="4997450" y="6140450"/>
            <a:ext cx="63500" cy="635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2" name="Label Untersuchung"/>
          <p:cNvSpPr txBox="1"/>
          <p:nvPr/>
        </p:nvSpPr>
        <p:spPr>
          <a:xfrm>
            <a:off x="4394200" y="6273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Untersuchung</a:t>
            </a:r>
          </a:p>
        </p:txBody>
      </p:sp>
      <p:sp>
        <p:nvSpPr>
          <p:cNvPr id="13" name="Marker Fazit"/>
          <p:cNvSpPr/>
          <p:nvPr/>
        </p:nvSpPr>
        <p:spPr>
          <a:xfrm>
            <a:off x="6267450" y="6140450"/>
            <a:ext cx="63500" cy="635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4" name="Label Fazit"/>
          <p:cNvSpPr txBox="1"/>
          <p:nvPr/>
        </p:nvSpPr>
        <p:spPr>
          <a:xfrm>
            <a:off x="5029200" y="6273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1000" dirty="0">
                <a:solidFill>
                  <a:srgbClr val="A6A6A6"/>
                </a:solidFill>
              </a:rPr>
              <a:t>Fazit</a:t>
            </a:r>
          </a:p>
        </p:txBody>
      </p:sp>
    </p:spTree>
    <p:extLst>
      <p:ext uri="{BB962C8B-B14F-4D97-AF65-F5344CB8AC3E}">
        <p14:creationId xmlns:p14="http://schemas.microsoft.com/office/powerpoint/2010/main" val="3936722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035E23-6E52-9AEE-EAD2-3BEB471F3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812800"/>
            <a:ext cx="10058400" cy="50800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de-DE" sz="2600" b="1" dirty="0">
                <a:solidFill>
                  <a:srgbClr val="262626"/>
                </a:solidFill>
              </a:rPr>
              <a:t>Lokale Untersuchung: WMS-Overhead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2CD6A111-9076-8E04-3AED-ED16A28E3C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905000"/>
            <a:ext cx="7264400" cy="2978013"/>
          </a:xfrm>
          <a:prstGeom prst="rect">
            <a:avLst/>
          </a:prstGeom>
        </p:spPr>
      </p:pic>
      <p:sp>
        <p:nvSpPr>
          <p:cNvPr id="20" name="Akzentlinie"/>
          <p:cNvSpPr/>
          <p:nvPr/>
        </p:nvSpPr>
        <p:spPr>
          <a:xfrm>
            <a:off x="914400" y="812800"/>
            <a:ext cx="50800" cy="4318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6" name="Abschnitt"/>
          <p:cNvSpPr txBox="1"/>
          <p:nvPr/>
        </p:nvSpPr>
        <p:spPr>
          <a:xfrm>
            <a:off x="1219200" y="1397000"/>
            <a:ext cx="1005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000" b="1" spc="200" dirty="0">
                <a:solidFill>
                  <a:srgbClr val="C1002A"/>
                </a:solidFill>
              </a:rPr>
              <a:t>OVERHEAD GEGENÜBER REFERENZAUSFÜHRUNG</a:t>
            </a:r>
          </a:p>
        </p:txBody>
      </p:sp>
      <p:sp>
        <p:nvSpPr>
          <p:cNvPr id="3" name="Foliennummer"/>
          <p:cNvSpPr txBox="1"/>
          <p:nvPr/>
        </p:nvSpPr>
        <p:spPr>
          <a:xfrm>
            <a:off x="10769600" y="6197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1200" dirty="0">
                <a:solidFill>
                  <a:srgbClr val="8C8C8C"/>
                </a:solidFill>
              </a:rPr>
              <a:t>12</a:t>
            </a:r>
          </a:p>
        </p:txBody>
      </p:sp>
      <p:cxnSp>
        <p:nvCxnSpPr>
          <p:cNvPr id="4" name="Fortschritt Linie"/>
          <p:cNvCxnSpPr/>
          <p:nvPr/>
        </p:nvCxnSpPr>
        <p:spPr>
          <a:xfrm>
            <a:off x="1219200" y="6172200"/>
            <a:ext cx="508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6" name="Marker Motivation"/>
          <p:cNvSpPr/>
          <p:nvPr/>
        </p:nvSpPr>
        <p:spPr>
          <a:xfrm>
            <a:off x="1187450" y="6140450"/>
            <a:ext cx="63500" cy="635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" name="Label Motivation"/>
          <p:cNvSpPr txBox="1"/>
          <p:nvPr/>
        </p:nvSpPr>
        <p:spPr>
          <a:xfrm>
            <a:off x="1219200" y="6273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000" dirty="0">
                <a:solidFill>
                  <a:srgbClr val="A6A6A6"/>
                </a:solidFill>
              </a:rPr>
              <a:t>Motivation</a:t>
            </a:r>
          </a:p>
        </p:txBody>
      </p:sp>
      <p:sp>
        <p:nvSpPr>
          <p:cNvPr id="8" name="Marker Methodik"/>
          <p:cNvSpPr/>
          <p:nvPr/>
        </p:nvSpPr>
        <p:spPr>
          <a:xfrm>
            <a:off x="2457450" y="6140450"/>
            <a:ext cx="63500" cy="635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9" name="Label Methodik"/>
          <p:cNvSpPr txBox="1"/>
          <p:nvPr/>
        </p:nvSpPr>
        <p:spPr>
          <a:xfrm>
            <a:off x="1854200" y="6273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Methodik</a:t>
            </a:r>
          </a:p>
        </p:txBody>
      </p:sp>
      <p:sp>
        <p:nvSpPr>
          <p:cNvPr id="10" name="Marker Systeme"/>
          <p:cNvSpPr/>
          <p:nvPr/>
        </p:nvSpPr>
        <p:spPr>
          <a:xfrm>
            <a:off x="3727450" y="6140450"/>
            <a:ext cx="63500" cy="635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1" name="Label Systeme"/>
          <p:cNvSpPr txBox="1"/>
          <p:nvPr/>
        </p:nvSpPr>
        <p:spPr>
          <a:xfrm>
            <a:off x="3124200" y="6273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Systeme</a:t>
            </a:r>
          </a:p>
        </p:txBody>
      </p:sp>
      <p:sp>
        <p:nvSpPr>
          <p:cNvPr id="12" name="Marker Untersuchung"/>
          <p:cNvSpPr/>
          <p:nvPr/>
        </p:nvSpPr>
        <p:spPr>
          <a:xfrm>
            <a:off x="4984750" y="6127750"/>
            <a:ext cx="88900" cy="88900"/>
          </a:xfrm>
          <a:prstGeom prst="ellipse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" name="Label Untersuchung"/>
          <p:cNvSpPr txBox="1"/>
          <p:nvPr/>
        </p:nvSpPr>
        <p:spPr>
          <a:xfrm>
            <a:off x="4394200" y="6273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000" b="1" dirty="0">
                <a:solidFill>
                  <a:srgbClr val="C1002A"/>
                </a:solidFill>
              </a:rPr>
              <a:t>Untersuchung</a:t>
            </a:r>
          </a:p>
        </p:txBody>
      </p:sp>
      <p:sp>
        <p:nvSpPr>
          <p:cNvPr id="14" name="Marker Fazit"/>
          <p:cNvSpPr/>
          <p:nvPr/>
        </p:nvSpPr>
        <p:spPr>
          <a:xfrm>
            <a:off x="6267450" y="6140450"/>
            <a:ext cx="63500" cy="635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5" name="Label Fazit"/>
          <p:cNvSpPr txBox="1"/>
          <p:nvPr/>
        </p:nvSpPr>
        <p:spPr>
          <a:xfrm>
            <a:off x="5029200" y="6273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1000" dirty="0">
                <a:solidFill>
                  <a:srgbClr val="A6A6A6"/>
                </a:solidFill>
              </a:rPr>
              <a:t>Fazit</a:t>
            </a:r>
          </a:p>
        </p:txBody>
      </p:sp>
      <p:sp>
        <p:nvSpPr>
          <p:cNvPr id="30" name="Zentrale Ergebnisse"/>
          <p:cNvSpPr txBox="1"/>
          <p:nvPr/>
        </p:nvSpPr>
        <p:spPr>
          <a:xfrm>
            <a:off x="8788400" y="2006600"/>
            <a:ext cx="24892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600" b="1" dirty="0">
                <a:solidFill>
                  <a:srgbClr val="262626"/>
                </a:solidFill>
              </a:rPr>
              <a:t>Zentrale Ergebnisse</a:t>
            </a:r>
          </a:p>
        </p:txBody>
      </p:sp>
      <p:sp>
        <p:nvSpPr>
          <p:cNvPr id="31" name="Ergebnisse"/>
          <p:cNvSpPr txBox="1"/>
          <p:nvPr/>
        </p:nvSpPr>
        <p:spPr>
          <a:xfrm>
            <a:off x="8788400" y="2413000"/>
            <a:ext cx="2489200" cy="25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 algn="l">
              <a:spcAft>
                <a:spcPts val="2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200" dirty="0">
                <a:solidFill>
                  <a:srgbClr val="262626"/>
                </a:solidFill>
              </a:rPr>
              <a:t>Drei </a:t>
            </a:r>
            <a:r>
              <a:rPr lang="de-DE" sz="1200" b="1" dirty="0">
                <a:solidFill>
                  <a:srgbClr val="262626"/>
                </a:solidFill>
              </a:rPr>
              <a:t>Overhead-Gruppen</a:t>
            </a:r>
            <a:r>
              <a:rPr lang="de-DE" sz="1200" dirty="0">
                <a:solidFill>
                  <a:srgbClr val="262626"/>
                </a:solidFill>
              </a:rPr>
              <a:t>:</a:t>
            </a:r>
          </a:p>
          <a:p>
            <a:pPr marL="152400" indent="0" algn="l">
              <a:spcAft>
                <a:spcPts val="0"/>
              </a:spcAft>
              <a:buNone/>
            </a:pPr>
            <a:r>
              <a:rPr lang="de-DE" sz="1100" dirty="0">
                <a:solidFill>
                  <a:srgbClr val="595959"/>
                </a:solidFill>
              </a:rPr>
              <a:t>SF / NF / Merlin: 1,4–4,2 s</a:t>
            </a:r>
          </a:p>
          <a:p>
            <a:pPr marL="152400" indent="0" algn="l">
              <a:spcAft>
                <a:spcPts val="0"/>
              </a:spcAft>
              <a:buNone/>
            </a:pPr>
            <a:r>
              <a:rPr lang="de-DE" sz="1100" dirty="0">
                <a:solidFill>
                  <a:srgbClr val="595959"/>
                </a:solidFill>
              </a:rPr>
              <a:t>AiiDA: 5,1–10,3 s</a:t>
            </a:r>
          </a:p>
          <a:p>
            <a:pPr marL="152400" indent="0" algn="l">
              <a:spcAft>
                <a:spcPts val="1200"/>
              </a:spcAft>
              <a:buNone/>
            </a:pPr>
            <a:r>
              <a:rPr lang="de-DE" sz="1100" dirty="0">
                <a:solidFill>
                  <a:srgbClr val="595959"/>
                </a:solidFill>
              </a:rPr>
              <a:t>Pegasus: 171–221 s</a:t>
            </a:r>
          </a:p>
          <a:p>
            <a:pPr marL="152400" indent="-152400" algn="l">
              <a:spcAft>
                <a:spcPts val="12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200" b="1" dirty="0">
                <a:solidFill>
                  <a:srgbClr val="262626"/>
                </a:solidFill>
              </a:rPr>
              <a:t>Kein proportionaler Zusammenhang</a:t>
            </a:r>
            <a:r>
              <a:rPr lang="de-DE" sz="1200" dirty="0">
                <a:solidFill>
                  <a:srgbClr val="262626"/>
                </a:solidFill>
              </a:rPr>
              <a:t> zwischen Rechenlast und Overhead</a:t>
            </a:r>
          </a:p>
          <a:p>
            <a:pPr marL="152400" indent="-152400" algn="l">
              <a:spcAft>
                <a:spcPts val="2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200" b="1" dirty="0">
                <a:solidFill>
                  <a:srgbClr val="262626"/>
                </a:solidFill>
              </a:rPr>
              <a:t>Workflowstruktur</a:t>
            </a:r>
            <a:r>
              <a:rPr lang="de-DE" sz="1200" dirty="0">
                <a:solidFill>
                  <a:srgbClr val="262626"/>
                </a:solidFill>
              </a:rPr>
              <a:t> teilweise relevant:</a:t>
            </a:r>
          </a:p>
          <a:p>
            <a:pPr marL="152400" indent="0" algn="l">
              <a:spcAft>
                <a:spcPts val="0"/>
              </a:spcAft>
              <a:buNone/>
            </a:pPr>
            <a:r>
              <a:rPr lang="de-DE" sz="1100" dirty="0">
                <a:solidFill>
                  <a:srgbClr val="595959"/>
                </a:solidFill>
              </a:rPr>
              <a:t>Scatter-Gather bei AiiDA und Pegasus mit erhöhtem Overhead</a:t>
            </a:r>
          </a:p>
        </p:txBody>
      </p:sp>
    </p:spTree>
    <p:extLst>
      <p:ext uri="{BB962C8B-B14F-4D97-AF65-F5344CB8AC3E}">
        <p14:creationId xmlns:p14="http://schemas.microsoft.com/office/powerpoint/2010/main" val="597007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A59EE0-1109-2D00-3FE5-6DB60B878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812800"/>
            <a:ext cx="10058400" cy="508000"/>
          </a:xfrm>
        </p:spPr>
        <p:txBody>
          <a:bodyPr wrap="square" lIns="0" tIns="0" rIns="0" bIns="0" anchor="t">
            <a:normAutofit/>
          </a:bodyPr>
          <a:lstStyle/>
          <a:p>
            <a:pPr algn="l"/>
            <a:r>
              <a:rPr lang="de-DE" sz="2600" b="1" dirty="0">
                <a:solidFill>
                  <a:srgbClr val="262626"/>
                </a:solidFill>
              </a:rPr>
              <a:t>Scatter-Gather: Gesamtlaufzeit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93D76D50-CA3C-A0D8-8EB5-2BDD9851B9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1905000"/>
            <a:ext cx="7264400" cy="3188985"/>
          </a:xfrm>
          <a:prstGeom prst="rect">
            <a:avLst/>
          </a:prstGeom>
        </p:spPr>
      </p:pic>
      <p:sp>
        <p:nvSpPr>
          <p:cNvPr id="20" name="Akzentlinie"/>
          <p:cNvSpPr/>
          <p:nvPr/>
        </p:nvSpPr>
        <p:spPr>
          <a:xfrm>
            <a:off x="914400" y="812800"/>
            <a:ext cx="50800" cy="4318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6" name="Abschnitt"/>
          <p:cNvSpPr txBox="1"/>
          <p:nvPr/>
        </p:nvSpPr>
        <p:spPr>
          <a:xfrm>
            <a:off x="1219200" y="1397000"/>
            <a:ext cx="10058400" cy="177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000" b="1" spc="200" dirty="0">
                <a:solidFill>
                  <a:srgbClr val="C1002A"/>
                </a:solidFill>
              </a:rPr>
              <a:t>MAKESPAN BEI 1, 2 UND 4 Teilstücke</a:t>
            </a:r>
          </a:p>
        </p:txBody>
      </p:sp>
      <p:sp>
        <p:nvSpPr>
          <p:cNvPr id="21" name="Zentrale Ergebnisse"/>
          <p:cNvSpPr txBox="1"/>
          <p:nvPr/>
        </p:nvSpPr>
        <p:spPr>
          <a:xfrm>
            <a:off x="8788400" y="2006600"/>
            <a:ext cx="2489200" cy="279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600" b="1" dirty="0">
                <a:solidFill>
                  <a:srgbClr val="262626"/>
                </a:solidFill>
              </a:rPr>
              <a:t>Zentrale Ergebnisse</a:t>
            </a:r>
          </a:p>
        </p:txBody>
      </p:sp>
      <p:sp>
        <p:nvSpPr>
          <p:cNvPr id="22" name="Ergebnisse"/>
          <p:cNvSpPr txBox="1"/>
          <p:nvPr/>
        </p:nvSpPr>
        <p:spPr>
          <a:xfrm>
            <a:off x="8788400" y="2413000"/>
            <a:ext cx="2489200" cy="254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52400" indent="-152400" algn="l">
              <a:spcAft>
                <a:spcPts val="2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200" b="1" dirty="0">
                <a:solidFill>
                  <a:srgbClr val="262626"/>
                </a:solidFill>
              </a:rPr>
              <a:t>Kurze Rechenlast</a:t>
            </a:r>
            <a:r>
              <a:rPr lang="de-DE" sz="1200" dirty="0">
                <a:solidFill>
                  <a:srgbClr val="262626"/>
                </a:solidFill>
              </a:rPr>
              <a:t>:</a:t>
            </a:r>
          </a:p>
          <a:p>
            <a:pPr marL="152400" indent="0" algn="l">
              <a:spcAft>
                <a:spcPts val="1200"/>
              </a:spcAft>
              <a:buNone/>
            </a:pPr>
            <a:r>
              <a:rPr lang="de-DE" sz="1100" dirty="0">
                <a:solidFill>
                  <a:srgbClr val="595959"/>
                </a:solidFill>
              </a:rPr>
              <a:t>geringer bzw. teilweise kein zusätzlicher Gewinn</a:t>
            </a:r>
          </a:p>
          <a:p>
            <a:pPr marL="152400" indent="-152400" algn="l">
              <a:spcAft>
                <a:spcPts val="20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200" b="1" dirty="0">
                <a:solidFill>
                  <a:srgbClr val="262626"/>
                </a:solidFill>
              </a:rPr>
              <a:t>Mittlere und lange Rechenlast</a:t>
            </a:r>
            <a:r>
              <a:rPr lang="de-DE" sz="1200" dirty="0">
                <a:solidFill>
                  <a:srgbClr val="262626"/>
                </a:solidFill>
              </a:rPr>
              <a:t>:</a:t>
            </a:r>
          </a:p>
          <a:p>
            <a:pPr marL="152400" indent="0" algn="l">
              <a:spcAft>
                <a:spcPts val="1200"/>
              </a:spcAft>
              <a:buNone/>
            </a:pPr>
            <a:r>
              <a:rPr lang="de-DE" sz="1100" dirty="0">
                <a:solidFill>
                  <a:srgbClr val="595959"/>
                </a:solidFill>
              </a:rPr>
              <a:t>deutliche Verringerung des Makespans</a:t>
            </a:r>
          </a:p>
          <a:p>
            <a:pPr marL="152400" indent="-152400" algn="l">
              <a:spcAft>
                <a:spcPts val="0"/>
              </a:spcAft>
              <a:buClr>
                <a:srgbClr val="C1002A"/>
              </a:buClr>
              <a:buFont typeface="Arial"/>
              <a:buChar char="•"/>
            </a:pPr>
            <a:r>
              <a:rPr lang="de-DE" sz="1200" b="1" dirty="0">
                <a:solidFill>
                  <a:srgbClr val="262626"/>
                </a:solidFill>
              </a:rPr>
              <a:t>Parallelisierung</a:t>
            </a:r>
            <a:r>
              <a:rPr lang="de-DE" sz="1200" dirty="0">
                <a:solidFill>
                  <a:srgbClr val="262626"/>
                </a:solidFill>
              </a:rPr>
              <a:t> gewinnt mit wachsender Rechenlast an Bedeutung</a:t>
            </a:r>
          </a:p>
        </p:txBody>
      </p:sp>
      <p:sp>
        <p:nvSpPr>
          <p:cNvPr id="3" name="Foliennummer"/>
          <p:cNvSpPr txBox="1"/>
          <p:nvPr/>
        </p:nvSpPr>
        <p:spPr>
          <a:xfrm>
            <a:off x="10769600" y="6197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1200" dirty="0">
                <a:solidFill>
                  <a:srgbClr val="8C8C8C"/>
                </a:solidFill>
              </a:rPr>
              <a:t>13</a:t>
            </a:r>
          </a:p>
        </p:txBody>
      </p:sp>
      <p:cxnSp>
        <p:nvCxnSpPr>
          <p:cNvPr id="4" name="Fortschritt Linie"/>
          <p:cNvCxnSpPr/>
          <p:nvPr/>
        </p:nvCxnSpPr>
        <p:spPr>
          <a:xfrm>
            <a:off x="1219200" y="6172200"/>
            <a:ext cx="508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6" name="Marker Motivation"/>
          <p:cNvSpPr/>
          <p:nvPr/>
        </p:nvSpPr>
        <p:spPr>
          <a:xfrm>
            <a:off x="1187450" y="6140450"/>
            <a:ext cx="63500" cy="635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7" name="Label Motivation"/>
          <p:cNvSpPr txBox="1"/>
          <p:nvPr/>
        </p:nvSpPr>
        <p:spPr>
          <a:xfrm>
            <a:off x="1219200" y="6273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de-DE" sz="1000" dirty="0">
                <a:solidFill>
                  <a:srgbClr val="A6A6A6"/>
                </a:solidFill>
              </a:rPr>
              <a:t>Motivation</a:t>
            </a:r>
          </a:p>
        </p:txBody>
      </p:sp>
      <p:sp>
        <p:nvSpPr>
          <p:cNvPr id="8" name="Marker Methodik"/>
          <p:cNvSpPr/>
          <p:nvPr/>
        </p:nvSpPr>
        <p:spPr>
          <a:xfrm>
            <a:off x="2457450" y="6140450"/>
            <a:ext cx="63500" cy="635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9" name="Label Methodik"/>
          <p:cNvSpPr txBox="1"/>
          <p:nvPr/>
        </p:nvSpPr>
        <p:spPr>
          <a:xfrm>
            <a:off x="1854200" y="6273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Methodik</a:t>
            </a:r>
          </a:p>
        </p:txBody>
      </p:sp>
      <p:sp>
        <p:nvSpPr>
          <p:cNvPr id="10" name="Marker Systeme"/>
          <p:cNvSpPr/>
          <p:nvPr/>
        </p:nvSpPr>
        <p:spPr>
          <a:xfrm>
            <a:off x="3727450" y="6140450"/>
            <a:ext cx="63500" cy="635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1" name="Label Systeme"/>
          <p:cNvSpPr txBox="1"/>
          <p:nvPr/>
        </p:nvSpPr>
        <p:spPr>
          <a:xfrm>
            <a:off x="3124200" y="6273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000" dirty="0">
                <a:solidFill>
                  <a:srgbClr val="A6A6A6"/>
                </a:solidFill>
              </a:rPr>
              <a:t>Systeme</a:t>
            </a:r>
          </a:p>
        </p:txBody>
      </p:sp>
      <p:sp>
        <p:nvSpPr>
          <p:cNvPr id="12" name="Marker Untersuchung"/>
          <p:cNvSpPr/>
          <p:nvPr/>
        </p:nvSpPr>
        <p:spPr>
          <a:xfrm>
            <a:off x="4984750" y="6127750"/>
            <a:ext cx="88900" cy="88900"/>
          </a:xfrm>
          <a:prstGeom prst="ellipse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3" name="Label Untersuchung"/>
          <p:cNvSpPr txBox="1"/>
          <p:nvPr/>
        </p:nvSpPr>
        <p:spPr>
          <a:xfrm>
            <a:off x="4394200" y="6273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lang="de-DE" sz="1000" b="1" dirty="0">
                <a:solidFill>
                  <a:srgbClr val="C1002A"/>
                </a:solidFill>
              </a:rPr>
              <a:t>Untersuchung</a:t>
            </a:r>
          </a:p>
        </p:txBody>
      </p:sp>
      <p:sp>
        <p:nvSpPr>
          <p:cNvPr id="14" name="Marker Fazit"/>
          <p:cNvSpPr/>
          <p:nvPr/>
        </p:nvSpPr>
        <p:spPr>
          <a:xfrm>
            <a:off x="6267450" y="6140450"/>
            <a:ext cx="63500" cy="635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15" name="Label Fazit"/>
          <p:cNvSpPr txBox="1"/>
          <p:nvPr/>
        </p:nvSpPr>
        <p:spPr>
          <a:xfrm>
            <a:off x="5029200" y="6273800"/>
            <a:ext cx="1270000" cy="203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de-DE" sz="1000" dirty="0">
                <a:solidFill>
                  <a:srgbClr val="A6A6A6"/>
                </a:solidFill>
              </a:rPr>
              <a:t>Fazit</a:t>
            </a:r>
          </a:p>
        </p:txBody>
      </p:sp>
    </p:spTree>
    <p:extLst>
      <p:ext uri="{BB962C8B-B14F-4D97-AF65-F5344CB8AC3E}">
        <p14:creationId xmlns:p14="http://schemas.microsoft.com/office/powerpoint/2010/main" val="3310711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3E5E2F-3F12-D116-7CE7-D6ECFF7D2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812800"/>
            <a:ext cx="10058400" cy="508000"/>
          </a:xfrm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0"/>
              </a:spcAft>
            </a:pPr>
            <a:r>
              <a:rPr lang="de-DE" sz="2600" b="1" dirty="0">
                <a:solidFill>
                  <a:srgbClr val="262626"/>
                </a:solidFill>
              </a:rPr>
              <a:t>Quellenverzeichnis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0A9FB2-E4B2-A71F-E04B-B10EEFD4F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905000"/>
            <a:ext cx="10058400" cy="3810000"/>
          </a:xfrm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Aft>
                <a:spcPts val="800"/>
              </a:spcAft>
              <a:buNone/>
            </a:pPr>
            <a:r>
              <a:rPr lang="de-DE" sz="1400" b="1" dirty="0">
                <a:solidFill>
                  <a:srgbClr val="262626"/>
                </a:solidFill>
              </a:rPr>
              <a:t>Logos der Workflow-Management-Systeme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de-DE" sz="1200" dirty="0">
                <a:solidFill>
                  <a:srgbClr val="262626"/>
                </a:solidFill>
              </a:rPr>
              <a:t>Nextflow</a:t>
            </a:r>
            <a:r>
              <a:rPr lang="de-DE" sz="1200" dirty="0">
                <a:solidFill>
                  <a:srgbClr val="595959"/>
                </a:solidFill>
              </a:rPr>
              <a:t> – https://workflows.community/systems/nextflow/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de-DE" sz="1200" dirty="0">
                <a:solidFill>
                  <a:srgbClr val="262626"/>
                </a:solidFill>
              </a:rPr>
              <a:t>StreamFlow</a:t>
            </a:r>
            <a:r>
              <a:rPr lang="de-DE" sz="1200" dirty="0">
                <a:solidFill>
                  <a:srgbClr val="595959"/>
                </a:solidFill>
              </a:rPr>
              <a:t> – https://workflows.community/systems/streamflow/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de-DE" sz="1200" dirty="0">
                <a:solidFill>
                  <a:srgbClr val="262626"/>
                </a:solidFill>
              </a:rPr>
              <a:t>Merlin</a:t>
            </a:r>
            <a:r>
              <a:rPr lang="de-DE" sz="1200" dirty="0">
                <a:solidFill>
                  <a:srgbClr val="595959"/>
                </a:solidFill>
              </a:rPr>
              <a:t> – https://workflows.community/systems/merlin/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de-DE" sz="1200" dirty="0">
                <a:solidFill>
                  <a:srgbClr val="262626"/>
                </a:solidFill>
              </a:rPr>
              <a:t>Pegasus</a:t>
            </a:r>
            <a:r>
              <a:rPr lang="de-DE" sz="1200" dirty="0">
                <a:solidFill>
                  <a:srgbClr val="595959"/>
                </a:solidFill>
              </a:rPr>
              <a:t> – https://workflows.community/systems/pegasus/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de-DE" sz="1200" dirty="0">
                <a:solidFill>
                  <a:srgbClr val="262626"/>
                </a:solidFill>
              </a:rPr>
              <a:t>AiiDA</a:t>
            </a:r>
            <a:r>
              <a:rPr lang="de-DE" sz="1200" dirty="0">
                <a:solidFill>
                  <a:srgbClr val="595959"/>
                </a:solidFill>
              </a:rPr>
              <a:t> – https://workflows.community/systems/aiida-core/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de-DE" sz="1100" dirty="0">
                <a:solidFill>
                  <a:srgbClr val="595959"/>
                </a:solidFill>
              </a:rPr>
              <a:t>Abruf: 01.09.2026</a:t>
            </a:r>
          </a:p>
        </p:txBody>
      </p:sp>
      <p:sp>
        <p:nvSpPr>
          <p:cNvPr id="20" name="Akzentlinie"/>
          <p:cNvSpPr/>
          <p:nvPr/>
        </p:nvSpPr>
        <p:spPr>
          <a:xfrm>
            <a:off x="914400" y="812800"/>
            <a:ext cx="50800" cy="431800"/>
          </a:xfrm>
          <a:prstGeom prst="rect">
            <a:avLst/>
          </a:prstGeom>
          <a:solidFill>
            <a:srgbClr val="C1002A"/>
          </a:solidFill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40" name="Foliennummer"/>
          <p:cNvSpPr txBox="1"/>
          <p:nvPr/>
        </p:nvSpPr>
        <p:spPr>
          <a:xfrm>
            <a:off x="10769600" y="6197600"/>
            <a:ext cx="508000" cy="254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>
              <a:spcAft>
                <a:spcPts val="0"/>
              </a:spcAft>
            </a:pPr>
            <a:r>
              <a:rPr lang="de-DE" sz="1200" dirty="0">
                <a:solidFill>
                  <a:srgbClr val="8C8C8C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42379408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83A317-8F96-271A-B21A-147B6A11B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C38C7638-4172-2B59-2CEA-E311165E6D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61916"/>
            <a:ext cx="6629400" cy="2322709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B856759-CD25-F1F8-B4C0-BA8370805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84625"/>
            <a:ext cx="4587580" cy="250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7968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253A0C3-FEE4-1840-999E-FEEB82FBA188}">
  <we:reference id="wa200010725" version="1.0.0.1" store="de-DE" storeType="OMEX"/>
  <we:alternateReferences>
    <we:reference id="WA200010725" version="1.0.0.1" store="WA200010725" storeType="OMEX"/>
  </we:alternateReferences>
  <we:properties>
    <we:property name="claude.fileId" value="&quot;62595c2e-ee25-41f4-8a18-3e98fd8a962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805</Words>
  <Application>Microsoft Macintosh PowerPoint</Application>
  <PresentationFormat>Breitbild</PresentationFormat>
  <Paragraphs>278</Paragraphs>
  <Slides>15</Slides>
  <Notes>2</Notes>
  <HiddenSlides>1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</vt:lpstr>
      <vt:lpstr>Systematische Betrachtung ausgewählter Workflow-Management-Systeme für HPC-Umgebungen</vt:lpstr>
      <vt:lpstr>Überblick</vt:lpstr>
      <vt:lpstr>Ein wissenschaftlicher Workflow verbindet mehrere Rechenschritte zu einem gemeinsamen Ablauf.</vt:lpstr>
      <vt:lpstr>Warum Workflow-Management-Systeme im HPC?</vt:lpstr>
      <vt:lpstr>Ziel und Forschungsfragen</vt:lpstr>
      <vt:lpstr>Betrachtete Workflow-Management-Systeme</vt:lpstr>
      <vt:lpstr>Zweistufiges Untersuchungsdesign</vt:lpstr>
      <vt:lpstr>Gemeinsame Benchmark-Workflows</vt:lpstr>
      <vt:lpstr>Messmethodik</vt:lpstr>
      <vt:lpstr>Modellierung des Scatter-Gather-Musters</vt:lpstr>
      <vt:lpstr>Unterschiedliche Ausführungsmodelle</vt:lpstr>
      <vt:lpstr>Lokale Untersuchung: WMS-Overhead</vt:lpstr>
      <vt:lpstr>Scatter-Gather: Gesamtlaufzeit</vt:lpstr>
      <vt:lpstr>Quellenverzeichnis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Tahiri, Anas</dc:creator>
  <cp:lastModifiedBy>Tahiri, Anas</cp:lastModifiedBy>
  <cp:revision>9</cp:revision>
  <dcterms:created xsi:type="dcterms:W3CDTF">2026-09-02T08:10:57Z</dcterms:created>
  <dcterms:modified xsi:type="dcterms:W3CDTF">2026-09-03T15:11:06Z</dcterms:modified>
</cp:coreProperties>
</file>