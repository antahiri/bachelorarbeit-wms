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9" r:id="rId2"/>
    <p:sldId id="261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658"/>
  </p:normalViewPr>
  <p:slideViewPr>
    <p:cSldViewPr snapToGrid="0">
      <p:cViewPr varScale="1">
        <p:scale>
          <a:sx n="90" d="100"/>
          <a:sy n="90" d="100"/>
        </p:scale>
        <p:origin x="216" y="8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F50E0F-8593-420A-2D75-82C1B0F92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7D1655A-5FB5-571B-FD71-CF9BF0C1F8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65FB02-738D-1281-7553-0855AAA443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7699E5-73E4-77C8-59D7-7E39C3414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355D19-8CDD-4E41-85CA-FB389F79F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396986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AABCC9-53A4-0991-9AED-A62B1A7F9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BC21F4-58F8-CC7F-0305-5A7CD9407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F09832A-894B-AB1B-27BC-8A84391C2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225C928-5C95-FEB3-415D-4F9D3BE56C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8A21753-BC8A-B894-7E32-13B8A7E7C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268324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9F419A-84EA-A481-EBD1-3AF27D34E3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20F743F-31A8-161E-4CF0-522CA1F71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2EB062F-DEED-F21A-AA21-06A675870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0879017-5B9F-9E6E-AF13-F9C16E5D8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27A2555-0902-D5F1-2652-13CC8B1A0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84497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B2405A-DD12-D70B-329D-040566BA2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096FC5-9214-AC70-AC50-D682885BEF7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15BE708-DD60-E4A6-109A-CCCAC3D346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0B5C123-A46E-2F2A-0740-3228B18B2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1B2481C-C5E0-27EE-5A6D-B952347E5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6A45667-646E-B321-C774-CCD2C8C31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95232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11EDDD-6938-4A54-797B-34B2440019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5065358-23CA-4B2E-1F39-BC3390C253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EBCEB1C-757F-AEBF-A81D-F171E014B5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0506628-AF50-A969-D785-B376552D567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B7EB69D-712F-8BC8-F8B4-333C854DFB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2AB27A8-523E-0230-5A39-DADA6ECF71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FC5CCFDB-A6B5-DD8C-07EC-5B26AC83B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DAF01A1-7D54-DC3B-AD23-362B14311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1757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EEBA1D-EE2B-6F6E-487B-42EC75163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AAD2D4D-8CC6-21E0-8B77-AFF1DB409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F75E81C-A439-3D5C-E5DA-B1912C0D0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9B47DB-9DF7-E563-AD18-C1F083FFC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2708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E4BCA15D-3492-659F-FA6A-C9BD32456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4D0F986B-D57F-6710-BB0A-DCCAA7CB3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AC9107-711F-C31A-F818-C3D5CE714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425055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C861DD-C9C2-5AFE-45DA-194B172B9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9DDF6B-8EAE-2EE7-D4C8-52C09EF8DD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DD949-8231-0150-ABAE-4EE836BAB3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BE646C8-C9A4-03B5-20E0-C45698E62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17717AB-93D7-0D79-142C-C7B4D8B2DA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32A27E8-C2DA-8A8E-D5B3-AB1FFADD2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05428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A2C80C-80ED-BAB0-4F70-97B3F7225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E93B90B1-A07E-483B-B97E-26F9BE680C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797912A-483D-09A9-AEE2-F6701B2435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63F6C31-BCA2-DEA4-54FE-F774ED630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BB75D75-E0FD-B783-B8D0-18B62AC8A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462CAB9-E443-5F2C-AEB2-16BAE1865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5336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909848-8AF0-EA1A-2AC8-FA46EB857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8F37DC3-5562-4CDB-EC8D-01E5B0FE06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9A1DDC-C138-638F-7F12-FC20DCB1D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73A8E5-252C-330E-6414-A183A0154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2FB3B56-0B25-094F-EAEF-C6801E014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25949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CA9F875-39F0-3ED2-D274-095402C72C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7F9079D-C113-57B4-B1DB-7A53A7E18F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764C16-B471-5B8C-C717-1E12DF339B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4DDA1BB-4DE0-DA65-AF3F-545361815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E3D84A1-1540-96E1-2FED-1D6DDDFF82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42926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F52D09E-EBB7-8407-96A9-07AB3DAFD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63B2504-2EC5-117D-F557-47A296530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52E62DD-CEA8-65C2-3721-9B6B17DDCF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3801D3-3982-F640-A1B2-3751BC1B5182}" type="datetimeFigureOut">
              <a:rPr lang="de-DE" smtClean="0"/>
              <a:t>02.09.26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A064778-EACE-D3CC-3BE6-37FB1FAE9D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ED380E6-1364-47C6-3352-C304EAC115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B016F5-7D2B-304B-B8C9-4515AE357C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26463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AB960-80E8-7A60-6571-37499217CB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00" y="1498600"/>
            <a:ext cx="9652000" cy="1905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de-DE" sz="3600" b="1" dirty="0">
                <a:solidFill>
                  <a:srgbClr val="262626"/>
                </a:solidFill>
              </a:rPr>
              <a:t>Systematische Betrachtung ausgewählter</a:t>
            </a:r>
            <a:br>
              <a:rPr lang="de-DE" sz="3600" b="1" dirty="0">
                <a:solidFill>
                  <a:srgbClr val="262626"/>
                </a:solidFill>
              </a:rPr>
            </a:br>
            <a:r>
              <a:rPr lang="de-DE" sz="3600" b="1" dirty="0">
                <a:solidFill>
                  <a:srgbClr val="262626"/>
                </a:solidFill>
              </a:rPr>
              <a:t>Workflow-Management-Systeme</a:t>
            </a:r>
            <a:br>
              <a:rPr lang="de-DE" sz="3600" b="1" dirty="0">
                <a:solidFill>
                  <a:srgbClr val="262626"/>
                </a:solidFill>
              </a:rPr>
            </a:br>
            <a:r>
              <a:rPr lang="de-DE" sz="3600" b="1" dirty="0">
                <a:solidFill>
                  <a:srgbClr val="262626"/>
                </a:solidFill>
              </a:rPr>
              <a:t>für HPC-Umgebungen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6AFC276-4B97-FDD6-FB28-49BEFD406C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19200" y="3810000"/>
            <a:ext cx="8890000" cy="2776538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spcAft>
                <a:spcPts val="1400"/>
              </a:spcAft>
            </a:pPr>
            <a:r>
              <a:rPr lang="de-DE" sz="1400" b="1" spc="200" dirty="0">
                <a:solidFill>
                  <a:srgbClr val="C1002A"/>
                </a:solidFill>
              </a:rPr>
              <a:t>BACHELORARBEIT</a:t>
            </a:r>
          </a:p>
          <a:p>
            <a:pPr algn="l">
              <a:spcAft>
                <a:spcPts val="1200"/>
              </a:spcAft>
            </a:pPr>
            <a:r>
              <a:rPr lang="de-DE" sz="2000" b="1" dirty="0">
                <a:solidFill>
                  <a:srgbClr val="262626"/>
                </a:solidFill>
              </a:rPr>
              <a:t>Anas Tahiri</a:t>
            </a:r>
          </a:p>
          <a:p>
            <a:pPr algn="l">
              <a:spcAft>
                <a:spcPts val="200"/>
              </a:spcAft>
            </a:pPr>
            <a:r>
              <a:rPr lang="de-DE" sz="1500" dirty="0">
                <a:solidFill>
                  <a:srgbClr val="595959"/>
                </a:solidFill>
              </a:rPr>
              <a:t>Johannes Gutenberg-Universität Mainz</a:t>
            </a:r>
          </a:p>
          <a:p>
            <a:pPr algn="l">
              <a:spcAft>
                <a:spcPts val="1200"/>
              </a:spcAft>
            </a:pPr>
            <a:r>
              <a:rPr lang="de-DE" sz="1500" dirty="0">
                <a:solidFill>
                  <a:srgbClr val="595959"/>
                </a:solidFill>
              </a:rPr>
              <a:t>Gutachter: Prof. Dr. Sarah Neuwirth und Prof. Dr. Nicolai Kuntze</a:t>
            </a:r>
          </a:p>
          <a:p>
            <a:pPr algn="l">
              <a:spcAft>
                <a:spcPts val="1200"/>
              </a:spcAft>
            </a:pPr>
            <a:r>
              <a:rPr lang="de-DE" sz="1500" dirty="0">
                <a:solidFill>
                  <a:srgbClr val="595959"/>
                </a:solidFill>
              </a:rPr>
              <a:t>Betreuung: Niklas </a:t>
            </a:r>
            <a:r>
              <a:rPr lang="de-DE" sz="1500" dirty="0" err="1">
                <a:solidFill>
                  <a:srgbClr val="595959"/>
                </a:solidFill>
              </a:rPr>
              <a:t>Bartelheimer</a:t>
            </a:r>
            <a:r>
              <a:rPr lang="de-DE" sz="1500" dirty="0">
                <a:solidFill>
                  <a:srgbClr val="595959"/>
                </a:solidFill>
              </a:rPr>
              <a:t> und </a:t>
            </a:r>
            <a:r>
              <a:rPr lang="de-DE" sz="1500" dirty="0" err="1">
                <a:solidFill>
                  <a:srgbClr val="595959"/>
                </a:solidFill>
              </a:rPr>
              <a:t>Zhaobin</a:t>
            </a:r>
            <a:r>
              <a:rPr lang="de-DE" sz="1500" dirty="0">
                <a:solidFill>
                  <a:srgbClr val="595959"/>
                </a:solidFill>
              </a:rPr>
              <a:t> Zhu</a:t>
            </a:r>
          </a:p>
          <a:p>
            <a:pPr algn="l"/>
            <a:r>
              <a:rPr lang="de-DE" sz="1400" dirty="0">
                <a:solidFill>
                  <a:srgbClr val="595959"/>
                </a:solidFill>
              </a:rPr>
              <a:t>Kolloquium · 10. September 2026</a:t>
            </a:r>
          </a:p>
        </p:txBody>
      </p:sp>
      <p:sp>
        <p:nvSpPr>
          <p:cNvPr id="10" name="Akzentlinie"/>
          <p:cNvSpPr/>
          <p:nvPr/>
        </p:nvSpPr>
        <p:spPr>
          <a:xfrm>
            <a:off x="914400" y="1498600"/>
            <a:ext cx="50800" cy="16764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/>
          <a:lstStyle/>
          <a:p>
            <a:endParaRPr lang="de-DE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C2D479A3-CE8F-8A83-CA37-9FB3019762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1656" y="366713"/>
            <a:ext cx="1131887" cy="1131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440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D9A5A4-C2C6-495D-3A92-E3411F52F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812800"/>
            <a:ext cx="10058400" cy="1016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0000"/>
              </a:lnSpc>
            </a:pPr>
            <a:r>
              <a:rPr lang="de-DE" sz="2600" b="1" dirty="0">
                <a:solidFill>
                  <a:srgbClr val="262626"/>
                </a:solidFill>
              </a:rPr>
              <a:t>Ein wissenschaftlicher Workflow verbindet mehrere Rechenschritte zu einem gemeinsamen Ablauf.</a:t>
            </a:r>
          </a:p>
        </p:txBody>
      </p:sp>
      <p:sp>
        <p:nvSpPr>
          <p:cNvPr id="20" name="Shape 20"/>
          <p:cNvSpPr/>
          <p:nvPr/>
        </p:nvSpPr>
        <p:spPr>
          <a:xfrm>
            <a:off x="914400" y="812800"/>
            <a:ext cx="50800" cy="787400"/>
          </a:xfrm>
          <a:prstGeom prst="rect">
            <a:avLst/>
          </a:prstGeom>
          <a:solidFill>
            <a:srgbClr val="C1002A"/>
          </a:solidFill>
          <a:ln>
            <a:noFill/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cxnSp>
        <p:nvCxnSpPr>
          <p:cNvPr id="21" name="Arrow 21"/>
          <p:cNvCxnSpPr/>
          <p:nvPr/>
        </p:nvCxnSpPr>
        <p:spPr>
          <a:xfrm>
            <a:off x="1219200" y="4089400"/>
            <a:ext cx="8128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22" name="Label 22"/>
          <p:cNvSpPr txBox="1"/>
          <p:nvPr/>
        </p:nvSpPr>
        <p:spPr>
          <a:xfrm>
            <a:off x="1143000" y="3479800"/>
            <a:ext cx="965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595959"/>
                </a:solidFill>
              </a:rPr>
              <a:t>Eingabe</a:t>
            </a:r>
          </a:p>
        </p:txBody>
      </p:sp>
      <p:sp>
        <p:nvSpPr>
          <p:cNvPr id="23" name="Shape 23"/>
          <p:cNvSpPr/>
          <p:nvPr/>
        </p:nvSpPr>
        <p:spPr>
          <a:xfrm>
            <a:off x="2032000" y="3810000"/>
            <a:ext cx="1524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262626"/>
                </a:solidFill>
              </a:rPr>
              <a:t>Rechenschritt</a:t>
            </a:r>
          </a:p>
        </p:txBody>
      </p:sp>
      <p:cxnSp>
        <p:nvCxnSpPr>
          <p:cNvPr id="24" name="Arrow 24"/>
          <p:cNvCxnSpPr/>
          <p:nvPr/>
        </p:nvCxnSpPr>
        <p:spPr>
          <a:xfrm>
            <a:off x="3556000" y="4089400"/>
            <a:ext cx="8128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25" name="Label 25"/>
          <p:cNvSpPr txBox="1"/>
          <p:nvPr/>
        </p:nvSpPr>
        <p:spPr>
          <a:xfrm>
            <a:off x="3479800" y="3479800"/>
            <a:ext cx="9652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/>
            <a:r>
              <a:rPr lang="de-DE" sz="1400" dirty="0">
                <a:solidFill>
                  <a:srgbClr val="595959"/>
                </a:solidFill>
              </a:rPr>
              <a:t>Ausgabe</a:t>
            </a:r>
          </a:p>
        </p:txBody>
      </p:sp>
      <p:sp>
        <p:nvSpPr>
          <p:cNvPr id="26" name="Label 26"/>
          <p:cNvSpPr txBox="1"/>
          <p:nvPr/>
        </p:nvSpPr>
        <p:spPr>
          <a:xfrm>
            <a:off x="1219200" y="4826000"/>
            <a:ext cx="3302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r>
              <a:rPr lang="de-DE" sz="1400" dirty="0">
                <a:solidFill>
                  <a:srgbClr val="595959"/>
                </a:solidFill>
              </a:rPr>
              <a:t>Baustein: ein einzelner Rechenschritt</a:t>
            </a:r>
          </a:p>
        </p:txBody>
      </p:sp>
      <p:sp>
        <p:nvSpPr>
          <p:cNvPr id="27" name="Shape 27"/>
          <p:cNvSpPr/>
          <p:nvPr/>
        </p:nvSpPr>
        <p:spPr>
          <a:xfrm>
            <a:off x="5943600" y="3810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A</a:t>
            </a:r>
          </a:p>
        </p:txBody>
      </p:sp>
      <p:sp>
        <p:nvSpPr>
          <p:cNvPr id="28" name="Shape 28"/>
          <p:cNvSpPr/>
          <p:nvPr/>
        </p:nvSpPr>
        <p:spPr>
          <a:xfrm>
            <a:off x="7467600" y="28194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B</a:t>
            </a:r>
          </a:p>
        </p:txBody>
      </p:sp>
      <p:sp>
        <p:nvSpPr>
          <p:cNvPr id="29" name="Shape 29"/>
          <p:cNvSpPr/>
          <p:nvPr/>
        </p:nvSpPr>
        <p:spPr>
          <a:xfrm>
            <a:off x="8991600" y="3810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C</a:t>
            </a:r>
          </a:p>
        </p:txBody>
      </p:sp>
      <p:sp>
        <p:nvSpPr>
          <p:cNvPr id="30" name="Shape 30"/>
          <p:cNvSpPr/>
          <p:nvPr/>
        </p:nvSpPr>
        <p:spPr>
          <a:xfrm>
            <a:off x="10515600" y="3810000"/>
            <a:ext cx="762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262626"/>
            </a:solidFill>
          </a:ln>
        </p:spPr>
        <p:txBody>
          <a:bodyPr wrap="square" lIns="0" tIns="0" rIns="0" bIns="0" anchor="ctr"/>
          <a:lstStyle/>
          <a:p>
            <a:pPr algn="ctr"/>
            <a:r>
              <a:rPr lang="de-DE" sz="1600" b="1" dirty="0">
                <a:solidFill>
                  <a:srgbClr val="262626"/>
                </a:solidFill>
              </a:rPr>
              <a:t>D</a:t>
            </a:r>
          </a:p>
        </p:txBody>
      </p:sp>
      <p:cxnSp>
        <p:nvCxnSpPr>
          <p:cNvPr id="31" name="Arrow 31"/>
          <p:cNvCxnSpPr/>
          <p:nvPr/>
        </p:nvCxnSpPr>
        <p:spPr>
          <a:xfrm flipV="1">
            <a:off x="6705600" y="3098800"/>
            <a:ext cx="762000" cy="99060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2" name="Arrow 32"/>
          <p:cNvCxnSpPr/>
          <p:nvPr/>
        </p:nvCxnSpPr>
        <p:spPr>
          <a:xfrm>
            <a:off x="8229600" y="3098800"/>
            <a:ext cx="762000" cy="99060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3" name="Arrow 33"/>
          <p:cNvCxnSpPr/>
          <p:nvPr/>
        </p:nvCxnSpPr>
        <p:spPr>
          <a:xfrm>
            <a:off x="6705600" y="4089400"/>
            <a:ext cx="22860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cxnSp>
        <p:nvCxnSpPr>
          <p:cNvPr id="34" name="Arrow 34"/>
          <p:cNvCxnSpPr/>
          <p:nvPr/>
        </p:nvCxnSpPr>
        <p:spPr>
          <a:xfrm>
            <a:off x="9753600" y="4089400"/>
            <a:ext cx="762000" cy="0"/>
          </a:xfrm>
          <a:prstGeom prst="straightConnector1">
            <a:avLst/>
          </a:prstGeom>
          <a:ln w="15875">
            <a:solidFill>
              <a:srgbClr val="262626"/>
            </a:solidFill>
            <a:tailEnd type="triangle" w="med" len="med"/>
          </a:ln>
        </p:spPr>
      </p:cxnSp>
      <p:sp>
        <p:nvSpPr>
          <p:cNvPr id="35" name="Shape 35"/>
          <p:cNvSpPr/>
          <p:nvPr/>
        </p:nvSpPr>
        <p:spPr>
          <a:xfrm>
            <a:off x="6985000" y="34671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6" name="Shape 36"/>
          <p:cNvSpPr/>
          <p:nvPr/>
        </p:nvSpPr>
        <p:spPr>
          <a:xfrm>
            <a:off x="8509000" y="34671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7" name="Shape 37"/>
          <p:cNvSpPr/>
          <p:nvPr/>
        </p:nvSpPr>
        <p:spPr>
          <a:xfrm>
            <a:off x="7747000" y="39624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8" name="Shape 38"/>
          <p:cNvSpPr/>
          <p:nvPr/>
        </p:nvSpPr>
        <p:spPr>
          <a:xfrm>
            <a:off x="10033000" y="3962400"/>
            <a:ext cx="203200" cy="254000"/>
          </a:xfrm>
          <a:prstGeom prst="foldedCorner">
            <a:avLst/>
          </a:prstGeom>
          <a:solidFill>
            <a:srgbClr val="FFFFFF"/>
          </a:solidFill>
          <a:ln w="19050">
            <a:solidFill>
              <a:srgbClr val="C1002A"/>
            </a:solidFill>
          </a:ln>
        </p:spPr>
        <p:txBody>
          <a:bodyPr wrap="square" lIns="0" tIns="0" rIns="0" bIns="0" anchor="ctr"/>
          <a:lstStyle/>
          <a:p>
            <a:endParaRPr lang="de-DE"/>
          </a:p>
        </p:txBody>
      </p:sp>
      <p:sp>
        <p:nvSpPr>
          <p:cNvPr id="39" name="Label 39"/>
          <p:cNvSpPr txBox="1"/>
          <p:nvPr/>
        </p:nvSpPr>
        <p:spPr>
          <a:xfrm>
            <a:off x="5943600" y="4826000"/>
            <a:ext cx="5334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de-DE" sz="1400" dirty="0">
                <a:solidFill>
                  <a:srgbClr val="595959"/>
                </a:solidFill>
              </a:rPr>
              <a:t>Mehrere verbundene Rechenschritte bilden einen Workflow</a:t>
            </a:r>
          </a:p>
        </p:txBody>
      </p:sp>
      <p:sp>
        <p:nvSpPr>
          <p:cNvPr id="40" name="Foliennummer"/>
          <p:cNvSpPr txBox="1"/>
          <p:nvPr/>
        </p:nvSpPr>
        <p:spPr>
          <a:xfrm>
            <a:off x="10769600" y="6197600"/>
            <a:ext cx="508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/>
            <a:r>
              <a:rPr lang="de-DE" sz="1200" dirty="0">
                <a:solidFill>
                  <a:srgbClr val="8C8C8C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015825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253A0C3-FEE4-1840-999E-FEEB82FBA188}">
  <we:reference id="wa200010725" version="1.0.0.1" store="de-DE" storeType="OMEX"/>
  <we:alternateReferences>
    <we:reference id="WA200010725" version="1.0.0.1" store="WA200010725" storeType="OMEX"/>
  </we:alternateReferences>
  <we:properties>
    <we:property name="claude.fileId" value="&quot;62595c2e-ee25-41f4-8a18-3e98fd8a962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72</Words>
  <Application>Microsoft Macintosh PowerPoint</Application>
  <PresentationFormat>Breitbild</PresentationFormat>
  <Paragraphs>18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</vt:lpstr>
      <vt:lpstr>Systematische Betrachtung ausgewählter Workflow-Management-Systeme für HPC-Umgebungen</vt:lpstr>
      <vt:lpstr>Ein wissenschaftlicher Workflow verbindet mehrere Rechenschritte zu einem gemeinsamen Ablauf.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Tahiri, Anas</dc:creator>
  <cp:lastModifiedBy>Tahiri, Anas</cp:lastModifiedBy>
  <cp:revision>2</cp:revision>
  <dcterms:created xsi:type="dcterms:W3CDTF">2026-09-02T08:10:57Z</dcterms:created>
  <dcterms:modified xsi:type="dcterms:W3CDTF">2026-09-02T11:10:32Z</dcterms:modified>
</cp:coreProperties>
</file>