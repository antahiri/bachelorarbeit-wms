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3" r:id="rId3"/>
    <p:sldId id="267" r:id="rId4"/>
    <p:sldId id="272" r:id="rId5"/>
    <p:sldId id="274" r:id="rId6"/>
    <p:sldId id="276" r:id="rId7"/>
    <p:sldId id="280" r:id="rId8"/>
    <p:sldId id="281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34"/>
    <p:restoredTop sz="94658"/>
  </p:normalViewPr>
  <p:slideViewPr>
    <p:cSldViewPr snapToGrid="0">
      <p:cViewPr>
        <p:scale>
          <a:sx n="68" d="100"/>
          <a:sy n="68" d="100"/>
        </p:scale>
        <p:origin x="312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040461-A3F5-6DBD-101D-778F129C5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Überblick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8F2FD3-36AE-D29F-70A5-FC217FC82E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159000"/>
            <a:ext cx="8890000" cy="3683000"/>
          </a:xfrm>
        </p:spPr>
        <p:txBody>
          <a:bodyPr wrap="square" lIns="0" tIns="0" rIns="0" bIns="0" anchor="t">
            <a:normAutofit/>
          </a:bodyPr>
          <a:lstStyle/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01</a:t>
            </a:r>
            <a:r>
              <a:rPr lang="de-DE" sz="2000" dirty="0">
                <a:solidFill>
                  <a:srgbClr val="262626"/>
                </a:solidFill>
              </a:rPr>
              <a:t>	Motivation und Fragestellung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02</a:t>
            </a:r>
            <a:r>
              <a:rPr lang="de-DE" sz="2000" dirty="0">
                <a:solidFill>
                  <a:srgbClr val="262626"/>
                </a:solidFill>
              </a:rPr>
              <a:t>	Methodik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03</a:t>
            </a:r>
            <a:r>
              <a:rPr lang="de-DE" sz="2000" dirty="0">
                <a:solidFill>
                  <a:srgbClr val="262626"/>
                </a:solidFill>
              </a:rPr>
              <a:t>	Modellierung und Ausführung der WMS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04</a:t>
            </a:r>
            <a:r>
              <a:rPr lang="de-DE" sz="2000" dirty="0">
                <a:solidFill>
                  <a:srgbClr val="262626"/>
                </a:solidFill>
              </a:rPr>
              <a:t>	Praktische Untersuchung und Ergebnisse</a:t>
            </a:r>
          </a:p>
          <a:p>
            <a:pPr marL="711200" indent="-711200" algn="l">
              <a:spcAft>
                <a:spcPts val="2400"/>
              </a:spcAft>
              <a:buNone/>
            </a:pPr>
            <a:r>
              <a:rPr lang="de-DE" sz="2000" b="1" dirty="0">
                <a:solidFill>
                  <a:srgbClr val="C1002A"/>
                </a:solidFill>
              </a:rPr>
              <a:t>05</a:t>
            </a:r>
            <a:r>
              <a:rPr lang="de-DE" sz="2000" dirty="0">
                <a:solidFill>
                  <a:srgbClr val="262626"/>
                </a:solidFill>
              </a:rPr>
              <a:t>	Forschungsfragen und Fazit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273996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302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3581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2971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318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311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302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2590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3581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3581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2959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454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318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3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  <p:sp>
        <p:nvSpPr>
          <p:cNvPr id="70" name="Stichpunkte"/>
          <p:cNvSpPr txBox="1"/>
          <p:nvPr/>
        </p:nvSpPr>
        <p:spPr>
          <a:xfrm>
            <a:off x="1219200" y="4927600"/>
            <a:ext cx="9854692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Wissenschaftlicher Workflow: verbundene Rechenschritte mit gemeinsamem Forschungsziel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Mehr Schritte und Abhängigkeiten → höherer Koordinationsaufwand → Workflow-Management-Systeme</a:t>
            </a:r>
          </a:p>
        </p:txBody>
      </p:sp>
    </p:spTree>
    <p:extLst>
      <p:ext uri="{BB962C8B-B14F-4D97-AF65-F5344CB8AC3E}">
        <p14:creationId xmlns:p14="http://schemas.microsoft.com/office/powerpoint/2010/main" val="2996142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0F9664-B06B-1E69-0E37-E3D6CFDB7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Warum Workflow-Management-Systeme im HPC?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155994-4CBC-162B-520F-83B3A198D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905000"/>
            <a:ext cx="4318000" cy="2794000"/>
          </a:xfrm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Workflow-Management-System</a:t>
            </a:r>
          </a:p>
          <a:p>
            <a:pPr marL="0" indent="0" algn="l">
              <a:spcAft>
                <a:spcPts val="1800"/>
              </a:spcAft>
              <a:buNone/>
            </a:pPr>
            <a:r>
              <a:rPr lang="de-DE" sz="1600" dirty="0">
                <a:solidFill>
                  <a:srgbClr val="595959"/>
                </a:solidFill>
              </a:rPr>
              <a:t>Orchestriert die Ausführung des Workflows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Planung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Koordination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Datenübertragung</a:t>
            </a:r>
          </a:p>
          <a:p>
            <a:pPr marL="203200" indent="-203200" algn="l">
              <a:spcAft>
                <a:spcPts val="6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Überwachung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1905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lang="de-DE" sz="2000" b="1" dirty="0">
                <a:solidFill>
                  <a:srgbClr val="262626"/>
                </a:solidFill>
              </a:rPr>
              <a:t>HPC-Umgebung</a:t>
            </a:r>
          </a:p>
          <a:p>
            <a:pPr algn="l">
              <a:spcAft>
                <a:spcPts val="800"/>
              </a:spcAft>
            </a:pPr>
            <a:r>
              <a:rPr lang="de-DE" sz="1600" dirty="0">
                <a:solidFill>
                  <a:srgbClr val="595959"/>
                </a:solidFill>
              </a:rPr>
              <a:t>Rechen- und datenintensive wissenschaftliche Workflows können von HPC-Ressourcen profitieren.</a:t>
            </a:r>
          </a:p>
          <a:p>
            <a:pPr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Beispiele: </a:t>
            </a:r>
            <a:r>
              <a:rPr lang="de-DE" sz="1400" dirty="0">
                <a:solidFill>
                  <a:srgbClr val="262626"/>
                </a:solidFill>
              </a:rPr>
              <a:t>Simulationen · </a:t>
            </a:r>
            <a:r>
              <a:rPr lang="de-DE" sz="1400" dirty="0" err="1">
                <a:solidFill>
                  <a:srgbClr val="262626"/>
                </a:solidFill>
              </a:rPr>
              <a:t>Machine</a:t>
            </a:r>
            <a:r>
              <a:rPr lang="de-DE" sz="1400" dirty="0">
                <a:solidFill>
                  <a:srgbClr val="262626"/>
                </a:solidFill>
              </a:rPr>
              <a:t> Learning · Bioinformatik</a:t>
            </a:r>
          </a:p>
          <a:p>
            <a:pPr marL="203200" indent="-203200" algn="l">
              <a:spcAft>
                <a:spcPts val="2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Ressourcenverwaltung</a:t>
            </a:r>
          </a:p>
          <a:p>
            <a:pPr marL="203200" algn="l">
              <a:spcAft>
                <a:spcPts val="1600"/>
              </a:spcAft>
            </a:pPr>
            <a:r>
              <a:rPr lang="de-DE" sz="1400" dirty="0">
                <a:solidFill>
                  <a:srgbClr val="595959"/>
                </a:solidFill>
              </a:rPr>
              <a:t>z. B. durch Slurm</a:t>
            </a:r>
          </a:p>
          <a:p>
            <a:pPr algn="l"/>
            <a:r>
              <a:rPr lang="de-DE" sz="1600" b="1" dirty="0">
                <a:solidFill>
                  <a:srgbClr val="262626"/>
                </a:solidFill>
              </a:rPr>
              <a:t>WMS müssen in diese Ausführungsumgebung integriert werden.</a:t>
            </a:r>
          </a:p>
        </p:txBody>
      </p:sp>
      <p:cxnSp>
        <p:nvCxnSpPr>
          <p:cNvPr id="22" name="Verbindung"/>
          <p:cNvCxnSpPr/>
          <p:nvPr/>
        </p:nvCxnSpPr>
        <p:spPr>
          <a:xfrm>
            <a:off x="5867400" y="3073400"/>
            <a:ext cx="762000" cy="0"/>
          </a:xfrm>
          <a:prstGeom prst="straightConnector1">
            <a:avLst/>
          </a:prstGeom>
          <a:ln w="12700">
            <a:solidFill>
              <a:srgbClr val="A6A6A6"/>
            </a:solidFill>
            <a:tailEnd type="triangle" w="med" len="med"/>
          </a:ln>
        </p:spPr>
      </p:cxnSp>
      <p:sp>
        <p:nvSpPr>
          <p:cNvPr id="23" name="Überleitung"/>
          <p:cNvSpPr txBox="1"/>
          <p:nvPr/>
        </p:nvSpPr>
        <p:spPr>
          <a:xfrm>
            <a:off x="1219200" y="5461000"/>
            <a:ext cx="100584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de-DE" sz="1600" b="1" dirty="0">
                <a:solidFill>
                  <a:srgbClr val="C1002A"/>
                </a:solidFill>
              </a:rPr>
              <a:t>Wie unterscheiden sich WMS in Modellierung, Laufzeitverhalten und HPC-Einsatz?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4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767066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EFA8F-6F04-1A12-DE30-7DEE733FC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Ziel und Forschungsfragen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6CCFD-4293-3292-23B9-7587705D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1778000"/>
            <a:ext cx="10058400" cy="762000"/>
          </a:xfrm>
        </p:spPr>
        <p:txBody>
          <a:bodyPr wrap="square" lIns="0" tIns="0" rIns="0" bIns="0" anchor="t">
            <a:normAutofit lnSpcReduction="10000"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de-DE" sz="1200" b="1" spc="150" dirty="0">
                <a:solidFill>
                  <a:srgbClr val="C1002A"/>
                </a:solidFill>
              </a:rPr>
              <a:t>ZIEL DER ARBEIT</a:t>
            </a:r>
          </a:p>
          <a:p>
            <a:pPr marL="0" indent="0" algn="l">
              <a:buNone/>
            </a:pPr>
            <a:r>
              <a:rPr lang="de-DE" sz="1600" dirty="0">
                <a:solidFill>
                  <a:srgbClr val="262626"/>
                </a:solidFill>
              </a:rPr>
              <a:t>Systematischer Vergleich ausgewählter Workflow-Management-Systeme hinsichtlich Modellierung, Laufzeitverhalten und Einsatz in einer HPC-Umgebung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cxnSp>
        <p:nvCxnSpPr>
          <p:cNvPr id="24" name="Trenner"/>
          <p:cNvCxnSpPr/>
          <p:nvPr/>
        </p:nvCxnSpPr>
        <p:spPr>
          <a:xfrm>
            <a:off x="1219200" y="2717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30" name="Frage F1"/>
          <p:cNvSpPr txBox="1"/>
          <p:nvPr/>
        </p:nvSpPr>
        <p:spPr>
          <a:xfrm>
            <a:off x="12192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F1 · MODELLIERUNG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unterscheiden sich die Systeme bei der Umsetzung eines Pipeline und </a:t>
            </a:r>
            <a:r>
              <a:rPr lang="de-DE" sz="1400" dirty="0" err="1">
                <a:solidFill>
                  <a:srgbClr val="262626"/>
                </a:solidFill>
              </a:rPr>
              <a:t>Scatter</a:t>
            </a:r>
            <a:r>
              <a:rPr lang="de-DE" sz="1400" dirty="0">
                <a:solidFill>
                  <a:srgbClr val="262626"/>
                </a:solidFill>
              </a:rPr>
              <a:t>-Gather Musters?</a:t>
            </a:r>
          </a:p>
        </p:txBody>
      </p:sp>
      <p:sp>
        <p:nvSpPr>
          <p:cNvPr id="31" name="Frage F2"/>
          <p:cNvSpPr txBox="1"/>
          <p:nvPr/>
        </p:nvSpPr>
        <p:spPr>
          <a:xfrm>
            <a:off x="6451600" y="29464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F2 · LAUFZEITVERHALTEN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Welches Laufzeitverhalten zeigen die Systeme bei der Ausführung dieser Workflows?</a:t>
            </a:r>
          </a:p>
          <a:p>
            <a:pPr algn="l"/>
            <a:r>
              <a:rPr lang="de-DE" sz="1200" dirty="0">
                <a:solidFill>
                  <a:srgbClr val="595959"/>
                </a:solidFill>
              </a:rPr>
              <a:t>Makespan · Overhead · Übergangslatenz · Startspreizung</a:t>
            </a:r>
          </a:p>
        </p:txBody>
      </p:sp>
      <p:sp>
        <p:nvSpPr>
          <p:cNvPr id="32" name="Frage F3"/>
          <p:cNvSpPr txBox="1"/>
          <p:nvPr/>
        </p:nvSpPr>
        <p:spPr>
          <a:xfrm>
            <a:off x="12192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F3 · HPC-EINSATZ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Wie lassen sich die Systeme auf einem Slurm-basierten HPC-System betreiben und wie setzen sich dort die Laufzeiten zusammen?</a:t>
            </a:r>
          </a:p>
        </p:txBody>
      </p:sp>
      <p:sp>
        <p:nvSpPr>
          <p:cNvPr id="33" name="Frage F4"/>
          <p:cNvSpPr txBox="1"/>
          <p:nvPr/>
        </p:nvSpPr>
        <p:spPr>
          <a:xfrm>
            <a:off x="6451600" y="4292600"/>
            <a:ext cx="4724400" cy="1219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de-DE" sz="1300" b="1" spc="100" dirty="0">
                <a:solidFill>
                  <a:srgbClr val="C1002A"/>
                </a:solidFill>
              </a:rPr>
              <a:t>F4 · EINORDNUNG</a:t>
            </a:r>
          </a:p>
          <a:p>
            <a:pPr algn="l">
              <a:spcAft>
                <a:spcPts val="300"/>
              </a:spcAft>
            </a:pPr>
            <a:r>
              <a:rPr lang="de-DE" sz="1400" dirty="0">
                <a:solidFill>
                  <a:srgbClr val="262626"/>
                </a:solidFill>
              </a:rPr>
              <a:t>Für welche Arten von Workflows und Anwendungsfällen erscheinen die einzelnen Systeme besonders geeignet?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5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7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b="1" dirty="0">
                <a:solidFill>
                  <a:srgbClr val="C1002A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5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1496952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E26FD6-D96A-4610-4054-2346AC3DA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Betrachtete Workflow-Management-Systeme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186123-53BF-979A-60CA-7202DD242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4648200"/>
            <a:ext cx="10058400" cy="381000"/>
          </a:xfrm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de-DE" sz="1600" dirty="0">
                <a:solidFill>
                  <a:srgbClr val="595959"/>
                </a:solidFill>
              </a:rPr>
              <a:t>Unterschiedliche Ansätze in Anwendungsgebiet, Workflow-Beschreibung und Systemarchitektur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Marke Nextflow"/>
          <p:cNvSpPr/>
          <p:nvPr/>
        </p:nvSpPr>
        <p:spPr>
          <a:xfrm>
            <a:off x="204724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0" name="System Nextflow"/>
          <p:cNvSpPr txBox="1"/>
          <p:nvPr/>
        </p:nvSpPr>
        <p:spPr>
          <a:xfrm>
            <a:off x="121920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Nextflow</a:t>
            </a:r>
          </a:p>
        </p:txBody>
      </p:sp>
      <p:sp>
        <p:nvSpPr>
          <p:cNvPr id="22" name="Marke StreamFlow"/>
          <p:cNvSpPr/>
          <p:nvPr/>
        </p:nvSpPr>
        <p:spPr>
          <a:xfrm>
            <a:off x="405892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1" name="System StreamFlow"/>
          <p:cNvSpPr txBox="1"/>
          <p:nvPr/>
        </p:nvSpPr>
        <p:spPr>
          <a:xfrm>
            <a:off x="323088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StreamFlow</a:t>
            </a:r>
          </a:p>
        </p:txBody>
      </p:sp>
      <p:sp>
        <p:nvSpPr>
          <p:cNvPr id="23" name="Marke Pegasus"/>
          <p:cNvSpPr/>
          <p:nvPr/>
        </p:nvSpPr>
        <p:spPr>
          <a:xfrm>
            <a:off x="607060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2" name="System Pegasus"/>
          <p:cNvSpPr txBox="1"/>
          <p:nvPr/>
        </p:nvSpPr>
        <p:spPr>
          <a:xfrm>
            <a:off x="524256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Pegasus</a:t>
            </a:r>
          </a:p>
        </p:txBody>
      </p:sp>
      <p:sp>
        <p:nvSpPr>
          <p:cNvPr id="24" name="Marke Merlin"/>
          <p:cNvSpPr/>
          <p:nvPr/>
        </p:nvSpPr>
        <p:spPr>
          <a:xfrm>
            <a:off x="808228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3" name="System Merlin"/>
          <p:cNvSpPr txBox="1"/>
          <p:nvPr/>
        </p:nvSpPr>
        <p:spPr>
          <a:xfrm>
            <a:off x="725424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Merlin</a:t>
            </a:r>
          </a:p>
        </p:txBody>
      </p:sp>
      <p:sp>
        <p:nvSpPr>
          <p:cNvPr id="25" name="Marke AiiDA"/>
          <p:cNvSpPr/>
          <p:nvPr/>
        </p:nvSpPr>
        <p:spPr>
          <a:xfrm>
            <a:off x="10093960" y="2997200"/>
            <a:ext cx="355600" cy="381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34" name="System AiiDA"/>
          <p:cNvSpPr txBox="1"/>
          <p:nvPr/>
        </p:nvSpPr>
        <p:spPr>
          <a:xfrm>
            <a:off x="9265920" y="3200400"/>
            <a:ext cx="201168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de-DE" sz="2200" b="1" dirty="0">
                <a:solidFill>
                  <a:srgbClr val="262626"/>
                </a:solidFill>
              </a:rPr>
              <a:t>AiiDA</a:t>
            </a:r>
          </a:p>
        </p:txBody>
      </p:sp>
      <p:cxnSp>
        <p:nvCxnSpPr>
          <p:cNvPr id="36" name="Trenner"/>
          <p:cNvCxnSpPr/>
          <p:nvPr/>
        </p:nvCxnSpPr>
        <p:spPr>
          <a:xfrm>
            <a:off x="1219200" y="4241800"/>
            <a:ext cx="10058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6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88114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B421FD-2FF5-4BBE-DCB7-955136455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787400"/>
          </a:xfrm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de-DE" sz="2600" b="1" dirty="0">
                <a:solidFill>
                  <a:srgbClr val="262626"/>
                </a:solidFill>
              </a:rPr>
              <a:t>Zweistufiges Untersuchungsdesign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1E8772-EFF4-5F07-0094-2D6A9C28B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9200" y="2032000"/>
            <a:ext cx="4318000" cy="3175000"/>
          </a:xfrm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LOKALE UNTERSUCHUNG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Alle fünf Systeme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Qualitativer Vergleich</a:t>
            </a:r>
          </a:p>
          <a:p>
            <a:pPr marL="203200" indent="-203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</a:t>
            </a:r>
          </a:p>
        </p:txBody>
      </p:sp>
      <p:sp>
        <p:nvSpPr>
          <p:cNvPr id="20" name="Akzentlinie"/>
          <p:cNvSpPr/>
          <p:nvPr/>
        </p:nvSpPr>
        <p:spPr>
          <a:xfrm>
            <a:off x="914400" y="812800"/>
            <a:ext cx="50800" cy="4318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21" name="Rechts"/>
          <p:cNvSpPr txBox="1"/>
          <p:nvPr/>
        </p:nvSpPr>
        <p:spPr>
          <a:xfrm>
            <a:off x="6959600" y="2032000"/>
            <a:ext cx="4318000" cy="3175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de-DE" sz="1300" b="1" spc="150" dirty="0">
                <a:solidFill>
                  <a:srgbClr val="C1002A"/>
                </a:solidFill>
              </a:rPr>
              <a:t>MOGON / HPC</a:t>
            </a:r>
          </a:p>
          <a:p>
            <a:pPr marL="0" indent="0" algn="l">
              <a:spcAft>
                <a:spcPts val="300"/>
              </a:spcAft>
              <a:buNone/>
            </a:pPr>
            <a:r>
              <a:rPr lang="de-DE" sz="2000" b="1" dirty="0">
                <a:solidFill>
                  <a:srgbClr val="262626"/>
                </a:solidFill>
              </a:rPr>
              <a:t>Vier Systeme</a:t>
            </a:r>
          </a:p>
          <a:p>
            <a:pPr marL="0" indent="0" algn="l">
              <a:spcAft>
                <a:spcPts val="1600"/>
              </a:spcAft>
              <a:buNone/>
            </a:pPr>
            <a:r>
              <a:rPr lang="de-DE" sz="1400" dirty="0">
                <a:solidFill>
                  <a:srgbClr val="595959"/>
                </a:solidFill>
              </a:rPr>
              <a:t>Nextflow · StreamFlow · Merlin · AiiDA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Bereitstellung und Betrieb unter Slurm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Untersuchung des regulären Slurm-Betriebs</a:t>
            </a:r>
          </a:p>
          <a:p>
            <a:pPr marL="203200" indent="-203200" algn="l">
              <a:spcAft>
                <a:spcPts val="800"/>
              </a:spcAft>
              <a:buClr>
                <a:srgbClr val="C1002A"/>
              </a:buClr>
              <a:buFont typeface="Arial"/>
              <a:buChar char="•"/>
            </a:pPr>
            <a:r>
              <a:rPr lang="de-DE" sz="1600" dirty="0">
                <a:solidFill>
                  <a:srgbClr val="262626"/>
                </a:solidFill>
              </a:rPr>
              <a:t>Quantitative Messungen auf dedizierter Ressource</a:t>
            </a:r>
          </a:p>
        </p:txBody>
      </p:sp>
      <p:cxnSp>
        <p:nvCxnSpPr>
          <p:cNvPr id="22" name="Trenner"/>
          <p:cNvCxnSpPr/>
          <p:nvPr/>
        </p:nvCxnSpPr>
        <p:spPr>
          <a:xfrm>
            <a:off x="6248400" y="2032000"/>
            <a:ext cx="0" cy="31750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7</a:t>
            </a:r>
          </a:p>
        </p:txBody>
      </p:sp>
      <p:cxnSp>
        <p:nvCxnSpPr>
          <p:cNvPr id="50" name="Fortschritt Linie"/>
          <p:cNvCxnSpPr/>
          <p:nvPr/>
        </p:nvCxnSpPr>
        <p:spPr>
          <a:xfrm>
            <a:off x="1219200" y="6172200"/>
            <a:ext cx="50800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51" name="Marker Motivation"/>
          <p:cNvSpPr/>
          <p:nvPr/>
        </p:nvSpPr>
        <p:spPr>
          <a:xfrm>
            <a:off x="118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2" name="Label Motivation"/>
          <p:cNvSpPr txBox="1"/>
          <p:nvPr/>
        </p:nvSpPr>
        <p:spPr>
          <a:xfrm>
            <a:off x="121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de-DE" sz="1000" dirty="0">
                <a:solidFill>
                  <a:srgbClr val="A6A6A6"/>
                </a:solidFill>
              </a:rPr>
              <a:t>Motivation</a:t>
            </a:r>
          </a:p>
        </p:txBody>
      </p:sp>
      <p:sp>
        <p:nvSpPr>
          <p:cNvPr id="53" name="Marker Methodik"/>
          <p:cNvSpPr/>
          <p:nvPr/>
        </p:nvSpPr>
        <p:spPr>
          <a:xfrm>
            <a:off x="2444750" y="6127750"/>
            <a:ext cx="88900" cy="88900"/>
          </a:xfrm>
          <a:prstGeom prst="ellipse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4" name="Label Methodik"/>
          <p:cNvSpPr txBox="1"/>
          <p:nvPr/>
        </p:nvSpPr>
        <p:spPr>
          <a:xfrm>
            <a:off x="185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b="1" dirty="0">
                <a:solidFill>
                  <a:srgbClr val="C1002A"/>
                </a:solidFill>
              </a:rPr>
              <a:t>Methodik</a:t>
            </a:r>
          </a:p>
        </p:txBody>
      </p:sp>
      <p:sp>
        <p:nvSpPr>
          <p:cNvPr id="55" name="Marker Systeme"/>
          <p:cNvSpPr/>
          <p:nvPr/>
        </p:nvSpPr>
        <p:spPr>
          <a:xfrm>
            <a:off x="372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6" name="Label Systeme"/>
          <p:cNvSpPr txBox="1"/>
          <p:nvPr/>
        </p:nvSpPr>
        <p:spPr>
          <a:xfrm>
            <a:off x="312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Systeme</a:t>
            </a:r>
          </a:p>
        </p:txBody>
      </p:sp>
      <p:sp>
        <p:nvSpPr>
          <p:cNvPr id="57" name="Marker Untersuchung"/>
          <p:cNvSpPr/>
          <p:nvPr/>
        </p:nvSpPr>
        <p:spPr>
          <a:xfrm>
            <a:off x="499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58" name="Label Untersuchung"/>
          <p:cNvSpPr txBox="1"/>
          <p:nvPr/>
        </p:nvSpPr>
        <p:spPr>
          <a:xfrm>
            <a:off x="4394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de-DE" sz="1000" dirty="0">
                <a:solidFill>
                  <a:srgbClr val="A6A6A6"/>
                </a:solidFill>
              </a:rPr>
              <a:t>Untersuchung</a:t>
            </a:r>
          </a:p>
        </p:txBody>
      </p:sp>
      <p:sp>
        <p:nvSpPr>
          <p:cNvPr id="59" name="Marker Fazit"/>
          <p:cNvSpPr/>
          <p:nvPr/>
        </p:nvSpPr>
        <p:spPr>
          <a:xfrm>
            <a:off x="6267450" y="6140450"/>
            <a:ext cx="63500" cy="635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sp>
        <p:nvSpPr>
          <p:cNvPr id="60" name="Label Fazit"/>
          <p:cNvSpPr txBox="1"/>
          <p:nvPr/>
        </p:nvSpPr>
        <p:spPr>
          <a:xfrm>
            <a:off x="5029200" y="6273800"/>
            <a:ext cx="1270000" cy="20320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r"/>
            <a:r>
              <a:rPr lang="de-DE" sz="1000" dirty="0">
                <a:solidFill>
                  <a:srgbClr val="A6A6A6"/>
                </a:solidFill>
              </a:rPr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208579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C76724-1455-81ED-7162-313B1F72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064824-A3CB-89A9-5D41-A13FD12F87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32782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354</Words>
  <Application>Microsoft Macintosh PowerPoint</Application>
  <PresentationFormat>Breitbild</PresentationFormat>
  <Paragraphs>100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Überblick</vt:lpstr>
      <vt:lpstr>Ein wissenschaftlicher Workflow verbindet mehrere Rechenschritte zu einem gemeinsamen Ablauf.</vt:lpstr>
      <vt:lpstr>Warum Workflow-Management-Systeme im HPC?</vt:lpstr>
      <vt:lpstr>Ziel und Forschungsfragen</vt:lpstr>
      <vt:lpstr>Betrachtete Workflow-Management-Systeme</vt:lpstr>
      <vt:lpstr>Zweistufiges Untersuchungsdesign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4</cp:revision>
  <dcterms:created xsi:type="dcterms:W3CDTF">2026-09-02T08:10:57Z</dcterms:created>
  <dcterms:modified xsi:type="dcterms:W3CDTF">2026-09-02T16:04:54Z</dcterms:modified>
</cp:coreProperties>
</file>